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7" d="100"/>
          <a:sy n="97" d="100"/>
        </p:scale>
        <p:origin x="107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0"/>
            <a:ext cx="11247120" cy="914400"/>
          </a:xfrm>
          <a:prstGeom prst="rect">
            <a:avLst/>
          </a:prstGeom>
          <a:noFill/>
        </p:spPr>
        <p:txBody>
          <a:bodyPr wrap="square">
            <a:spAutoFit/>
          </a:bodyPr>
          <a:lstStyle/>
          <a:p>
            <a:pPr algn="ctr">
              <a:defRPr sz="5400" b="1">
                <a:solidFill>
                  <a:srgbClr val="FFFFFF"/>
                </a:solidFill>
                <a:latin typeface="Calibri"/>
              </a:defRPr>
            </a:pPr>
            <a:r>
              <a:t>Alpha Umi Financial</a:t>
            </a:r>
          </a:p>
        </p:txBody>
      </p:sp>
      <p:sp>
        <p:nvSpPr>
          <p:cNvPr id="4" name="TextBox 3"/>
          <p:cNvSpPr txBox="1"/>
          <p:nvPr/>
        </p:nvSpPr>
        <p:spPr>
          <a:xfrm>
            <a:off x="457200" y="2743200"/>
            <a:ext cx="11247120" cy="548640"/>
          </a:xfrm>
          <a:prstGeom prst="rect">
            <a:avLst/>
          </a:prstGeom>
          <a:noFill/>
        </p:spPr>
        <p:txBody>
          <a:bodyPr wrap="square">
            <a:spAutoFit/>
          </a:bodyPr>
          <a:lstStyle/>
          <a:p>
            <a:pPr algn="ctr">
              <a:defRPr sz="3200" b="1">
                <a:solidFill>
                  <a:srgbClr val="3B82F6"/>
                </a:solidFill>
                <a:latin typeface="Calibri"/>
              </a:defRPr>
            </a:pPr>
            <a:r>
              <a:t>Strategic Growth Plan</a:t>
            </a:r>
          </a:p>
        </p:txBody>
      </p:sp>
      <p:sp>
        <p:nvSpPr>
          <p:cNvPr id="5" name="TextBox 4"/>
          <p:cNvSpPr txBox="1"/>
          <p:nvPr/>
        </p:nvSpPr>
        <p:spPr>
          <a:xfrm>
            <a:off x="457200" y="3291840"/>
            <a:ext cx="11247120" cy="457200"/>
          </a:xfrm>
          <a:prstGeom prst="rect">
            <a:avLst/>
          </a:prstGeom>
          <a:noFill/>
        </p:spPr>
        <p:txBody>
          <a:bodyPr wrap="square">
            <a:spAutoFit/>
          </a:bodyPr>
          <a:lstStyle/>
          <a:p>
            <a:pPr algn="ctr">
              <a:defRPr sz="2200" b="0">
                <a:solidFill>
                  <a:srgbClr val="94A3B8"/>
                </a:solidFill>
                <a:latin typeface="Calibri"/>
              </a:defRPr>
            </a:pPr>
            <a:r>
              <a:t>From $200K Baseline to $1M in 12 Months</a:t>
            </a:r>
          </a:p>
        </p:txBody>
      </p:sp>
      <p:sp>
        <p:nvSpPr>
          <p:cNvPr id="6" name="Rectangle 5"/>
          <p:cNvSpPr/>
          <p:nvPr/>
        </p:nvSpPr>
        <p:spPr>
          <a:xfrm>
            <a:off x="5394960" y="3931920"/>
            <a:ext cx="13716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4206240"/>
            <a:ext cx="11247120" cy="365760"/>
          </a:xfrm>
          <a:prstGeom prst="rect">
            <a:avLst/>
          </a:prstGeom>
          <a:noFill/>
        </p:spPr>
        <p:txBody>
          <a:bodyPr wrap="square">
            <a:spAutoFit/>
          </a:bodyPr>
          <a:lstStyle/>
          <a:p>
            <a:pPr algn="ctr">
              <a:defRPr sz="1400" b="0">
                <a:solidFill>
                  <a:srgbClr val="94A3B8"/>
                </a:solidFill>
                <a:latin typeface="Calibri"/>
              </a:defRPr>
            </a:pPr>
            <a:r>
              <a:t>A Strategic 90-Day Boost and 12-Month Growth Plan</a:t>
            </a:r>
          </a:p>
        </p:txBody>
      </p:sp>
      <p:sp>
        <p:nvSpPr>
          <p:cNvPr id="8" name="TextBox 7"/>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Executive Summary</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11247120" cy="109728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97280"/>
            <a:ext cx="10881360" cy="914400"/>
          </a:xfrm>
          <a:prstGeom prst="rect">
            <a:avLst/>
          </a:prstGeom>
          <a:noFill/>
        </p:spPr>
        <p:txBody>
          <a:bodyPr wrap="square">
            <a:spAutoFit/>
          </a:bodyPr>
          <a:lstStyle/>
          <a:p>
            <a:pPr algn="l">
              <a:defRPr sz="1400" b="0">
                <a:solidFill>
                  <a:srgbClr val="FFFFFF"/>
                </a:solidFill>
                <a:latin typeface="Calibri"/>
              </a:defRPr>
            </a:pPr>
            <a:r>
              <a:t>This plan gets Alpha Umi Financial to $1M in 12 months with zero dependency on external partners. The Collective Consulting Group partnership remains valuable, but this plan ensures Jack Rogers can independently scale his practice, generate consistent revenue, and build the foundation for his billion-dollar RIA vision.</a:t>
            </a:r>
          </a:p>
        </p:txBody>
      </p:sp>
      <p:sp>
        <p:nvSpPr>
          <p:cNvPr id="7" name="Rounded Rectangle 6"/>
          <p:cNvSpPr/>
          <p:nvPr/>
        </p:nvSpPr>
        <p:spPr>
          <a:xfrm>
            <a:off x="457200" y="2286000"/>
            <a:ext cx="2651760" cy="1005840"/>
          </a:xfrm>
          <a:prstGeom prst="roundRect">
            <a:avLst/>
          </a:prstGeom>
          <a:solidFill>
            <a:srgbClr val="122A4D"/>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423160"/>
            <a:ext cx="2468879" cy="274320"/>
          </a:xfrm>
          <a:prstGeom prst="rect">
            <a:avLst/>
          </a:prstGeom>
          <a:noFill/>
        </p:spPr>
        <p:txBody>
          <a:bodyPr wrap="square">
            <a:spAutoFit/>
          </a:bodyPr>
          <a:lstStyle/>
          <a:p>
            <a:pPr algn="ctr">
              <a:defRPr sz="1000" b="0">
                <a:solidFill>
                  <a:srgbClr val="94A3B8"/>
                </a:solidFill>
                <a:latin typeface="Calibri"/>
              </a:defRPr>
            </a:pPr>
            <a:r>
              <a:t>Year 1 Target</a:t>
            </a:r>
          </a:p>
        </p:txBody>
      </p:sp>
      <p:sp>
        <p:nvSpPr>
          <p:cNvPr id="9" name="TextBox 8"/>
          <p:cNvSpPr txBox="1"/>
          <p:nvPr/>
        </p:nvSpPr>
        <p:spPr>
          <a:xfrm>
            <a:off x="548640" y="2651760"/>
            <a:ext cx="2468879" cy="457200"/>
          </a:xfrm>
          <a:prstGeom prst="rect">
            <a:avLst/>
          </a:prstGeom>
          <a:noFill/>
        </p:spPr>
        <p:txBody>
          <a:bodyPr wrap="square">
            <a:spAutoFit/>
          </a:bodyPr>
          <a:lstStyle/>
          <a:p>
            <a:pPr algn="ctr">
              <a:defRPr sz="2800" b="1">
                <a:solidFill>
                  <a:srgbClr val="22C55E"/>
                </a:solidFill>
                <a:latin typeface="Calibri"/>
              </a:defRPr>
            </a:pPr>
            <a:r>
              <a:t>$1M</a:t>
            </a:r>
          </a:p>
        </p:txBody>
      </p:sp>
      <p:sp>
        <p:nvSpPr>
          <p:cNvPr id="10" name="Rounded Rectangle 9"/>
          <p:cNvSpPr/>
          <p:nvPr/>
        </p:nvSpPr>
        <p:spPr>
          <a:xfrm>
            <a:off x="3291840" y="2286000"/>
            <a:ext cx="2651760" cy="1005840"/>
          </a:xfrm>
          <a:prstGeom prst="roundRect">
            <a:avLst/>
          </a:prstGeom>
          <a:solidFill>
            <a:srgbClr val="122A4D"/>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2423160"/>
            <a:ext cx="2468879" cy="274320"/>
          </a:xfrm>
          <a:prstGeom prst="rect">
            <a:avLst/>
          </a:prstGeom>
          <a:noFill/>
        </p:spPr>
        <p:txBody>
          <a:bodyPr wrap="square">
            <a:spAutoFit/>
          </a:bodyPr>
          <a:lstStyle/>
          <a:p>
            <a:pPr algn="ctr">
              <a:defRPr sz="1000" b="0">
                <a:solidFill>
                  <a:srgbClr val="94A3B8"/>
                </a:solidFill>
                <a:latin typeface="Calibri"/>
              </a:defRPr>
            </a:pPr>
            <a:r>
              <a:t>New Engagements</a:t>
            </a:r>
          </a:p>
        </p:txBody>
      </p:sp>
      <p:sp>
        <p:nvSpPr>
          <p:cNvPr id="12" name="TextBox 11"/>
          <p:cNvSpPr txBox="1"/>
          <p:nvPr/>
        </p:nvSpPr>
        <p:spPr>
          <a:xfrm>
            <a:off x="3383280" y="2651760"/>
            <a:ext cx="2468879" cy="457200"/>
          </a:xfrm>
          <a:prstGeom prst="rect">
            <a:avLst/>
          </a:prstGeom>
          <a:noFill/>
        </p:spPr>
        <p:txBody>
          <a:bodyPr wrap="square">
            <a:spAutoFit/>
          </a:bodyPr>
          <a:lstStyle/>
          <a:p>
            <a:pPr algn="ctr">
              <a:defRPr sz="2800" b="1">
                <a:solidFill>
                  <a:srgbClr val="22C55E"/>
                </a:solidFill>
                <a:latin typeface="Calibri"/>
              </a:defRPr>
            </a:pPr>
            <a:r>
              <a:t>35</a:t>
            </a:r>
          </a:p>
        </p:txBody>
      </p:sp>
      <p:sp>
        <p:nvSpPr>
          <p:cNvPr id="13" name="Rounded Rectangle 12"/>
          <p:cNvSpPr/>
          <p:nvPr/>
        </p:nvSpPr>
        <p:spPr>
          <a:xfrm>
            <a:off x="6126480" y="2286000"/>
            <a:ext cx="2651760" cy="1005840"/>
          </a:xfrm>
          <a:prstGeom prst="roundRect">
            <a:avLst/>
          </a:prstGeom>
          <a:solidFill>
            <a:srgbClr val="122A4D"/>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2423160"/>
            <a:ext cx="2468879" cy="274320"/>
          </a:xfrm>
          <a:prstGeom prst="rect">
            <a:avLst/>
          </a:prstGeom>
          <a:noFill/>
        </p:spPr>
        <p:txBody>
          <a:bodyPr wrap="square">
            <a:spAutoFit/>
          </a:bodyPr>
          <a:lstStyle/>
          <a:p>
            <a:pPr algn="ctr">
              <a:defRPr sz="1000" b="0">
                <a:solidFill>
                  <a:srgbClr val="94A3B8"/>
                </a:solidFill>
                <a:latin typeface="Calibri"/>
              </a:defRPr>
            </a:pPr>
            <a:r>
              <a:t>Hours/Week Freed</a:t>
            </a:r>
          </a:p>
        </p:txBody>
      </p:sp>
      <p:sp>
        <p:nvSpPr>
          <p:cNvPr id="15" name="TextBox 14"/>
          <p:cNvSpPr txBox="1"/>
          <p:nvPr/>
        </p:nvSpPr>
        <p:spPr>
          <a:xfrm>
            <a:off x="6217920" y="2651760"/>
            <a:ext cx="2468879" cy="457200"/>
          </a:xfrm>
          <a:prstGeom prst="rect">
            <a:avLst/>
          </a:prstGeom>
          <a:noFill/>
        </p:spPr>
        <p:txBody>
          <a:bodyPr wrap="square">
            <a:spAutoFit/>
          </a:bodyPr>
          <a:lstStyle/>
          <a:p>
            <a:pPr algn="ctr">
              <a:defRPr sz="2800" b="1">
                <a:solidFill>
                  <a:srgbClr val="F59E0B"/>
                </a:solidFill>
                <a:latin typeface="Calibri"/>
              </a:defRPr>
            </a:pPr>
            <a:r>
              <a:t>22+</a:t>
            </a:r>
          </a:p>
        </p:txBody>
      </p:sp>
      <p:sp>
        <p:nvSpPr>
          <p:cNvPr id="16" name="Rounded Rectangle 15"/>
          <p:cNvSpPr/>
          <p:nvPr/>
        </p:nvSpPr>
        <p:spPr>
          <a:xfrm>
            <a:off x="8961120" y="2286000"/>
            <a:ext cx="2651760" cy="1005840"/>
          </a:xfrm>
          <a:prstGeom prst="roundRect">
            <a:avLst/>
          </a:prstGeom>
          <a:solidFill>
            <a:srgbClr val="122A4D"/>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52560" y="2423160"/>
            <a:ext cx="2468879" cy="274320"/>
          </a:xfrm>
          <a:prstGeom prst="rect">
            <a:avLst/>
          </a:prstGeom>
          <a:noFill/>
        </p:spPr>
        <p:txBody>
          <a:bodyPr wrap="square">
            <a:spAutoFit/>
          </a:bodyPr>
          <a:lstStyle/>
          <a:p>
            <a:pPr algn="ctr">
              <a:defRPr sz="1000" b="0">
                <a:solidFill>
                  <a:srgbClr val="94A3B8"/>
                </a:solidFill>
                <a:latin typeface="Calibri"/>
              </a:defRPr>
            </a:pPr>
            <a:r>
              <a:t>Pain Points Solved</a:t>
            </a:r>
          </a:p>
        </p:txBody>
      </p:sp>
      <p:sp>
        <p:nvSpPr>
          <p:cNvPr id="18" name="TextBox 17"/>
          <p:cNvSpPr txBox="1"/>
          <p:nvPr/>
        </p:nvSpPr>
        <p:spPr>
          <a:xfrm>
            <a:off x="9052560" y="2651760"/>
            <a:ext cx="2468879" cy="457200"/>
          </a:xfrm>
          <a:prstGeom prst="rect">
            <a:avLst/>
          </a:prstGeom>
          <a:noFill/>
        </p:spPr>
        <p:txBody>
          <a:bodyPr wrap="square">
            <a:spAutoFit/>
          </a:bodyPr>
          <a:lstStyle/>
          <a:p>
            <a:pPr algn="ctr">
              <a:defRPr sz="2800" b="1">
                <a:solidFill>
                  <a:srgbClr val="3B82F6"/>
                </a:solidFill>
                <a:latin typeface="Calibri"/>
              </a:defRPr>
            </a:pPr>
            <a:r>
              <a:t>14</a:t>
            </a:r>
          </a:p>
        </p:txBody>
      </p:sp>
      <p:sp>
        <p:nvSpPr>
          <p:cNvPr id="19" name="Rounded Rectangle 18"/>
          <p:cNvSpPr/>
          <p:nvPr/>
        </p:nvSpPr>
        <p:spPr>
          <a:xfrm>
            <a:off x="457200" y="3474720"/>
            <a:ext cx="11247120" cy="914400"/>
          </a:xfrm>
          <a:prstGeom prst="roundRect">
            <a:avLst/>
          </a:prstGeom>
          <a:solidFill>
            <a:srgbClr val="0D284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3566160"/>
            <a:ext cx="10881360" cy="822960"/>
          </a:xfrm>
          <a:prstGeom prst="rect">
            <a:avLst/>
          </a:prstGeom>
          <a:noFill/>
        </p:spPr>
        <p:txBody>
          <a:bodyPr wrap="square">
            <a:spAutoFit/>
          </a:bodyPr>
          <a:lstStyle/>
          <a:p>
            <a:pPr algn="l">
              <a:defRPr sz="1300" b="0">
                <a:solidFill>
                  <a:srgbClr val="FFFFFF"/>
                </a:solidFill>
                <a:latin typeface="Calibri"/>
              </a:defRPr>
            </a:pPr>
            <a:r>
              <a:t>The plan addresses every pain point and bottleneck identified during our discovery call, with AI-powered automation replacing the operational burden currently preventing focus on portfolio management—the core revenue driver.</a:t>
            </a:r>
          </a:p>
        </p:txBody>
      </p:sp>
      <p:sp>
        <p:nvSpPr>
          <p:cNvPr id="21" name="TextBox 20"/>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State of the Markets</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365760"/>
          </a:xfrm>
          <a:prstGeom prst="rect">
            <a:avLst/>
          </a:prstGeom>
          <a:noFill/>
        </p:spPr>
        <p:txBody>
          <a:bodyPr wrap="square">
            <a:spAutoFit/>
          </a:bodyPr>
          <a:lstStyle/>
          <a:p>
            <a:pPr algn="l">
              <a:defRPr sz="1200" b="0">
                <a:solidFill>
                  <a:srgbClr val="94A3B8"/>
                </a:solidFill>
                <a:latin typeface="Calibri"/>
              </a:defRPr>
            </a:pPr>
            <a:r>
              <a:t>The financial services landscape is shifting from generalized advice to integrated, high-touch wealth management.</a:t>
            </a:r>
          </a:p>
        </p:txBody>
      </p:sp>
      <p:sp>
        <p:nvSpPr>
          <p:cNvPr id="6" name="Rounded Rectangle 5"/>
          <p:cNvSpPr/>
          <p:nvPr/>
        </p:nvSpPr>
        <p:spPr>
          <a:xfrm>
            <a:off x="457200" y="1371600"/>
            <a:ext cx="11247120" cy="128016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463040"/>
            <a:ext cx="10881360" cy="365760"/>
          </a:xfrm>
          <a:prstGeom prst="rect">
            <a:avLst/>
          </a:prstGeom>
          <a:noFill/>
        </p:spPr>
        <p:txBody>
          <a:bodyPr wrap="square">
            <a:spAutoFit/>
          </a:bodyPr>
          <a:lstStyle/>
          <a:p>
            <a:pPr algn="l">
              <a:defRPr sz="1400" b="1">
                <a:solidFill>
                  <a:srgbClr val="3B82F6"/>
                </a:solidFill>
                <a:latin typeface="Calibri"/>
              </a:defRPr>
            </a:pPr>
            <a:r>
              <a:t>1. Digital Research Reshapes Client Trust</a:t>
            </a:r>
          </a:p>
        </p:txBody>
      </p:sp>
      <p:sp>
        <p:nvSpPr>
          <p:cNvPr id="8" name="TextBox 7"/>
          <p:cNvSpPr txBox="1"/>
          <p:nvPr/>
        </p:nvSpPr>
        <p:spPr>
          <a:xfrm>
            <a:off x="640080" y="1828800"/>
            <a:ext cx="914400" cy="457200"/>
          </a:xfrm>
          <a:prstGeom prst="rect">
            <a:avLst/>
          </a:prstGeom>
          <a:noFill/>
        </p:spPr>
        <p:txBody>
          <a:bodyPr wrap="square">
            <a:spAutoFit/>
          </a:bodyPr>
          <a:lstStyle/>
          <a:p>
            <a:pPr algn="l">
              <a:defRPr sz="2400" b="1">
                <a:solidFill>
                  <a:srgbClr val="F59E0B"/>
                </a:solidFill>
                <a:latin typeface="Calibri"/>
              </a:defRPr>
            </a:pPr>
            <a:r>
              <a:t>89%</a:t>
            </a:r>
          </a:p>
        </p:txBody>
      </p:sp>
      <p:sp>
        <p:nvSpPr>
          <p:cNvPr id="9" name="TextBox 8"/>
          <p:cNvSpPr txBox="1"/>
          <p:nvPr/>
        </p:nvSpPr>
        <p:spPr>
          <a:xfrm>
            <a:off x="1645920" y="1828800"/>
            <a:ext cx="9875520" cy="731520"/>
          </a:xfrm>
          <a:prstGeom prst="rect">
            <a:avLst/>
          </a:prstGeom>
          <a:noFill/>
        </p:spPr>
        <p:txBody>
          <a:bodyPr wrap="square">
            <a:spAutoFit/>
          </a:bodyPr>
          <a:lstStyle/>
          <a:p>
            <a:pPr algn="l">
              <a:defRPr sz="1200" b="0">
                <a:solidFill>
                  <a:srgbClr val="FFFFFF"/>
                </a:solidFill>
                <a:latin typeface="Calibri"/>
              </a:defRPr>
            </a:pPr>
            <a:r>
              <a:t>of potential clients research firms extensively online before making contact. Without a robust digital footprint, the firm remains invisible.</a:t>
            </a:r>
          </a:p>
        </p:txBody>
      </p:sp>
      <p:sp>
        <p:nvSpPr>
          <p:cNvPr id="10" name="Rounded Rectangle 9"/>
          <p:cNvSpPr/>
          <p:nvPr/>
        </p:nvSpPr>
        <p:spPr>
          <a:xfrm>
            <a:off x="457200" y="2788920"/>
            <a:ext cx="11247120" cy="128016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880360"/>
            <a:ext cx="10881360" cy="365760"/>
          </a:xfrm>
          <a:prstGeom prst="rect">
            <a:avLst/>
          </a:prstGeom>
          <a:noFill/>
        </p:spPr>
        <p:txBody>
          <a:bodyPr wrap="square">
            <a:spAutoFit/>
          </a:bodyPr>
          <a:lstStyle/>
          <a:p>
            <a:pPr algn="l">
              <a:defRPr sz="1400" b="1">
                <a:solidFill>
                  <a:srgbClr val="3B82F6"/>
                </a:solidFill>
                <a:latin typeface="Calibri"/>
              </a:defRPr>
            </a:pPr>
            <a:r>
              <a:t>2. Niche Specialization Drives Premium Valuations</a:t>
            </a:r>
          </a:p>
        </p:txBody>
      </p:sp>
      <p:sp>
        <p:nvSpPr>
          <p:cNvPr id="12" name="TextBox 11"/>
          <p:cNvSpPr txBox="1"/>
          <p:nvPr/>
        </p:nvSpPr>
        <p:spPr>
          <a:xfrm>
            <a:off x="640080" y="3246120"/>
            <a:ext cx="914400" cy="457200"/>
          </a:xfrm>
          <a:prstGeom prst="rect">
            <a:avLst/>
          </a:prstGeom>
          <a:noFill/>
        </p:spPr>
        <p:txBody>
          <a:bodyPr wrap="square">
            <a:spAutoFit/>
          </a:bodyPr>
          <a:lstStyle/>
          <a:p>
            <a:pPr algn="l">
              <a:defRPr sz="2400" b="1">
                <a:solidFill>
                  <a:srgbClr val="22C55E"/>
                </a:solidFill>
                <a:latin typeface="Calibri"/>
              </a:defRPr>
            </a:pPr>
            <a:r>
              <a:t>23%</a:t>
            </a:r>
          </a:p>
        </p:txBody>
      </p:sp>
      <p:sp>
        <p:nvSpPr>
          <p:cNvPr id="13" name="TextBox 12"/>
          <p:cNvSpPr txBox="1"/>
          <p:nvPr/>
        </p:nvSpPr>
        <p:spPr>
          <a:xfrm>
            <a:off x="1645920" y="3246120"/>
            <a:ext cx="9875520" cy="731520"/>
          </a:xfrm>
          <a:prstGeom prst="rect">
            <a:avLst/>
          </a:prstGeom>
          <a:noFill/>
        </p:spPr>
        <p:txBody>
          <a:bodyPr wrap="square">
            <a:spAutoFit/>
          </a:bodyPr>
          <a:lstStyle/>
          <a:p>
            <a:pPr algn="l">
              <a:defRPr sz="1200" b="0">
                <a:solidFill>
                  <a:srgbClr val="FFFFFF"/>
                </a:solidFill>
                <a:latin typeface="Calibri"/>
              </a:defRPr>
            </a:pPr>
            <a:r>
              <a:t>higher rates commanded by specialists vs generalists. This validates Alpha Umi's strategy to integrate tax and business consulting.</a:t>
            </a:r>
          </a:p>
        </p:txBody>
      </p:sp>
      <p:sp>
        <p:nvSpPr>
          <p:cNvPr id="14" name="Rounded Rectangle 13"/>
          <p:cNvSpPr/>
          <p:nvPr/>
        </p:nvSpPr>
        <p:spPr>
          <a:xfrm>
            <a:off x="457200" y="4206240"/>
            <a:ext cx="11247120" cy="128016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297679"/>
            <a:ext cx="10881360" cy="365760"/>
          </a:xfrm>
          <a:prstGeom prst="rect">
            <a:avLst/>
          </a:prstGeom>
          <a:noFill/>
        </p:spPr>
        <p:txBody>
          <a:bodyPr wrap="square">
            <a:spAutoFit/>
          </a:bodyPr>
          <a:lstStyle/>
          <a:p>
            <a:pPr algn="l">
              <a:defRPr sz="1400" b="1">
                <a:solidFill>
                  <a:srgbClr val="3B82F6"/>
                </a:solidFill>
                <a:latin typeface="Calibri"/>
              </a:defRPr>
            </a:pPr>
            <a:r>
              <a:t>3. Instantaneous Service Demands Force Evolution</a:t>
            </a:r>
          </a:p>
        </p:txBody>
      </p:sp>
      <p:sp>
        <p:nvSpPr>
          <p:cNvPr id="16" name="TextBox 15"/>
          <p:cNvSpPr txBox="1"/>
          <p:nvPr/>
        </p:nvSpPr>
        <p:spPr>
          <a:xfrm>
            <a:off x="640080" y="4663440"/>
            <a:ext cx="914400" cy="457200"/>
          </a:xfrm>
          <a:prstGeom prst="rect">
            <a:avLst/>
          </a:prstGeom>
          <a:noFill/>
        </p:spPr>
        <p:txBody>
          <a:bodyPr wrap="square">
            <a:spAutoFit/>
          </a:bodyPr>
          <a:lstStyle/>
          <a:p>
            <a:pPr algn="l">
              <a:defRPr sz="2400" b="1">
                <a:solidFill>
                  <a:srgbClr val="F59E0B"/>
                </a:solidFill>
                <a:latin typeface="Calibri"/>
              </a:defRPr>
            </a:pPr>
            <a:r>
              <a:t>73%</a:t>
            </a:r>
          </a:p>
        </p:txBody>
      </p:sp>
      <p:sp>
        <p:nvSpPr>
          <p:cNvPr id="17" name="TextBox 16"/>
          <p:cNvSpPr txBox="1"/>
          <p:nvPr/>
        </p:nvSpPr>
        <p:spPr>
          <a:xfrm>
            <a:off x="1645920" y="4663440"/>
            <a:ext cx="9875520" cy="731520"/>
          </a:xfrm>
          <a:prstGeom prst="rect">
            <a:avLst/>
          </a:prstGeom>
          <a:noFill/>
        </p:spPr>
        <p:txBody>
          <a:bodyPr wrap="square">
            <a:spAutoFit/>
          </a:bodyPr>
          <a:lstStyle/>
          <a:p>
            <a:pPr algn="l">
              <a:defRPr sz="1200" b="0">
                <a:solidFill>
                  <a:srgbClr val="FFFFFF"/>
                </a:solidFill>
                <a:latin typeface="Calibri"/>
              </a:defRPr>
            </a:pPr>
            <a:r>
              <a:t>of clients expect instant response as baseline. Each new client adds exponential strain without automation.</a:t>
            </a:r>
          </a:p>
        </p:txBody>
      </p:sp>
      <p:sp>
        <p:nvSpPr>
          <p:cNvPr id="18" name="TextBox 17"/>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Current Position &amp; Service Mix</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6858000" cy="365760"/>
          </a:xfrm>
          <a:prstGeom prst="rect">
            <a:avLst/>
          </a:prstGeom>
          <a:noFill/>
        </p:spPr>
        <p:txBody>
          <a:bodyPr wrap="square">
            <a:spAutoFit/>
          </a:bodyPr>
          <a:lstStyle/>
          <a:p>
            <a:pPr algn="l">
              <a:defRPr sz="1300" b="1">
                <a:solidFill>
                  <a:srgbClr val="3B82F6"/>
                </a:solidFill>
                <a:latin typeface="Calibri"/>
              </a:defRPr>
            </a:pPr>
            <a:r>
              <a:t>Revenue &amp; Service Mix</a:t>
            </a:r>
          </a:p>
        </p:txBody>
      </p:sp>
      <p:sp>
        <p:nvSpPr>
          <p:cNvPr id="6" name="Rectangle 5"/>
          <p:cNvSpPr/>
          <p:nvPr/>
        </p:nvSpPr>
        <p:spPr>
          <a:xfrm>
            <a:off x="457200" y="1280160"/>
            <a:ext cx="685800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25880"/>
            <a:ext cx="3657600" cy="274320"/>
          </a:xfrm>
          <a:prstGeom prst="rect">
            <a:avLst/>
          </a:prstGeom>
          <a:noFill/>
        </p:spPr>
        <p:txBody>
          <a:bodyPr wrap="square">
            <a:spAutoFit/>
          </a:bodyPr>
          <a:lstStyle/>
          <a:p>
            <a:pPr algn="l">
              <a:defRPr sz="1100" b="1">
                <a:solidFill>
                  <a:srgbClr val="FFFFFF"/>
                </a:solidFill>
                <a:latin typeface="Calibri"/>
              </a:defRPr>
            </a:pPr>
            <a:r>
              <a:t>Service Line</a:t>
            </a:r>
          </a:p>
        </p:txBody>
      </p:sp>
      <p:sp>
        <p:nvSpPr>
          <p:cNvPr id="8" name="TextBox 7"/>
          <p:cNvSpPr txBox="1"/>
          <p:nvPr/>
        </p:nvSpPr>
        <p:spPr>
          <a:xfrm>
            <a:off x="4572000" y="1325880"/>
            <a:ext cx="2560320" cy="274320"/>
          </a:xfrm>
          <a:prstGeom prst="rect">
            <a:avLst/>
          </a:prstGeom>
          <a:noFill/>
        </p:spPr>
        <p:txBody>
          <a:bodyPr wrap="square">
            <a:spAutoFit/>
          </a:bodyPr>
          <a:lstStyle/>
          <a:p>
            <a:pPr algn="r">
              <a:defRPr sz="1100" b="1">
                <a:solidFill>
                  <a:srgbClr val="FFFFFF"/>
                </a:solidFill>
                <a:latin typeface="Calibri"/>
              </a:defRPr>
            </a:pPr>
            <a:r>
              <a:t>Ticket Size</a:t>
            </a:r>
          </a:p>
        </p:txBody>
      </p:sp>
      <p:sp>
        <p:nvSpPr>
          <p:cNvPr id="9" name="Rectangle 8"/>
          <p:cNvSpPr/>
          <p:nvPr/>
        </p:nvSpPr>
        <p:spPr>
          <a:xfrm>
            <a:off x="457200" y="1691639"/>
            <a:ext cx="6858000" cy="36576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737360"/>
            <a:ext cx="3931920" cy="274320"/>
          </a:xfrm>
          <a:prstGeom prst="rect">
            <a:avLst/>
          </a:prstGeom>
          <a:noFill/>
        </p:spPr>
        <p:txBody>
          <a:bodyPr wrap="square">
            <a:spAutoFit/>
          </a:bodyPr>
          <a:lstStyle/>
          <a:p>
            <a:pPr algn="l">
              <a:defRPr sz="1100" b="0">
                <a:solidFill>
                  <a:srgbClr val="FFFFFF"/>
                </a:solidFill>
                <a:latin typeface="Calibri"/>
              </a:defRPr>
            </a:pPr>
            <a:r>
              <a:t>Tax Planning (Per Engagement)</a:t>
            </a:r>
          </a:p>
        </p:txBody>
      </p:sp>
      <p:sp>
        <p:nvSpPr>
          <p:cNvPr id="11" name="TextBox 10"/>
          <p:cNvSpPr txBox="1"/>
          <p:nvPr/>
        </p:nvSpPr>
        <p:spPr>
          <a:xfrm>
            <a:off x="4572000" y="1737360"/>
            <a:ext cx="2560320" cy="274320"/>
          </a:xfrm>
          <a:prstGeom prst="rect">
            <a:avLst/>
          </a:prstGeom>
          <a:noFill/>
        </p:spPr>
        <p:txBody>
          <a:bodyPr wrap="square">
            <a:spAutoFit/>
          </a:bodyPr>
          <a:lstStyle/>
          <a:p>
            <a:pPr algn="r">
              <a:defRPr sz="1100" b="0">
                <a:solidFill>
                  <a:srgbClr val="22C55E"/>
                </a:solidFill>
                <a:latin typeface="Calibri"/>
              </a:defRPr>
            </a:pPr>
            <a:r>
              <a:t>$21,000 - $22,000</a:t>
            </a:r>
          </a:p>
        </p:txBody>
      </p:sp>
      <p:sp>
        <p:nvSpPr>
          <p:cNvPr id="12" name="Rectangle 11"/>
          <p:cNvSpPr/>
          <p:nvPr/>
        </p:nvSpPr>
        <p:spPr>
          <a:xfrm>
            <a:off x="457200" y="2075688"/>
            <a:ext cx="6858000" cy="36576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121408"/>
            <a:ext cx="3931920" cy="274320"/>
          </a:xfrm>
          <a:prstGeom prst="rect">
            <a:avLst/>
          </a:prstGeom>
          <a:noFill/>
        </p:spPr>
        <p:txBody>
          <a:bodyPr wrap="square">
            <a:spAutoFit/>
          </a:bodyPr>
          <a:lstStyle/>
          <a:p>
            <a:pPr algn="l">
              <a:defRPr sz="1100" b="0">
                <a:solidFill>
                  <a:srgbClr val="FFFFFF"/>
                </a:solidFill>
                <a:latin typeface="Calibri"/>
              </a:defRPr>
            </a:pPr>
            <a:r>
              <a:t>Tax Advisory Annual Retainer</a:t>
            </a:r>
          </a:p>
        </p:txBody>
      </p:sp>
      <p:sp>
        <p:nvSpPr>
          <p:cNvPr id="14" name="TextBox 13"/>
          <p:cNvSpPr txBox="1"/>
          <p:nvPr/>
        </p:nvSpPr>
        <p:spPr>
          <a:xfrm>
            <a:off x="4572000" y="2121408"/>
            <a:ext cx="2560320" cy="274320"/>
          </a:xfrm>
          <a:prstGeom prst="rect">
            <a:avLst/>
          </a:prstGeom>
          <a:noFill/>
        </p:spPr>
        <p:txBody>
          <a:bodyPr wrap="square">
            <a:spAutoFit/>
          </a:bodyPr>
          <a:lstStyle/>
          <a:p>
            <a:pPr algn="r">
              <a:defRPr sz="1100" b="0">
                <a:solidFill>
                  <a:srgbClr val="22C55E"/>
                </a:solidFill>
                <a:latin typeface="Calibri"/>
              </a:defRPr>
            </a:pPr>
            <a:r>
              <a:t>$20,000 - $40,000</a:t>
            </a:r>
          </a:p>
        </p:txBody>
      </p:sp>
      <p:sp>
        <p:nvSpPr>
          <p:cNvPr id="15" name="Rectangle 14"/>
          <p:cNvSpPr/>
          <p:nvPr/>
        </p:nvSpPr>
        <p:spPr>
          <a:xfrm>
            <a:off x="457200" y="2459736"/>
            <a:ext cx="6858000" cy="36576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505456"/>
            <a:ext cx="3931920" cy="274320"/>
          </a:xfrm>
          <a:prstGeom prst="rect">
            <a:avLst/>
          </a:prstGeom>
          <a:noFill/>
        </p:spPr>
        <p:txBody>
          <a:bodyPr wrap="square">
            <a:spAutoFit/>
          </a:bodyPr>
          <a:lstStyle/>
          <a:p>
            <a:pPr algn="l">
              <a:defRPr sz="1100" b="0">
                <a:solidFill>
                  <a:srgbClr val="FFFFFF"/>
                </a:solidFill>
                <a:latin typeface="Calibri"/>
              </a:defRPr>
            </a:pPr>
            <a:r>
              <a:t>Portfolio Management</a:t>
            </a:r>
          </a:p>
        </p:txBody>
      </p:sp>
      <p:sp>
        <p:nvSpPr>
          <p:cNvPr id="17" name="TextBox 16"/>
          <p:cNvSpPr txBox="1"/>
          <p:nvPr/>
        </p:nvSpPr>
        <p:spPr>
          <a:xfrm>
            <a:off x="4572000" y="2505456"/>
            <a:ext cx="2560320" cy="274320"/>
          </a:xfrm>
          <a:prstGeom prst="rect">
            <a:avLst/>
          </a:prstGeom>
          <a:noFill/>
        </p:spPr>
        <p:txBody>
          <a:bodyPr wrap="square">
            <a:spAutoFit/>
          </a:bodyPr>
          <a:lstStyle/>
          <a:p>
            <a:pPr algn="r">
              <a:defRPr sz="1100" b="0">
                <a:solidFill>
                  <a:srgbClr val="22C55E"/>
                </a:solidFill>
                <a:latin typeface="Calibri"/>
              </a:defRPr>
            </a:pPr>
            <a:r>
              <a:t>1% of AUM</a:t>
            </a:r>
          </a:p>
        </p:txBody>
      </p:sp>
      <p:sp>
        <p:nvSpPr>
          <p:cNvPr id="18" name="Rectangle 17"/>
          <p:cNvSpPr/>
          <p:nvPr/>
        </p:nvSpPr>
        <p:spPr>
          <a:xfrm>
            <a:off x="457200" y="2843784"/>
            <a:ext cx="6858000" cy="36576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889503"/>
            <a:ext cx="3931920" cy="274320"/>
          </a:xfrm>
          <a:prstGeom prst="rect">
            <a:avLst/>
          </a:prstGeom>
          <a:noFill/>
        </p:spPr>
        <p:txBody>
          <a:bodyPr wrap="square">
            <a:spAutoFit/>
          </a:bodyPr>
          <a:lstStyle/>
          <a:p>
            <a:pPr algn="l">
              <a:defRPr sz="1100" b="0">
                <a:solidFill>
                  <a:srgbClr val="FFFFFF"/>
                </a:solidFill>
                <a:latin typeface="Calibri"/>
              </a:defRPr>
            </a:pPr>
            <a:r>
              <a:t>M&amp;A Valuation</a:t>
            </a:r>
          </a:p>
        </p:txBody>
      </p:sp>
      <p:sp>
        <p:nvSpPr>
          <p:cNvPr id="20" name="TextBox 19"/>
          <p:cNvSpPr txBox="1"/>
          <p:nvPr/>
        </p:nvSpPr>
        <p:spPr>
          <a:xfrm>
            <a:off x="4572000" y="2889503"/>
            <a:ext cx="2560320" cy="274320"/>
          </a:xfrm>
          <a:prstGeom prst="rect">
            <a:avLst/>
          </a:prstGeom>
          <a:noFill/>
        </p:spPr>
        <p:txBody>
          <a:bodyPr wrap="square">
            <a:spAutoFit/>
          </a:bodyPr>
          <a:lstStyle/>
          <a:p>
            <a:pPr algn="r">
              <a:defRPr sz="1100" b="0">
                <a:solidFill>
                  <a:srgbClr val="22C55E"/>
                </a:solidFill>
                <a:latin typeface="Calibri"/>
              </a:defRPr>
            </a:pPr>
            <a:r>
              <a:t>$20,000 - $30,000</a:t>
            </a:r>
          </a:p>
        </p:txBody>
      </p:sp>
      <p:sp>
        <p:nvSpPr>
          <p:cNvPr id="21" name="Rectangle 20"/>
          <p:cNvSpPr/>
          <p:nvPr/>
        </p:nvSpPr>
        <p:spPr>
          <a:xfrm>
            <a:off x="457200" y="3227832"/>
            <a:ext cx="6858000" cy="36576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3273551"/>
            <a:ext cx="3931920" cy="274320"/>
          </a:xfrm>
          <a:prstGeom prst="rect">
            <a:avLst/>
          </a:prstGeom>
          <a:noFill/>
        </p:spPr>
        <p:txBody>
          <a:bodyPr wrap="square">
            <a:spAutoFit/>
          </a:bodyPr>
          <a:lstStyle/>
          <a:p>
            <a:pPr algn="l">
              <a:defRPr sz="1100" b="0">
                <a:solidFill>
                  <a:srgbClr val="FFFFFF"/>
                </a:solidFill>
                <a:latin typeface="Calibri"/>
              </a:defRPr>
            </a:pPr>
            <a:r>
              <a:t>M&amp;A Full Service</a:t>
            </a:r>
          </a:p>
        </p:txBody>
      </p:sp>
      <p:sp>
        <p:nvSpPr>
          <p:cNvPr id="23" name="TextBox 22"/>
          <p:cNvSpPr txBox="1"/>
          <p:nvPr/>
        </p:nvSpPr>
        <p:spPr>
          <a:xfrm>
            <a:off x="4572000" y="3273551"/>
            <a:ext cx="2560320" cy="274320"/>
          </a:xfrm>
          <a:prstGeom prst="rect">
            <a:avLst/>
          </a:prstGeom>
          <a:noFill/>
        </p:spPr>
        <p:txBody>
          <a:bodyPr wrap="square">
            <a:spAutoFit/>
          </a:bodyPr>
          <a:lstStyle/>
          <a:p>
            <a:pPr algn="r">
              <a:defRPr sz="1100" b="0">
                <a:solidFill>
                  <a:srgbClr val="22C55E"/>
                </a:solidFill>
                <a:latin typeface="Calibri"/>
              </a:defRPr>
            </a:pPr>
            <a:r>
              <a:t>1% - 3% of deal</a:t>
            </a:r>
          </a:p>
        </p:txBody>
      </p:sp>
      <p:sp>
        <p:nvSpPr>
          <p:cNvPr id="24" name="Rectangle 23"/>
          <p:cNvSpPr/>
          <p:nvPr/>
        </p:nvSpPr>
        <p:spPr>
          <a:xfrm>
            <a:off x="457200" y="3611879"/>
            <a:ext cx="6858000" cy="36576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3657599"/>
            <a:ext cx="3931920" cy="274320"/>
          </a:xfrm>
          <a:prstGeom prst="rect">
            <a:avLst/>
          </a:prstGeom>
          <a:noFill/>
        </p:spPr>
        <p:txBody>
          <a:bodyPr wrap="square">
            <a:spAutoFit/>
          </a:bodyPr>
          <a:lstStyle/>
          <a:p>
            <a:pPr algn="l">
              <a:defRPr sz="1100" b="0">
                <a:solidFill>
                  <a:srgbClr val="FFFFFF"/>
                </a:solidFill>
                <a:latin typeface="Calibri"/>
              </a:defRPr>
            </a:pPr>
            <a:r>
              <a:t>Corporate Retirement Plans</a:t>
            </a:r>
          </a:p>
        </p:txBody>
      </p:sp>
      <p:sp>
        <p:nvSpPr>
          <p:cNvPr id="26" name="TextBox 25"/>
          <p:cNvSpPr txBox="1"/>
          <p:nvPr/>
        </p:nvSpPr>
        <p:spPr>
          <a:xfrm>
            <a:off x="4572000" y="3657599"/>
            <a:ext cx="2560320" cy="274320"/>
          </a:xfrm>
          <a:prstGeom prst="rect">
            <a:avLst/>
          </a:prstGeom>
          <a:noFill/>
        </p:spPr>
        <p:txBody>
          <a:bodyPr wrap="square">
            <a:spAutoFit/>
          </a:bodyPr>
          <a:lstStyle/>
          <a:p>
            <a:pPr algn="r">
              <a:defRPr sz="1100" b="0">
                <a:solidFill>
                  <a:srgbClr val="22C55E"/>
                </a:solidFill>
                <a:latin typeface="Calibri"/>
              </a:defRPr>
            </a:pPr>
            <a:r>
              <a:t>Variable (AUM)</a:t>
            </a:r>
          </a:p>
        </p:txBody>
      </p:sp>
      <p:sp>
        <p:nvSpPr>
          <p:cNvPr id="27" name="TextBox 26"/>
          <p:cNvSpPr txBox="1"/>
          <p:nvPr/>
        </p:nvSpPr>
        <p:spPr>
          <a:xfrm>
            <a:off x="7589520" y="914400"/>
            <a:ext cx="4114800" cy="365760"/>
          </a:xfrm>
          <a:prstGeom prst="rect">
            <a:avLst/>
          </a:prstGeom>
          <a:noFill/>
        </p:spPr>
        <p:txBody>
          <a:bodyPr wrap="square">
            <a:spAutoFit/>
          </a:bodyPr>
          <a:lstStyle/>
          <a:p>
            <a:pPr algn="l">
              <a:defRPr sz="1300" b="1">
                <a:solidFill>
                  <a:srgbClr val="3B82F6"/>
                </a:solidFill>
                <a:latin typeface="Calibri"/>
              </a:defRPr>
            </a:pPr>
            <a:r>
              <a:t>Financial Baseline</a:t>
            </a:r>
          </a:p>
        </p:txBody>
      </p:sp>
      <p:sp>
        <p:nvSpPr>
          <p:cNvPr id="28" name="Rounded Rectangle 27"/>
          <p:cNvSpPr/>
          <p:nvPr/>
        </p:nvSpPr>
        <p:spPr>
          <a:xfrm>
            <a:off x="7589520" y="1280160"/>
            <a:ext cx="4114800" cy="77724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80960" y="1371600"/>
            <a:ext cx="3931920" cy="274320"/>
          </a:xfrm>
          <a:prstGeom prst="rect">
            <a:avLst/>
          </a:prstGeom>
          <a:noFill/>
        </p:spPr>
        <p:txBody>
          <a:bodyPr wrap="square">
            <a:spAutoFit/>
          </a:bodyPr>
          <a:lstStyle/>
          <a:p>
            <a:pPr algn="ctr">
              <a:defRPr sz="1000" b="0">
                <a:solidFill>
                  <a:srgbClr val="94A3B8"/>
                </a:solidFill>
                <a:latin typeface="Calibri"/>
              </a:defRPr>
            </a:pPr>
            <a:r>
              <a:t>2023 Revenue</a:t>
            </a:r>
          </a:p>
        </p:txBody>
      </p:sp>
      <p:sp>
        <p:nvSpPr>
          <p:cNvPr id="30" name="TextBox 29"/>
          <p:cNvSpPr txBox="1"/>
          <p:nvPr/>
        </p:nvSpPr>
        <p:spPr>
          <a:xfrm>
            <a:off x="7680960" y="1600200"/>
            <a:ext cx="3931920" cy="411480"/>
          </a:xfrm>
          <a:prstGeom prst="rect">
            <a:avLst/>
          </a:prstGeom>
          <a:noFill/>
        </p:spPr>
        <p:txBody>
          <a:bodyPr wrap="square">
            <a:spAutoFit/>
          </a:bodyPr>
          <a:lstStyle/>
          <a:p>
            <a:pPr algn="ctr">
              <a:defRPr sz="2200" b="1">
                <a:solidFill>
                  <a:srgbClr val="FFFFFF"/>
                </a:solidFill>
                <a:latin typeface="Calibri"/>
              </a:defRPr>
            </a:pPr>
            <a:r>
              <a:t>~$100,000</a:t>
            </a:r>
          </a:p>
        </p:txBody>
      </p:sp>
      <p:sp>
        <p:nvSpPr>
          <p:cNvPr id="31" name="Rounded Rectangle 30"/>
          <p:cNvSpPr/>
          <p:nvPr/>
        </p:nvSpPr>
        <p:spPr>
          <a:xfrm>
            <a:off x="7589520" y="2148839"/>
            <a:ext cx="4114800" cy="77724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680960" y="2240279"/>
            <a:ext cx="3931920" cy="274320"/>
          </a:xfrm>
          <a:prstGeom prst="rect">
            <a:avLst/>
          </a:prstGeom>
          <a:noFill/>
        </p:spPr>
        <p:txBody>
          <a:bodyPr wrap="square">
            <a:spAutoFit/>
          </a:bodyPr>
          <a:lstStyle/>
          <a:p>
            <a:pPr algn="ctr">
              <a:defRPr sz="1000" b="0">
                <a:solidFill>
                  <a:srgbClr val="94A3B8"/>
                </a:solidFill>
                <a:latin typeface="Calibri"/>
              </a:defRPr>
            </a:pPr>
            <a:r>
              <a:t>2024 Projected</a:t>
            </a:r>
          </a:p>
        </p:txBody>
      </p:sp>
      <p:sp>
        <p:nvSpPr>
          <p:cNvPr id="33" name="TextBox 32"/>
          <p:cNvSpPr txBox="1"/>
          <p:nvPr/>
        </p:nvSpPr>
        <p:spPr>
          <a:xfrm>
            <a:off x="7680960" y="2468879"/>
            <a:ext cx="3931920" cy="411480"/>
          </a:xfrm>
          <a:prstGeom prst="rect">
            <a:avLst/>
          </a:prstGeom>
          <a:noFill/>
        </p:spPr>
        <p:txBody>
          <a:bodyPr wrap="square">
            <a:spAutoFit/>
          </a:bodyPr>
          <a:lstStyle/>
          <a:p>
            <a:pPr algn="ctr">
              <a:defRPr sz="2200" b="1">
                <a:solidFill>
                  <a:srgbClr val="22C55E"/>
                </a:solidFill>
                <a:latin typeface="Calibri"/>
              </a:defRPr>
            </a:pPr>
            <a:r>
              <a:t>~$200,000</a:t>
            </a:r>
          </a:p>
        </p:txBody>
      </p:sp>
      <p:sp>
        <p:nvSpPr>
          <p:cNvPr id="34" name="Rounded Rectangle 33"/>
          <p:cNvSpPr/>
          <p:nvPr/>
        </p:nvSpPr>
        <p:spPr>
          <a:xfrm>
            <a:off x="7589520" y="3017520"/>
            <a:ext cx="4114800" cy="77724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680960" y="3108960"/>
            <a:ext cx="3931920" cy="274320"/>
          </a:xfrm>
          <a:prstGeom prst="rect">
            <a:avLst/>
          </a:prstGeom>
          <a:noFill/>
        </p:spPr>
        <p:txBody>
          <a:bodyPr wrap="square">
            <a:spAutoFit/>
          </a:bodyPr>
          <a:lstStyle/>
          <a:p>
            <a:pPr algn="ctr">
              <a:defRPr sz="1000" b="0">
                <a:solidFill>
                  <a:srgbClr val="94A3B8"/>
                </a:solidFill>
                <a:latin typeface="Calibri"/>
              </a:defRPr>
            </a:pPr>
            <a:r>
              <a:t>Current Challenge</a:t>
            </a:r>
          </a:p>
        </p:txBody>
      </p:sp>
      <p:sp>
        <p:nvSpPr>
          <p:cNvPr id="36" name="TextBox 35"/>
          <p:cNvSpPr txBox="1"/>
          <p:nvPr/>
        </p:nvSpPr>
        <p:spPr>
          <a:xfrm>
            <a:off x="7680960" y="3337560"/>
            <a:ext cx="3931920" cy="411480"/>
          </a:xfrm>
          <a:prstGeom prst="rect">
            <a:avLst/>
          </a:prstGeom>
          <a:noFill/>
        </p:spPr>
        <p:txBody>
          <a:bodyPr wrap="square">
            <a:spAutoFit/>
          </a:bodyPr>
          <a:lstStyle/>
          <a:p>
            <a:pPr algn="ctr">
              <a:defRPr sz="2200" b="1">
                <a:solidFill>
                  <a:srgbClr val="F59E0B"/>
                </a:solidFill>
                <a:latin typeface="Calibri"/>
              </a:defRPr>
            </a:pPr>
            <a:r>
              <a:t>Revenue insufficient to hire</a:t>
            </a:r>
          </a:p>
        </p:txBody>
      </p:sp>
      <p:sp>
        <p:nvSpPr>
          <p:cNvPr id="37" name="Rounded Rectangle 36"/>
          <p:cNvSpPr/>
          <p:nvPr/>
        </p:nvSpPr>
        <p:spPr>
          <a:xfrm>
            <a:off x="7589520" y="3886200"/>
            <a:ext cx="4114800" cy="77724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80960" y="3977639"/>
            <a:ext cx="3931920" cy="274320"/>
          </a:xfrm>
          <a:prstGeom prst="rect">
            <a:avLst/>
          </a:prstGeom>
          <a:noFill/>
        </p:spPr>
        <p:txBody>
          <a:bodyPr wrap="square">
            <a:spAutoFit/>
          </a:bodyPr>
          <a:lstStyle/>
          <a:p>
            <a:pPr algn="ctr">
              <a:defRPr sz="1000" b="0">
                <a:solidFill>
                  <a:srgbClr val="94A3B8"/>
                </a:solidFill>
                <a:latin typeface="Calibri"/>
              </a:defRPr>
            </a:pPr>
            <a:r>
              <a:t>Profit Margin</a:t>
            </a:r>
          </a:p>
        </p:txBody>
      </p:sp>
      <p:sp>
        <p:nvSpPr>
          <p:cNvPr id="39" name="TextBox 38"/>
          <p:cNvSpPr txBox="1"/>
          <p:nvPr/>
        </p:nvSpPr>
        <p:spPr>
          <a:xfrm>
            <a:off x="7680960" y="4206240"/>
            <a:ext cx="3931920" cy="411480"/>
          </a:xfrm>
          <a:prstGeom prst="rect">
            <a:avLst/>
          </a:prstGeom>
          <a:noFill/>
        </p:spPr>
        <p:txBody>
          <a:bodyPr wrap="square">
            <a:spAutoFit/>
          </a:bodyPr>
          <a:lstStyle/>
          <a:p>
            <a:pPr algn="ctr">
              <a:defRPr sz="2200" b="1">
                <a:solidFill>
                  <a:srgbClr val="22C55E"/>
                </a:solidFill>
                <a:latin typeface="Calibri"/>
              </a:defRPr>
            </a:pPr>
            <a:r>
              <a:t>80%</a:t>
            </a:r>
          </a:p>
        </p:txBody>
      </p:sp>
      <p:sp>
        <p:nvSpPr>
          <p:cNvPr id="40" name="TextBox 39"/>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Complete Pain Point Analysis (1-7)</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1005840"/>
            <a:ext cx="11612880" cy="320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051560"/>
            <a:ext cx="457200" cy="228600"/>
          </a:xfrm>
          <a:prstGeom prst="rect">
            <a:avLst/>
          </a:prstGeom>
          <a:noFill/>
        </p:spPr>
        <p:txBody>
          <a:bodyPr wrap="square">
            <a:spAutoFit/>
          </a:bodyPr>
          <a:lstStyle/>
          <a:p>
            <a:pPr algn="l">
              <a:defRPr sz="1000" b="1">
                <a:solidFill>
                  <a:srgbClr val="FFFFFF"/>
                </a:solidFill>
                <a:latin typeface="Calibri"/>
              </a:defRPr>
            </a:pPr>
            <a:r>
              <a:t>#</a:t>
            </a:r>
          </a:p>
        </p:txBody>
      </p:sp>
      <p:sp>
        <p:nvSpPr>
          <p:cNvPr id="7" name="TextBox 6"/>
          <p:cNvSpPr txBox="1"/>
          <p:nvPr/>
        </p:nvSpPr>
        <p:spPr>
          <a:xfrm>
            <a:off x="777240" y="1051560"/>
            <a:ext cx="2103120" cy="228600"/>
          </a:xfrm>
          <a:prstGeom prst="rect">
            <a:avLst/>
          </a:prstGeom>
          <a:noFill/>
        </p:spPr>
        <p:txBody>
          <a:bodyPr wrap="square">
            <a:spAutoFit/>
          </a:bodyPr>
          <a:lstStyle/>
          <a:p>
            <a:pPr algn="l">
              <a:defRPr sz="1000" b="1">
                <a:solidFill>
                  <a:srgbClr val="FFFFFF"/>
                </a:solidFill>
                <a:latin typeface="Calibri"/>
              </a:defRPr>
            </a:pPr>
            <a:r>
              <a:t>Pain Point</a:t>
            </a:r>
          </a:p>
        </p:txBody>
      </p:sp>
      <p:sp>
        <p:nvSpPr>
          <p:cNvPr id="8" name="TextBox 7"/>
          <p:cNvSpPr txBox="1"/>
          <p:nvPr/>
        </p:nvSpPr>
        <p:spPr>
          <a:xfrm>
            <a:off x="2971800" y="1051560"/>
            <a:ext cx="2103120" cy="228600"/>
          </a:xfrm>
          <a:prstGeom prst="rect">
            <a:avLst/>
          </a:prstGeom>
          <a:noFill/>
        </p:spPr>
        <p:txBody>
          <a:bodyPr wrap="square">
            <a:spAutoFit/>
          </a:bodyPr>
          <a:lstStyle/>
          <a:p>
            <a:pPr algn="l">
              <a:defRPr sz="1000" b="1">
                <a:solidFill>
                  <a:srgbClr val="FFFFFF"/>
                </a:solidFill>
                <a:latin typeface="Calibri"/>
              </a:defRPr>
            </a:pPr>
            <a:r>
              <a:t>Impact</a:t>
            </a:r>
          </a:p>
        </p:txBody>
      </p:sp>
      <p:sp>
        <p:nvSpPr>
          <p:cNvPr id="9" name="TextBox 8"/>
          <p:cNvSpPr txBox="1"/>
          <p:nvPr/>
        </p:nvSpPr>
        <p:spPr>
          <a:xfrm>
            <a:off x="5166360" y="1051560"/>
            <a:ext cx="6400800" cy="228600"/>
          </a:xfrm>
          <a:prstGeom prst="rect">
            <a:avLst/>
          </a:prstGeom>
          <a:noFill/>
        </p:spPr>
        <p:txBody>
          <a:bodyPr wrap="square">
            <a:spAutoFit/>
          </a:bodyPr>
          <a:lstStyle/>
          <a:p>
            <a:pPr algn="l">
              <a:defRPr sz="1000" b="1">
                <a:solidFill>
                  <a:srgbClr val="FFFFFF"/>
                </a:solidFill>
                <a:latin typeface="Calibri"/>
              </a:defRPr>
            </a:pPr>
            <a:r>
              <a:t>Solution &amp; Value</a:t>
            </a:r>
          </a:p>
        </p:txBody>
      </p:sp>
      <p:sp>
        <p:nvSpPr>
          <p:cNvPr id="10" name="Rectangle 9"/>
          <p:cNvSpPr/>
          <p:nvPr/>
        </p:nvSpPr>
        <p:spPr>
          <a:xfrm>
            <a:off x="274320" y="1371600"/>
            <a:ext cx="4846320" cy="6858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166360" y="1371600"/>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600200"/>
            <a:ext cx="365760" cy="274320"/>
          </a:xfrm>
          <a:prstGeom prst="rect">
            <a:avLst/>
          </a:prstGeom>
          <a:noFill/>
        </p:spPr>
        <p:txBody>
          <a:bodyPr wrap="square">
            <a:spAutoFit/>
          </a:bodyPr>
          <a:lstStyle/>
          <a:p>
            <a:pPr algn="ctr">
              <a:defRPr sz="1100" b="0">
                <a:solidFill>
                  <a:srgbClr val="FFFFFF"/>
                </a:solidFill>
                <a:latin typeface="Calibri"/>
              </a:defRPr>
            </a:pPr>
            <a:r>
              <a:t>1</a:t>
            </a:r>
          </a:p>
        </p:txBody>
      </p:sp>
      <p:sp>
        <p:nvSpPr>
          <p:cNvPr id="13" name="TextBox 12"/>
          <p:cNvSpPr txBox="1"/>
          <p:nvPr/>
        </p:nvSpPr>
        <p:spPr>
          <a:xfrm>
            <a:off x="777240" y="1463040"/>
            <a:ext cx="2103120" cy="228600"/>
          </a:xfrm>
          <a:prstGeom prst="rect">
            <a:avLst/>
          </a:prstGeom>
          <a:noFill/>
        </p:spPr>
        <p:txBody>
          <a:bodyPr wrap="square">
            <a:spAutoFit/>
          </a:bodyPr>
          <a:lstStyle/>
          <a:p>
            <a:pPr algn="l">
              <a:defRPr sz="1100" b="1">
                <a:solidFill>
                  <a:srgbClr val="FFFFFF"/>
                </a:solidFill>
                <a:latin typeface="Calibri"/>
              </a:defRPr>
            </a:pPr>
            <a:r>
              <a:t>Spread Too Thin</a:t>
            </a:r>
          </a:p>
        </p:txBody>
      </p:sp>
      <p:sp>
        <p:nvSpPr>
          <p:cNvPr id="14" name="TextBox 13"/>
          <p:cNvSpPr txBox="1"/>
          <p:nvPr/>
        </p:nvSpPr>
        <p:spPr>
          <a:xfrm>
            <a:off x="777240" y="1737360"/>
            <a:ext cx="2103120" cy="228600"/>
          </a:xfrm>
          <a:prstGeom prst="rect">
            <a:avLst/>
          </a:prstGeom>
          <a:noFill/>
        </p:spPr>
        <p:txBody>
          <a:bodyPr wrap="square">
            <a:spAutoFit/>
          </a:bodyPr>
          <a:lstStyle/>
          <a:p>
            <a:pPr algn="l">
              <a:defRPr sz="900" b="0">
                <a:solidFill>
                  <a:srgbClr val="94A3B8"/>
                </a:solidFill>
                <a:latin typeface="Calibri"/>
              </a:defRPr>
            </a:pPr>
            <a:r>
              <a:t>Managing all functions solo</a:t>
            </a:r>
          </a:p>
        </p:txBody>
      </p:sp>
      <p:sp>
        <p:nvSpPr>
          <p:cNvPr id="15" name="TextBox 14"/>
          <p:cNvSpPr txBox="1"/>
          <p:nvPr/>
        </p:nvSpPr>
        <p:spPr>
          <a:xfrm>
            <a:off x="2971800" y="1600200"/>
            <a:ext cx="2103120" cy="274320"/>
          </a:xfrm>
          <a:prstGeom prst="rect">
            <a:avLst/>
          </a:prstGeom>
          <a:noFill/>
        </p:spPr>
        <p:txBody>
          <a:bodyPr wrap="square">
            <a:spAutoFit/>
          </a:bodyPr>
          <a:lstStyle/>
          <a:p>
            <a:pPr algn="l">
              <a:defRPr sz="1000" b="0">
                <a:solidFill>
                  <a:srgbClr val="FFFFFF"/>
                </a:solidFill>
                <a:latin typeface="Calibri"/>
              </a:defRPr>
            </a:pPr>
            <a:r>
              <a:t>60+ hour weeks, burnout</a:t>
            </a:r>
          </a:p>
        </p:txBody>
      </p:sp>
      <p:sp>
        <p:nvSpPr>
          <p:cNvPr id="16" name="TextBox 15"/>
          <p:cNvSpPr txBox="1"/>
          <p:nvPr/>
        </p:nvSpPr>
        <p:spPr>
          <a:xfrm>
            <a:off x="5257800" y="1463040"/>
            <a:ext cx="6309360" cy="228600"/>
          </a:xfrm>
          <a:prstGeom prst="rect">
            <a:avLst/>
          </a:prstGeom>
          <a:noFill/>
        </p:spPr>
        <p:txBody>
          <a:bodyPr wrap="square">
            <a:spAutoFit/>
          </a:bodyPr>
          <a:lstStyle/>
          <a:p>
            <a:pPr algn="l">
              <a:defRPr sz="1100" b="1">
                <a:solidFill>
                  <a:srgbClr val="FFFFFF"/>
                </a:solidFill>
                <a:latin typeface="Calibri"/>
              </a:defRPr>
            </a:pPr>
            <a:r>
              <a:t>Client Service Automation</a:t>
            </a:r>
          </a:p>
        </p:txBody>
      </p:sp>
      <p:sp>
        <p:nvSpPr>
          <p:cNvPr id="17" name="TextBox 16"/>
          <p:cNvSpPr txBox="1"/>
          <p:nvPr/>
        </p:nvSpPr>
        <p:spPr>
          <a:xfrm>
            <a:off x="5257800" y="1737360"/>
            <a:ext cx="6309360" cy="228600"/>
          </a:xfrm>
          <a:prstGeom prst="rect">
            <a:avLst/>
          </a:prstGeom>
          <a:noFill/>
        </p:spPr>
        <p:txBody>
          <a:bodyPr wrap="square">
            <a:spAutoFit/>
          </a:bodyPr>
          <a:lstStyle/>
          <a:p>
            <a:pPr algn="l">
              <a:defRPr sz="1000" b="0">
                <a:solidFill>
                  <a:srgbClr val="FFFFFF"/>
                </a:solidFill>
                <a:latin typeface="Calibri"/>
              </a:defRPr>
            </a:pPr>
            <a:r>
              <a:t>→ 60 hrs to 45 hrs/week</a:t>
            </a:r>
          </a:p>
        </p:txBody>
      </p:sp>
      <p:sp>
        <p:nvSpPr>
          <p:cNvPr id="18" name="Rectangle 17"/>
          <p:cNvSpPr/>
          <p:nvPr/>
        </p:nvSpPr>
        <p:spPr>
          <a:xfrm>
            <a:off x="274320" y="2084832"/>
            <a:ext cx="4846320" cy="6858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66360" y="2084832"/>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2313432"/>
            <a:ext cx="365760" cy="274320"/>
          </a:xfrm>
          <a:prstGeom prst="rect">
            <a:avLst/>
          </a:prstGeom>
          <a:noFill/>
        </p:spPr>
        <p:txBody>
          <a:bodyPr wrap="square">
            <a:spAutoFit/>
          </a:bodyPr>
          <a:lstStyle/>
          <a:p>
            <a:pPr algn="ctr">
              <a:defRPr sz="1100" b="0">
                <a:solidFill>
                  <a:srgbClr val="FFFFFF"/>
                </a:solidFill>
                <a:latin typeface="Calibri"/>
              </a:defRPr>
            </a:pPr>
            <a:r>
              <a:t>2</a:t>
            </a:r>
          </a:p>
        </p:txBody>
      </p:sp>
      <p:sp>
        <p:nvSpPr>
          <p:cNvPr id="21" name="TextBox 20"/>
          <p:cNvSpPr txBox="1"/>
          <p:nvPr/>
        </p:nvSpPr>
        <p:spPr>
          <a:xfrm>
            <a:off x="777240" y="2176272"/>
            <a:ext cx="2103120" cy="228600"/>
          </a:xfrm>
          <a:prstGeom prst="rect">
            <a:avLst/>
          </a:prstGeom>
          <a:noFill/>
        </p:spPr>
        <p:txBody>
          <a:bodyPr wrap="square">
            <a:spAutoFit/>
          </a:bodyPr>
          <a:lstStyle/>
          <a:p>
            <a:pPr algn="l">
              <a:defRPr sz="1100" b="1">
                <a:solidFill>
                  <a:srgbClr val="FFFFFF"/>
                </a:solidFill>
                <a:latin typeface="Calibri"/>
              </a:defRPr>
            </a:pPr>
            <a:r>
              <a:t>Marketing Collateral</a:t>
            </a:r>
          </a:p>
        </p:txBody>
      </p:sp>
      <p:sp>
        <p:nvSpPr>
          <p:cNvPr id="22" name="TextBox 21"/>
          <p:cNvSpPr txBox="1"/>
          <p:nvPr/>
        </p:nvSpPr>
        <p:spPr>
          <a:xfrm>
            <a:off x="777240" y="2450592"/>
            <a:ext cx="2103120" cy="228600"/>
          </a:xfrm>
          <a:prstGeom prst="rect">
            <a:avLst/>
          </a:prstGeom>
          <a:noFill/>
        </p:spPr>
        <p:txBody>
          <a:bodyPr wrap="square">
            <a:spAutoFit/>
          </a:bodyPr>
          <a:lstStyle/>
          <a:p>
            <a:pPr algn="l">
              <a:defRPr sz="900" b="0">
                <a:solidFill>
                  <a:srgbClr val="94A3B8"/>
                </a:solidFill>
                <a:latin typeface="Calibri"/>
              </a:defRPr>
            </a:pPr>
            <a:r>
              <a:t>Creating for 3 companies</a:t>
            </a:r>
          </a:p>
        </p:txBody>
      </p:sp>
      <p:sp>
        <p:nvSpPr>
          <p:cNvPr id="23" name="TextBox 22"/>
          <p:cNvSpPr txBox="1"/>
          <p:nvPr/>
        </p:nvSpPr>
        <p:spPr>
          <a:xfrm>
            <a:off x="2971800" y="2313432"/>
            <a:ext cx="2103120" cy="274320"/>
          </a:xfrm>
          <a:prstGeom prst="rect">
            <a:avLst/>
          </a:prstGeom>
          <a:noFill/>
        </p:spPr>
        <p:txBody>
          <a:bodyPr wrap="square">
            <a:spAutoFit/>
          </a:bodyPr>
          <a:lstStyle/>
          <a:p>
            <a:pPr algn="l">
              <a:defRPr sz="1000" b="0">
                <a:solidFill>
                  <a:srgbClr val="FFFFFF"/>
                </a:solidFill>
                <a:latin typeface="Calibri"/>
              </a:defRPr>
            </a:pPr>
            <a:r>
              <a:t>5+ hrs/doc, until 1:30AM</a:t>
            </a:r>
          </a:p>
        </p:txBody>
      </p:sp>
      <p:sp>
        <p:nvSpPr>
          <p:cNvPr id="24" name="TextBox 23"/>
          <p:cNvSpPr txBox="1"/>
          <p:nvPr/>
        </p:nvSpPr>
        <p:spPr>
          <a:xfrm>
            <a:off x="5257800" y="2176272"/>
            <a:ext cx="6309360" cy="228600"/>
          </a:xfrm>
          <a:prstGeom prst="rect">
            <a:avLst/>
          </a:prstGeom>
          <a:noFill/>
        </p:spPr>
        <p:txBody>
          <a:bodyPr wrap="square">
            <a:spAutoFit/>
          </a:bodyPr>
          <a:lstStyle/>
          <a:p>
            <a:pPr algn="l">
              <a:defRPr sz="1100" b="1">
                <a:solidFill>
                  <a:srgbClr val="FFFFFF"/>
                </a:solidFill>
                <a:latin typeface="Calibri"/>
              </a:defRPr>
            </a:pPr>
            <a:r>
              <a:t>AI Document Engine</a:t>
            </a:r>
          </a:p>
        </p:txBody>
      </p:sp>
      <p:sp>
        <p:nvSpPr>
          <p:cNvPr id="25" name="TextBox 24"/>
          <p:cNvSpPr txBox="1"/>
          <p:nvPr/>
        </p:nvSpPr>
        <p:spPr>
          <a:xfrm>
            <a:off x="5257800" y="2450592"/>
            <a:ext cx="6309360" cy="228600"/>
          </a:xfrm>
          <a:prstGeom prst="rect">
            <a:avLst/>
          </a:prstGeom>
          <a:noFill/>
        </p:spPr>
        <p:txBody>
          <a:bodyPr wrap="square">
            <a:spAutoFit/>
          </a:bodyPr>
          <a:lstStyle/>
          <a:p>
            <a:pPr algn="l">
              <a:defRPr sz="1000" b="0">
                <a:solidFill>
                  <a:srgbClr val="FFFFFF"/>
                </a:solidFill>
                <a:latin typeface="Calibri"/>
              </a:defRPr>
            </a:pPr>
            <a:r>
              <a:t>→ 5 hrs to 15 min/doc</a:t>
            </a:r>
          </a:p>
        </p:txBody>
      </p:sp>
      <p:sp>
        <p:nvSpPr>
          <p:cNvPr id="26" name="Rectangle 25"/>
          <p:cNvSpPr/>
          <p:nvPr/>
        </p:nvSpPr>
        <p:spPr>
          <a:xfrm>
            <a:off x="274320" y="2798064"/>
            <a:ext cx="4846320" cy="6858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66360" y="2798064"/>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3026664"/>
            <a:ext cx="365760" cy="274320"/>
          </a:xfrm>
          <a:prstGeom prst="rect">
            <a:avLst/>
          </a:prstGeom>
          <a:noFill/>
        </p:spPr>
        <p:txBody>
          <a:bodyPr wrap="square">
            <a:spAutoFit/>
          </a:bodyPr>
          <a:lstStyle/>
          <a:p>
            <a:pPr algn="ctr">
              <a:defRPr sz="1100" b="0">
                <a:solidFill>
                  <a:srgbClr val="FFFFFF"/>
                </a:solidFill>
                <a:latin typeface="Calibri"/>
              </a:defRPr>
            </a:pPr>
            <a:r>
              <a:t>3</a:t>
            </a:r>
          </a:p>
        </p:txBody>
      </p:sp>
      <p:sp>
        <p:nvSpPr>
          <p:cNvPr id="29" name="TextBox 28"/>
          <p:cNvSpPr txBox="1"/>
          <p:nvPr/>
        </p:nvSpPr>
        <p:spPr>
          <a:xfrm>
            <a:off x="777240" y="2889504"/>
            <a:ext cx="2103120" cy="228600"/>
          </a:xfrm>
          <a:prstGeom prst="rect">
            <a:avLst/>
          </a:prstGeom>
          <a:noFill/>
        </p:spPr>
        <p:txBody>
          <a:bodyPr wrap="square">
            <a:spAutoFit/>
          </a:bodyPr>
          <a:lstStyle/>
          <a:p>
            <a:pPr algn="l">
              <a:defRPr sz="1100" b="1">
                <a:solidFill>
                  <a:srgbClr val="FFFFFF"/>
                </a:solidFill>
                <a:latin typeface="Calibri"/>
              </a:defRPr>
            </a:pPr>
            <a:r>
              <a:t>No Admin Support</a:t>
            </a:r>
          </a:p>
        </p:txBody>
      </p:sp>
      <p:sp>
        <p:nvSpPr>
          <p:cNvPr id="30" name="TextBox 29"/>
          <p:cNvSpPr txBox="1"/>
          <p:nvPr/>
        </p:nvSpPr>
        <p:spPr>
          <a:xfrm>
            <a:off x="777240" y="3163824"/>
            <a:ext cx="2103120" cy="228600"/>
          </a:xfrm>
          <a:prstGeom prst="rect">
            <a:avLst/>
          </a:prstGeom>
          <a:noFill/>
        </p:spPr>
        <p:txBody>
          <a:bodyPr wrap="square">
            <a:spAutoFit/>
          </a:bodyPr>
          <a:lstStyle/>
          <a:p>
            <a:pPr algn="l">
              <a:defRPr sz="900" b="0">
                <a:solidFill>
                  <a:srgbClr val="94A3B8"/>
                </a:solidFill>
                <a:latin typeface="Calibri"/>
              </a:defRPr>
            </a:pPr>
            <a:r>
              <a:t>Can't afford hire</a:t>
            </a:r>
          </a:p>
        </p:txBody>
      </p:sp>
      <p:sp>
        <p:nvSpPr>
          <p:cNvPr id="31" name="TextBox 30"/>
          <p:cNvSpPr txBox="1"/>
          <p:nvPr/>
        </p:nvSpPr>
        <p:spPr>
          <a:xfrm>
            <a:off x="2971800" y="3026664"/>
            <a:ext cx="2103120" cy="274320"/>
          </a:xfrm>
          <a:prstGeom prst="rect">
            <a:avLst/>
          </a:prstGeom>
          <a:noFill/>
        </p:spPr>
        <p:txBody>
          <a:bodyPr wrap="square">
            <a:spAutoFit/>
          </a:bodyPr>
          <a:lstStyle/>
          <a:p>
            <a:pPr algn="l">
              <a:defRPr sz="1000" b="0">
                <a:solidFill>
                  <a:srgbClr val="FFFFFF"/>
                </a:solidFill>
                <a:latin typeface="Calibri"/>
              </a:defRPr>
            </a:pPr>
            <a:r>
              <a:t>Trapped in low-value tasks</a:t>
            </a:r>
          </a:p>
        </p:txBody>
      </p:sp>
      <p:sp>
        <p:nvSpPr>
          <p:cNvPr id="32" name="TextBox 31"/>
          <p:cNvSpPr txBox="1"/>
          <p:nvPr/>
        </p:nvSpPr>
        <p:spPr>
          <a:xfrm>
            <a:off x="5257800" y="2889504"/>
            <a:ext cx="6309360" cy="228600"/>
          </a:xfrm>
          <a:prstGeom prst="rect">
            <a:avLst/>
          </a:prstGeom>
          <a:noFill/>
        </p:spPr>
        <p:txBody>
          <a:bodyPr wrap="square">
            <a:spAutoFit/>
          </a:bodyPr>
          <a:lstStyle/>
          <a:p>
            <a:pPr algn="l">
              <a:defRPr sz="1100" b="1">
                <a:solidFill>
                  <a:srgbClr val="FFFFFF"/>
                </a:solidFill>
                <a:latin typeface="Calibri"/>
              </a:defRPr>
            </a:pPr>
            <a:r>
              <a:t>AI Virtual Assistant</a:t>
            </a:r>
          </a:p>
        </p:txBody>
      </p:sp>
      <p:sp>
        <p:nvSpPr>
          <p:cNvPr id="33" name="TextBox 32"/>
          <p:cNvSpPr txBox="1"/>
          <p:nvPr/>
        </p:nvSpPr>
        <p:spPr>
          <a:xfrm>
            <a:off x="5257800" y="3163824"/>
            <a:ext cx="6309360" cy="228600"/>
          </a:xfrm>
          <a:prstGeom prst="rect">
            <a:avLst/>
          </a:prstGeom>
          <a:noFill/>
        </p:spPr>
        <p:txBody>
          <a:bodyPr wrap="square">
            <a:spAutoFit/>
          </a:bodyPr>
          <a:lstStyle/>
          <a:p>
            <a:pPr algn="l">
              <a:defRPr sz="1000" b="0">
                <a:solidFill>
                  <a:srgbClr val="FFFFFF"/>
                </a:solidFill>
                <a:latin typeface="Calibri"/>
              </a:defRPr>
            </a:pPr>
            <a:r>
              <a:t>→ $75K/yr value, $0 salary</a:t>
            </a:r>
          </a:p>
        </p:txBody>
      </p:sp>
      <p:sp>
        <p:nvSpPr>
          <p:cNvPr id="34" name="Rectangle 33"/>
          <p:cNvSpPr/>
          <p:nvPr/>
        </p:nvSpPr>
        <p:spPr>
          <a:xfrm>
            <a:off x="274320" y="3511296"/>
            <a:ext cx="4846320" cy="6858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166360" y="3511296"/>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3739896"/>
            <a:ext cx="365760" cy="274320"/>
          </a:xfrm>
          <a:prstGeom prst="rect">
            <a:avLst/>
          </a:prstGeom>
          <a:noFill/>
        </p:spPr>
        <p:txBody>
          <a:bodyPr wrap="square">
            <a:spAutoFit/>
          </a:bodyPr>
          <a:lstStyle/>
          <a:p>
            <a:pPr algn="ctr">
              <a:defRPr sz="1100" b="0">
                <a:solidFill>
                  <a:srgbClr val="FFFFFF"/>
                </a:solidFill>
                <a:latin typeface="Calibri"/>
              </a:defRPr>
            </a:pPr>
            <a:r>
              <a:t>4</a:t>
            </a:r>
          </a:p>
        </p:txBody>
      </p:sp>
      <p:sp>
        <p:nvSpPr>
          <p:cNvPr id="37" name="TextBox 36"/>
          <p:cNvSpPr txBox="1"/>
          <p:nvPr/>
        </p:nvSpPr>
        <p:spPr>
          <a:xfrm>
            <a:off x="777240" y="3602736"/>
            <a:ext cx="2103120" cy="228600"/>
          </a:xfrm>
          <a:prstGeom prst="rect">
            <a:avLst/>
          </a:prstGeom>
          <a:noFill/>
        </p:spPr>
        <p:txBody>
          <a:bodyPr wrap="square">
            <a:spAutoFit/>
          </a:bodyPr>
          <a:lstStyle/>
          <a:p>
            <a:pPr algn="l">
              <a:defRPr sz="1100" b="1">
                <a:solidFill>
                  <a:srgbClr val="FFFFFF"/>
                </a:solidFill>
                <a:latin typeface="Calibri"/>
              </a:defRPr>
            </a:pPr>
            <a:r>
              <a:t>Data Entry</a:t>
            </a:r>
          </a:p>
        </p:txBody>
      </p:sp>
      <p:sp>
        <p:nvSpPr>
          <p:cNvPr id="38" name="TextBox 37"/>
          <p:cNvSpPr txBox="1"/>
          <p:nvPr/>
        </p:nvSpPr>
        <p:spPr>
          <a:xfrm>
            <a:off x="777240" y="3877056"/>
            <a:ext cx="2103120" cy="228600"/>
          </a:xfrm>
          <a:prstGeom prst="rect">
            <a:avLst/>
          </a:prstGeom>
          <a:noFill/>
        </p:spPr>
        <p:txBody>
          <a:bodyPr wrap="square">
            <a:spAutoFit/>
          </a:bodyPr>
          <a:lstStyle/>
          <a:p>
            <a:pPr algn="l">
              <a:defRPr sz="900" b="0">
                <a:solidFill>
                  <a:srgbClr val="94A3B8"/>
                </a:solidFill>
                <a:latin typeface="Calibri"/>
              </a:defRPr>
            </a:pPr>
            <a:r>
              <a:t>E-Money input</a:t>
            </a:r>
          </a:p>
        </p:txBody>
      </p:sp>
      <p:sp>
        <p:nvSpPr>
          <p:cNvPr id="39" name="TextBox 38"/>
          <p:cNvSpPr txBox="1"/>
          <p:nvPr/>
        </p:nvSpPr>
        <p:spPr>
          <a:xfrm>
            <a:off x="2971800" y="3739896"/>
            <a:ext cx="2103120" cy="274320"/>
          </a:xfrm>
          <a:prstGeom prst="rect">
            <a:avLst/>
          </a:prstGeom>
          <a:noFill/>
        </p:spPr>
        <p:txBody>
          <a:bodyPr wrap="square">
            <a:spAutoFit/>
          </a:bodyPr>
          <a:lstStyle/>
          <a:p>
            <a:pPr algn="l">
              <a:defRPr sz="1000" b="0">
                <a:solidFill>
                  <a:srgbClr val="FFFFFF"/>
                </a:solidFill>
                <a:latin typeface="Calibri"/>
              </a:defRPr>
            </a:pPr>
            <a:r>
              <a:t>4-6 hours per plan</a:t>
            </a:r>
          </a:p>
        </p:txBody>
      </p:sp>
      <p:sp>
        <p:nvSpPr>
          <p:cNvPr id="40" name="TextBox 39"/>
          <p:cNvSpPr txBox="1"/>
          <p:nvPr/>
        </p:nvSpPr>
        <p:spPr>
          <a:xfrm>
            <a:off x="5257800" y="3602736"/>
            <a:ext cx="6309360" cy="228600"/>
          </a:xfrm>
          <a:prstGeom prst="rect">
            <a:avLst/>
          </a:prstGeom>
          <a:noFill/>
        </p:spPr>
        <p:txBody>
          <a:bodyPr wrap="square">
            <a:spAutoFit/>
          </a:bodyPr>
          <a:lstStyle/>
          <a:p>
            <a:pPr algn="l">
              <a:defRPr sz="1100" b="1">
                <a:solidFill>
                  <a:srgbClr val="FFFFFF"/>
                </a:solidFill>
                <a:latin typeface="Calibri"/>
              </a:defRPr>
            </a:pPr>
            <a:r>
              <a:t>Data Automation</a:t>
            </a:r>
          </a:p>
        </p:txBody>
      </p:sp>
      <p:sp>
        <p:nvSpPr>
          <p:cNvPr id="41" name="TextBox 40"/>
          <p:cNvSpPr txBox="1"/>
          <p:nvPr/>
        </p:nvSpPr>
        <p:spPr>
          <a:xfrm>
            <a:off x="5257800" y="3877056"/>
            <a:ext cx="6309360" cy="228600"/>
          </a:xfrm>
          <a:prstGeom prst="rect">
            <a:avLst/>
          </a:prstGeom>
          <a:noFill/>
        </p:spPr>
        <p:txBody>
          <a:bodyPr wrap="square">
            <a:spAutoFit/>
          </a:bodyPr>
          <a:lstStyle/>
          <a:p>
            <a:pPr algn="l">
              <a:defRPr sz="1000" b="0">
                <a:solidFill>
                  <a:srgbClr val="FFFFFF"/>
                </a:solidFill>
                <a:latin typeface="Calibri"/>
              </a:defRPr>
            </a:pPr>
            <a:r>
              <a:t>→ 6 hrs to 1 hr (83%↓)</a:t>
            </a:r>
          </a:p>
        </p:txBody>
      </p:sp>
      <p:sp>
        <p:nvSpPr>
          <p:cNvPr id="42" name="Rectangle 41"/>
          <p:cNvSpPr/>
          <p:nvPr/>
        </p:nvSpPr>
        <p:spPr>
          <a:xfrm>
            <a:off x="274320" y="4224528"/>
            <a:ext cx="4846320" cy="6858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166360" y="4224528"/>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5760" y="4453128"/>
            <a:ext cx="365760" cy="274320"/>
          </a:xfrm>
          <a:prstGeom prst="rect">
            <a:avLst/>
          </a:prstGeom>
          <a:noFill/>
        </p:spPr>
        <p:txBody>
          <a:bodyPr wrap="square">
            <a:spAutoFit/>
          </a:bodyPr>
          <a:lstStyle/>
          <a:p>
            <a:pPr algn="ctr">
              <a:defRPr sz="1100" b="0">
                <a:solidFill>
                  <a:srgbClr val="FFFFFF"/>
                </a:solidFill>
                <a:latin typeface="Calibri"/>
              </a:defRPr>
            </a:pPr>
            <a:r>
              <a:t>5</a:t>
            </a:r>
          </a:p>
        </p:txBody>
      </p:sp>
      <p:sp>
        <p:nvSpPr>
          <p:cNvPr id="45" name="TextBox 44"/>
          <p:cNvSpPr txBox="1"/>
          <p:nvPr/>
        </p:nvSpPr>
        <p:spPr>
          <a:xfrm>
            <a:off x="777240" y="4315968"/>
            <a:ext cx="2103120" cy="228600"/>
          </a:xfrm>
          <a:prstGeom prst="rect">
            <a:avLst/>
          </a:prstGeom>
          <a:noFill/>
        </p:spPr>
        <p:txBody>
          <a:bodyPr wrap="square">
            <a:spAutoFit/>
          </a:bodyPr>
          <a:lstStyle/>
          <a:p>
            <a:pPr algn="l">
              <a:defRPr sz="1100" b="1">
                <a:solidFill>
                  <a:srgbClr val="FFFFFF"/>
                </a:solidFill>
                <a:latin typeface="Calibri"/>
              </a:defRPr>
            </a:pPr>
            <a:r>
              <a:t>Labor-Intensive Valuations</a:t>
            </a:r>
          </a:p>
        </p:txBody>
      </p:sp>
      <p:sp>
        <p:nvSpPr>
          <p:cNvPr id="46" name="TextBox 45"/>
          <p:cNvSpPr txBox="1"/>
          <p:nvPr/>
        </p:nvSpPr>
        <p:spPr>
          <a:xfrm>
            <a:off x="777240" y="4590288"/>
            <a:ext cx="2103120" cy="228600"/>
          </a:xfrm>
          <a:prstGeom prst="rect">
            <a:avLst/>
          </a:prstGeom>
          <a:noFill/>
        </p:spPr>
        <p:txBody>
          <a:bodyPr wrap="square">
            <a:spAutoFit/>
          </a:bodyPr>
          <a:lstStyle/>
          <a:p>
            <a:pPr algn="l">
              <a:defRPr sz="900" b="0">
                <a:solidFill>
                  <a:srgbClr val="94A3B8"/>
                </a:solidFill>
                <a:latin typeface="Calibri"/>
              </a:defRPr>
            </a:pPr>
            <a:r>
              <a:t>3-4 weeks, 7 days/wk</a:t>
            </a:r>
          </a:p>
        </p:txBody>
      </p:sp>
      <p:sp>
        <p:nvSpPr>
          <p:cNvPr id="47" name="TextBox 46"/>
          <p:cNvSpPr txBox="1"/>
          <p:nvPr/>
        </p:nvSpPr>
        <p:spPr>
          <a:xfrm>
            <a:off x="2971800" y="4453128"/>
            <a:ext cx="2103120" cy="274320"/>
          </a:xfrm>
          <a:prstGeom prst="rect">
            <a:avLst/>
          </a:prstGeom>
          <a:noFill/>
        </p:spPr>
        <p:txBody>
          <a:bodyPr wrap="square">
            <a:spAutoFit/>
          </a:bodyPr>
          <a:lstStyle/>
          <a:p>
            <a:pPr algn="l">
              <a:defRPr sz="1000" b="0">
                <a:solidFill>
                  <a:srgbClr val="FFFFFF"/>
                </a:solidFill>
                <a:latin typeface="Calibri"/>
              </a:defRPr>
            </a:pPr>
            <a:r>
              <a:t>Must charge $20K+</a:t>
            </a:r>
          </a:p>
        </p:txBody>
      </p:sp>
      <p:sp>
        <p:nvSpPr>
          <p:cNvPr id="48" name="TextBox 47"/>
          <p:cNvSpPr txBox="1"/>
          <p:nvPr/>
        </p:nvSpPr>
        <p:spPr>
          <a:xfrm>
            <a:off x="5257800" y="4315968"/>
            <a:ext cx="6309360" cy="228600"/>
          </a:xfrm>
          <a:prstGeom prst="rect">
            <a:avLst/>
          </a:prstGeom>
          <a:noFill/>
        </p:spPr>
        <p:txBody>
          <a:bodyPr wrap="square">
            <a:spAutoFit/>
          </a:bodyPr>
          <a:lstStyle/>
          <a:p>
            <a:pPr algn="l">
              <a:defRPr sz="1100" b="1">
                <a:solidFill>
                  <a:srgbClr val="FFFFFF"/>
                </a:solidFill>
                <a:latin typeface="Calibri"/>
              </a:defRPr>
            </a:pPr>
            <a:r>
              <a:t>M&amp;A Accelerator</a:t>
            </a:r>
          </a:p>
        </p:txBody>
      </p:sp>
      <p:sp>
        <p:nvSpPr>
          <p:cNvPr id="49" name="TextBox 48"/>
          <p:cNvSpPr txBox="1"/>
          <p:nvPr/>
        </p:nvSpPr>
        <p:spPr>
          <a:xfrm>
            <a:off x="5257800" y="4590288"/>
            <a:ext cx="6309360" cy="228600"/>
          </a:xfrm>
          <a:prstGeom prst="rect">
            <a:avLst/>
          </a:prstGeom>
          <a:noFill/>
        </p:spPr>
        <p:txBody>
          <a:bodyPr wrap="square">
            <a:spAutoFit/>
          </a:bodyPr>
          <a:lstStyle/>
          <a:p>
            <a:pPr algn="l">
              <a:defRPr sz="1000" b="0">
                <a:solidFill>
                  <a:srgbClr val="FFFFFF"/>
                </a:solidFill>
                <a:latin typeface="Calibri"/>
              </a:defRPr>
            </a:pPr>
            <a:r>
              <a:t>→ 4 wks to 4 days (85%↓)</a:t>
            </a:r>
          </a:p>
        </p:txBody>
      </p:sp>
      <p:sp>
        <p:nvSpPr>
          <p:cNvPr id="50" name="Rectangle 49"/>
          <p:cNvSpPr/>
          <p:nvPr/>
        </p:nvSpPr>
        <p:spPr>
          <a:xfrm>
            <a:off x="274320" y="4937760"/>
            <a:ext cx="4846320" cy="6858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5166360" y="4937760"/>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5166360"/>
            <a:ext cx="365760" cy="274320"/>
          </a:xfrm>
          <a:prstGeom prst="rect">
            <a:avLst/>
          </a:prstGeom>
          <a:noFill/>
        </p:spPr>
        <p:txBody>
          <a:bodyPr wrap="square">
            <a:spAutoFit/>
          </a:bodyPr>
          <a:lstStyle/>
          <a:p>
            <a:pPr algn="ctr">
              <a:defRPr sz="1100" b="0">
                <a:solidFill>
                  <a:srgbClr val="FFFFFF"/>
                </a:solidFill>
                <a:latin typeface="Calibri"/>
              </a:defRPr>
            </a:pPr>
            <a:r>
              <a:t>6</a:t>
            </a:r>
          </a:p>
        </p:txBody>
      </p:sp>
      <p:sp>
        <p:nvSpPr>
          <p:cNvPr id="53" name="TextBox 52"/>
          <p:cNvSpPr txBox="1"/>
          <p:nvPr/>
        </p:nvSpPr>
        <p:spPr>
          <a:xfrm>
            <a:off x="777240" y="5029200"/>
            <a:ext cx="2103120" cy="228600"/>
          </a:xfrm>
          <a:prstGeom prst="rect">
            <a:avLst/>
          </a:prstGeom>
          <a:noFill/>
        </p:spPr>
        <p:txBody>
          <a:bodyPr wrap="square">
            <a:spAutoFit/>
          </a:bodyPr>
          <a:lstStyle/>
          <a:p>
            <a:pPr algn="l">
              <a:defRPr sz="1100" b="1">
                <a:solidFill>
                  <a:srgbClr val="FFFFFF"/>
                </a:solidFill>
                <a:latin typeface="Calibri"/>
              </a:defRPr>
            </a:pPr>
            <a:r>
              <a:t>Cash Flow Peaks</a:t>
            </a:r>
          </a:p>
        </p:txBody>
      </p:sp>
      <p:sp>
        <p:nvSpPr>
          <p:cNvPr id="54" name="TextBox 53"/>
          <p:cNvSpPr txBox="1"/>
          <p:nvPr/>
        </p:nvSpPr>
        <p:spPr>
          <a:xfrm>
            <a:off x="777240" y="5303520"/>
            <a:ext cx="2103120" cy="228600"/>
          </a:xfrm>
          <a:prstGeom prst="rect">
            <a:avLst/>
          </a:prstGeom>
          <a:noFill/>
        </p:spPr>
        <p:txBody>
          <a:bodyPr wrap="square">
            <a:spAutoFit/>
          </a:bodyPr>
          <a:lstStyle/>
          <a:p>
            <a:pPr algn="l">
              <a:defRPr sz="900" b="0">
                <a:solidFill>
                  <a:srgbClr val="94A3B8"/>
                </a:solidFill>
                <a:latin typeface="Calibri"/>
              </a:defRPr>
            </a:pPr>
            <a:r>
              <a:t>Months between payments</a:t>
            </a:r>
          </a:p>
        </p:txBody>
      </p:sp>
      <p:sp>
        <p:nvSpPr>
          <p:cNvPr id="55" name="TextBox 54"/>
          <p:cNvSpPr txBox="1"/>
          <p:nvPr/>
        </p:nvSpPr>
        <p:spPr>
          <a:xfrm>
            <a:off x="2971800" y="5166360"/>
            <a:ext cx="2103120" cy="274320"/>
          </a:xfrm>
          <a:prstGeom prst="rect">
            <a:avLst/>
          </a:prstGeom>
          <a:noFill/>
        </p:spPr>
        <p:txBody>
          <a:bodyPr wrap="square">
            <a:spAutoFit/>
          </a:bodyPr>
          <a:lstStyle/>
          <a:p>
            <a:pPr algn="l">
              <a:defRPr sz="1000" b="0">
                <a:solidFill>
                  <a:srgbClr val="FFFFFF"/>
                </a:solidFill>
                <a:latin typeface="Calibri"/>
              </a:defRPr>
            </a:pPr>
            <a:r>
              <a:t>Can't plan/hire</a:t>
            </a:r>
          </a:p>
        </p:txBody>
      </p:sp>
      <p:sp>
        <p:nvSpPr>
          <p:cNvPr id="56" name="TextBox 55"/>
          <p:cNvSpPr txBox="1"/>
          <p:nvPr/>
        </p:nvSpPr>
        <p:spPr>
          <a:xfrm>
            <a:off x="5257800" y="5029200"/>
            <a:ext cx="6309360" cy="228600"/>
          </a:xfrm>
          <a:prstGeom prst="rect">
            <a:avLst/>
          </a:prstGeom>
          <a:noFill/>
        </p:spPr>
        <p:txBody>
          <a:bodyPr wrap="square">
            <a:spAutoFit/>
          </a:bodyPr>
          <a:lstStyle/>
          <a:p>
            <a:pPr algn="l">
              <a:defRPr sz="1100" b="1">
                <a:solidFill>
                  <a:srgbClr val="FFFFFF"/>
                </a:solidFill>
                <a:latin typeface="Calibri"/>
              </a:defRPr>
            </a:pPr>
            <a:r>
              <a:t>Billing Automation</a:t>
            </a:r>
          </a:p>
        </p:txBody>
      </p:sp>
      <p:sp>
        <p:nvSpPr>
          <p:cNvPr id="57" name="TextBox 56"/>
          <p:cNvSpPr txBox="1"/>
          <p:nvPr/>
        </p:nvSpPr>
        <p:spPr>
          <a:xfrm>
            <a:off x="5257800" y="5303520"/>
            <a:ext cx="6309360" cy="228600"/>
          </a:xfrm>
          <a:prstGeom prst="rect">
            <a:avLst/>
          </a:prstGeom>
          <a:noFill/>
        </p:spPr>
        <p:txBody>
          <a:bodyPr wrap="square">
            <a:spAutoFit/>
          </a:bodyPr>
          <a:lstStyle/>
          <a:p>
            <a:pPr algn="l">
              <a:defRPr sz="1000" b="0">
                <a:solidFill>
                  <a:srgbClr val="FFFFFF"/>
                </a:solidFill>
                <a:latin typeface="Calibri"/>
              </a:defRPr>
            </a:pPr>
            <a:r>
              <a:t>→ 30-60 day DSO reduction</a:t>
            </a:r>
          </a:p>
        </p:txBody>
      </p:sp>
      <p:sp>
        <p:nvSpPr>
          <p:cNvPr id="58" name="Rectangle 57"/>
          <p:cNvSpPr/>
          <p:nvPr/>
        </p:nvSpPr>
        <p:spPr>
          <a:xfrm>
            <a:off x="274320" y="5650992"/>
            <a:ext cx="4846320" cy="6858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166360" y="5650992"/>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5879592"/>
            <a:ext cx="365760" cy="274320"/>
          </a:xfrm>
          <a:prstGeom prst="rect">
            <a:avLst/>
          </a:prstGeom>
          <a:noFill/>
        </p:spPr>
        <p:txBody>
          <a:bodyPr wrap="square">
            <a:spAutoFit/>
          </a:bodyPr>
          <a:lstStyle/>
          <a:p>
            <a:pPr algn="ctr">
              <a:defRPr sz="1100" b="0">
                <a:solidFill>
                  <a:srgbClr val="FFFFFF"/>
                </a:solidFill>
                <a:latin typeface="Calibri"/>
              </a:defRPr>
            </a:pPr>
            <a:r>
              <a:t>7</a:t>
            </a:r>
          </a:p>
        </p:txBody>
      </p:sp>
      <p:sp>
        <p:nvSpPr>
          <p:cNvPr id="61" name="TextBox 60"/>
          <p:cNvSpPr txBox="1"/>
          <p:nvPr/>
        </p:nvSpPr>
        <p:spPr>
          <a:xfrm>
            <a:off x="777240" y="5742432"/>
            <a:ext cx="2103120" cy="228600"/>
          </a:xfrm>
          <a:prstGeom prst="rect">
            <a:avLst/>
          </a:prstGeom>
          <a:noFill/>
        </p:spPr>
        <p:txBody>
          <a:bodyPr wrap="square">
            <a:spAutoFit/>
          </a:bodyPr>
          <a:lstStyle/>
          <a:p>
            <a:pPr algn="l">
              <a:defRPr sz="1100" b="1">
                <a:solidFill>
                  <a:srgbClr val="FFFFFF"/>
                </a:solidFill>
                <a:latin typeface="Calibri"/>
              </a:defRPr>
            </a:pPr>
            <a:r>
              <a:t>Client Acquisition</a:t>
            </a:r>
          </a:p>
        </p:txBody>
      </p:sp>
      <p:sp>
        <p:nvSpPr>
          <p:cNvPr id="62" name="TextBox 61"/>
          <p:cNvSpPr txBox="1"/>
          <p:nvPr/>
        </p:nvSpPr>
        <p:spPr>
          <a:xfrm>
            <a:off x="777240" y="6016752"/>
            <a:ext cx="2103120" cy="228600"/>
          </a:xfrm>
          <a:prstGeom prst="rect">
            <a:avLst/>
          </a:prstGeom>
          <a:noFill/>
        </p:spPr>
        <p:txBody>
          <a:bodyPr wrap="square">
            <a:spAutoFit/>
          </a:bodyPr>
          <a:lstStyle/>
          <a:p>
            <a:pPr algn="l">
              <a:defRPr sz="900" b="0">
                <a:solidFill>
                  <a:srgbClr val="94A3B8"/>
                </a:solidFill>
                <a:latin typeface="Calibri"/>
              </a:defRPr>
            </a:pPr>
            <a:r>
              <a:t>Inconsistent leads</a:t>
            </a:r>
          </a:p>
        </p:txBody>
      </p:sp>
      <p:sp>
        <p:nvSpPr>
          <p:cNvPr id="63" name="TextBox 62"/>
          <p:cNvSpPr txBox="1"/>
          <p:nvPr/>
        </p:nvSpPr>
        <p:spPr>
          <a:xfrm>
            <a:off x="2971800" y="5879592"/>
            <a:ext cx="2103120" cy="274320"/>
          </a:xfrm>
          <a:prstGeom prst="rect">
            <a:avLst/>
          </a:prstGeom>
          <a:noFill/>
        </p:spPr>
        <p:txBody>
          <a:bodyPr wrap="square">
            <a:spAutoFit/>
          </a:bodyPr>
          <a:lstStyle/>
          <a:p>
            <a:pPr algn="l">
              <a:defRPr sz="1000" b="0">
                <a:solidFill>
                  <a:srgbClr val="FFFFFF"/>
                </a:solidFill>
                <a:latin typeface="Calibri"/>
              </a:defRPr>
            </a:pPr>
            <a:r>
              <a:t>Random revenue</a:t>
            </a:r>
          </a:p>
        </p:txBody>
      </p:sp>
      <p:sp>
        <p:nvSpPr>
          <p:cNvPr id="64" name="TextBox 63"/>
          <p:cNvSpPr txBox="1"/>
          <p:nvPr/>
        </p:nvSpPr>
        <p:spPr>
          <a:xfrm>
            <a:off x="5257800" y="5742432"/>
            <a:ext cx="6309360" cy="228600"/>
          </a:xfrm>
          <a:prstGeom prst="rect">
            <a:avLst/>
          </a:prstGeom>
          <a:noFill/>
        </p:spPr>
        <p:txBody>
          <a:bodyPr wrap="square">
            <a:spAutoFit/>
          </a:bodyPr>
          <a:lstStyle/>
          <a:p>
            <a:pPr algn="l">
              <a:defRPr sz="1100" b="1">
                <a:solidFill>
                  <a:srgbClr val="FFFFFF"/>
                </a:solidFill>
                <a:latin typeface="Calibri"/>
              </a:defRPr>
            </a:pPr>
            <a:r>
              <a:t>Lead Gen Engine</a:t>
            </a:r>
          </a:p>
        </p:txBody>
      </p:sp>
      <p:sp>
        <p:nvSpPr>
          <p:cNvPr id="65" name="TextBox 64"/>
          <p:cNvSpPr txBox="1"/>
          <p:nvPr/>
        </p:nvSpPr>
        <p:spPr>
          <a:xfrm>
            <a:off x="5257800" y="6016752"/>
            <a:ext cx="6309360" cy="228600"/>
          </a:xfrm>
          <a:prstGeom prst="rect">
            <a:avLst/>
          </a:prstGeom>
          <a:noFill/>
        </p:spPr>
        <p:txBody>
          <a:bodyPr wrap="square">
            <a:spAutoFit/>
          </a:bodyPr>
          <a:lstStyle/>
          <a:p>
            <a:pPr algn="l">
              <a:defRPr sz="1000" b="0">
                <a:solidFill>
                  <a:srgbClr val="FFFFFF"/>
                </a:solidFill>
                <a:latin typeface="Calibri"/>
              </a:defRPr>
            </a:pPr>
            <a:r>
              <a:t>→ 20+ leads/month</a:t>
            </a:r>
          </a:p>
        </p:txBody>
      </p:sp>
      <p:sp>
        <p:nvSpPr>
          <p:cNvPr id="66" name="TextBox 65"/>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Complete Pain Point Analysis (8-14)</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1005840"/>
            <a:ext cx="11612880" cy="320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051560"/>
            <a:ext cx="457200" cy="228600"/>
          </a:xfrm>
          <a:prstGeom prst="rect">
            <a:avLst/>
          </a:prstGeom>
          <a:noFill/>
        </p:spPr>
        <p:txBody>
          <a:bodyPr wrap="square">
            <a:spAutoFit/>
          </a:bodyPr>
          <a:lstStyle/>
          <a:p>
            <a:pPr algn="l">
              <a:defRPr sz="1000" b="1">
                <a:solidFill>
                  <a:srgbClr val="FFFFFF"/>
                </a:solidFill>
                <a:latin typeface="Calibri"/>
              </a:defRPr>
            </a:pPr>
            <a:r>
              <a:t>#</a:t>
            </a:r>
          </a:p>
        </p:txBody>
      </p:sp>
      <p:sp>
        <p:nvSpPr>
          <p:cNvPr id="7" name="TextBox 6"/>
          <p:cNvSpPr txBox="1"/>
          <p:nvPr/>
        </p:nvSpPr>
        <p:spPr>
          <a:xfrm>
            <a:off x="777240" y="1051560"/>
            <a:ext cx="2103120" cy="228600"/>
          </a:xfrm>
          <a:prstGeom prst="rect">
            <a:avLst/>
          </a:prstGeom>
          <a:noFill/>
        </p:spPr>
        <p:txBody>
          <a:bodyPr wrap="square">
            <a:spAutoFit/>
          </a:bodyPr>
          <a:lstStyle/>
          <a:p>
            <a:pPr algn="l">
              <a:defRPr sz="1000" b="1">
                <a:solidFill>
                  <a:srgbClr val="FFFFFF"/>
                </a:solidFill>
                <a:latin typeface="Calibri"/>
              </a:defRPr>
            </a:pPr>
            <a:r>
              <a:t>Pain Point</a:t>
            </a:r>
          </a:p>
        </p:txBody>
      </p:sp>
      <p:sp>
        <p:nvSpPr>
          <p:cNvPr id="8" name="TextBox 7"/>
          <p:cNvSpPr txBox="1"/>
          <p:nvPr/>
        </p:nvSpPr>
        <p:spPr>
          <a:xfrm>
            <a:off x="2971800" y="1051560"/>
            <a:ext cx="2103120" cy="228600"/>
          </a:xfrm>
          <a:prstGeom prst="rect">
            <a:avLst/>
          </a:prstGeom>
          <a:noFill/>
        </p:spPr>
        <p:txBody>
          <a:bodyPr wrap="square">
            <a:spAutoFit/>
          </a:bodyPr>
          <a:lstStyle/>
          <a:p>
            <a:pPr algn="l">
              <a:defRPr sz="1000" b="1">
                <a:solidFill>
                  <a:srgbClr val="FFFFFF"/>
                </a:solidFill>
                <a:latin typeface="Calibri"/>
              </a:defRPr>
            </a:pPr>
            <a:r>
              <a:t>Impact</a:t>
            </a:r>
          </a:p>
        </p:txBody>
      </p:sp>
      <p:sp>
        <p:nvSpPr>
          <p:cNvPr id="9" name="TextBox 8"/>
          <p:cNvSpPr txBox="1"/>
          <p:nvPr/>
        </p:nvSpPr>
        <p:spPr>
          <a:xfrm>
            <a:off x="5166360" y="1051560"/>
            <a:ext cx="6400800" cy="228600"/>
          </a:xfrm>
          <a:prstGeom prst="rect">
            <a:avLst/>
          </a:prstGeom>
          <a:noFill/>
        </p:spPr>
        <p:txBody>
          <a:bodyPr wrap="square">
            <a:spAutoFit/>
          </a:bodyPr>
          <a:lstStyle/>
          <a:p>
            <a:pPr algn="l">
              <a:defRPr sz="1000" b="1">
                <a:solidFill>
                  <a:srgbClr val="FFFFFF"/>
                </a:solidFill>
                <a:latin typeface="Calibri"/>
              </a:defRPr>
            </a:pPr>
            <a:r>
              <a:t>Solution &amp; Value</a:t>
            </a:r>
          </a:p>
        </p:txBody>
      </p:sp>
      <p:sp>
        <p:nvSpPr>
          <p:cNvPr id="10" name="Rectangle 9"/>
          <p:cNvSpPr/>
          <p:nvPr/>
        </p:nvSpPr>
        <p:spPr>
          <a:xfrm>
            <a:off x="274320" y="1371600"/>
            <a:ext cx="4846320" cy="6858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166360" y="1371600"/>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600200"/>
            <a:ext cx="365760" cy="274320"/>
          </a:xfrm>
          <a:prstGeom prst="rect">
            <a:avLst/>
          </a:prstGeom>
          <a:noFill/>
        </p:spPr>
        <p:txBody>
          <a:bodyPr wrap="square">
            <a:spAutoFit/>
          </a:bodyPr>
          <a:lstStyle/>
          <a:p>
            <a:pPr algn="ctr">
              <a:defRPr sz="1100" b="0">
                <a:solidFill>
                  <a:srgbClr val="FFFFFF"/>
                </a:solidFill>
                <a:latin typeface="Calibri"/>
              </a:defRPr>
            </a:pPr>
            <a:r>
              <a:t>8</a:t>
            </a:r>
          </a:p>
        </p:txBody>
      </p:sp>
      <p:sp>
        <p:nvSpPr>
          <p:cNvPr id="13" name="TextBox 12"/>
          <p:cNvSpPr txBox="1"/>
          <p:nvPr/>
        </p:nvSpPr>
        <p:spPr>
          <a:xfrm>
            <a:off x="777240" y="1463040"/>
            <a:ext cx="2103120" cy="228600"/>
          </a:xfrm>
          <a:prstGeom prst="rect">
            <a:avLst/>
          </a:prstGeom>
          <a:noFill/>
        </p:spPr>
        <p:txBody>
          <a:bodyPr wrap="square">
            <a:spAutoFit/>
          </a:bodyPr>
          <a:lstStyle/>
          <a:p>
            <a:pPr algn="l">
              <a:defRPr sz="1100" b="1">
                <a:solidFill>
                  <a:srgbClr val="FFFFFF"/>
                </a:solidFill>
                <a:latin typeface="Calibri"/>
              </a:defRPr>
            </a:pPr>
            <a:r>
              <a:t>Portfolio Mgmt Neglected</a:t>
            </a:r>
          </a:p>
        </p:txBody>
      </p:sp>
      <p:sp>
        <p:nvSpPr>
          <p:cNvPr id="14" name="TextBox 13"/>
          <p:cNvSpPr txBox="1"/>
          <p:nvPr/>
        </p:nvSpPr>
        <p:spPr>
          <a:xfrm>
            <a:off x="777240" y="1737360"/>
            <a:ext cx="2103120" cy="228600"/>
          </a:xfrm>
          <a:prstGeom prst="rect">
            <a:avLst/>
          </a:prstGeom>
          <a:noFill/>
        </p:spPr>
        <p:txBody>
          <a:bodyPr wrap="square">
            <a:spAutoFit/>
          </a:bodyPr>
          <a:lstStyle/>
          <a:p>
            <a:pPr algn="l">
              <a:defRPr sz="900" b="0">
                <a:solidFill>
                  <a:srgbClr val="94A3B8"/>
                </a:solidFill>
                <a:latin typeface="Calibri"/>
              </a:defRPr>
            </a:pPr>
            <a:r>
              <a:t>Weakest despite core goal</a:t>
            </a:r>
          </a:p>
        </p:txBody>
      </p:sp>
      <p:sp>
        <p:nvSpPr>
          <p:cNvPr id="15" name="TextBox 14"/>
          <p:cNvSpPr txBox="1"/>
          <p:nvPr/>
        </p:nvSpPr>
        <p:spPr>
          <a:xfrm>
            <a:off x="2971800" y="1600200"/>
            <a:ext cx="2103120" cy="274320"/>
          </a:xfrm>
          <a:prstGeom prst="rect">
            <a:avLst/>
          </a:prstGeom>
          <a:noFill/>
        </p:spPr>
        <p:txBody>
          <a:bodyPr wrap="square">
            <a:spAutoFit/>
          </a:bodyPr>
          <a:lstStyle/>
          <a:p>
            <a:pPr algn="l">
              <a:defRPr sz="1000" b="0">
                <a:solidFill>
                  <a:srgbClr val="FFFFFF"/>
                </a:solidFill>
                <a:latin typeface="Calibri"/>
              </a:defRPr>
            </a:pPr>
            <a:r>
              <a:t>Missing AUM revenue</a:t>
            </a:r>
          </a:p>
        </p:txBody>
      </p:sp>
      <p:sp>
        <p:nvSpPr>
          <p:cNvPr id="16" name="TextBox 15"/>
          <p:cNvSpPr txBox="1"/>
          <p:nvPr/>
        </p:nvSpPr>
        <p:spPr>
          <a:xfrm>
            <a:off x="5257800" y="1463040"/>
            <a:ext cx="6309360" cy="228600"/>
          </a:xfrm>
          <a:prstGeom prst="rect">
            <a:avLst/>
          </a:prstGeom>
          <a:noFill/>
        </p:spPr>
        <p:txBody>
          <a:bodyPr wrap="square">
            <a:spAutoFit/>
          </a:bodyPr>
          <a:lstStyle/>
          <a:p>
            <a:pPr algn="l">
              <a:defRPr sz="1100" b="1">
                <a:solidFill>
                  <a:srgbClr val="FFFFFF"/>
                </a:solidFill>
                <a:latin typeface="Calibri"/>
              </a:defRPr>
            </a:pPr>
            <a:r>
              <a:t>Time Liberation</a:t>
            </a:r>
          </a:p>
        </p:txBody>
      </p:sp>
      <p:sp>
        <p:nvSpPr>
          <p:cNvPr id="17" name="TextBox 16"/>
          <p:cNvSpPr txBox="1"/>
          <p:nvPr/>
        </p:nvSpPr>
        <p:spPr>
          <a:xfrm>
            <a:off x="5257800" y="1737360"/>
            <a:ext cx="6309360" cy="228600"/>
          </a:xfrm>
          <a:prstGeom prst="rect">
            <a:avLst/>
          </a:prstGeom>
          <a:noFill/>
        </p:spPr>
        <p:txBody>
          <a:bodyPr wrap="square">
            <a:spAutoFit/>
          </a:bodyPr>
          <a:lstStyle/>
          <a:p>
            <a:pPr algn="l">
              <a:defRPr sz="1000" b="0">
                <a:solidFill>
                  <a:srgbClr val="FFFFFF"/>
                </a:solidFill>
                <a:latin typeface="Calibri"/>
              </a:defRPr>
            </a:pPr>
            <a:r>
              <a:t>→ 22+ hrs/wk for AUM</a:t>
            </a:r>
          </a:p>
        </p:txBody>
      </p:sp>
      <p:sp>
        <p:nvSpPr>
          <p:cNvPr id="18" name="Rectangle 17"/>
          <p:cNvSpPr/>
          <p:nvPr/>
        </p:nvSpPr>
        <p:spPr>
          <a:xfrm>
            <a:off x="274320" y="2084832"/>
            <a:ext cx="4846320" cy="6858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66360" y="2084832"/>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2313432"/>
            <a:ext cx="365760" cy="274320"/>
          </a:xfrm>
          <a:prstGeom prst="rect">
            <a:avLst/>
          </a:prstGeom>
          <a:noFill/>
        </p:spPr>
        <p:txBody>
          <a:bodyPr wrap="square">
            <a:spAutoFit/>
          </a:bodyPr>
          <a:lstStyle/>
          <a:p>
            <a:pPr algn="ctr">
              <a:defRPr sz="1100" b="0">
                <a:solidFill>
                  <a:srgbClr val="FFFFFF"/>
                </a:solidFill>
                <a:latin typeface="Calibri"/>
              </a:defRPr>
            </a:pPr>
            <a:r>
              <a:t>9</a:t>
            </a:r>
          </a:p>
        </p:txBody>
      </p:sp>
      <p:sp>
        <p:nvSpPr>
          <p:cNvPr id="21" name="TextBox 20"/>
          <p:cNvSpPr txBox="1"/>
          <p:nvPr/>
        </p:nvSpPr>
        <p:spPr>
          <a:xfrm>
            <a:off x="777240" y="2176272"/>
            <a:ext cx="2103120" cy="228600"/>
          </a:xfrm>
          <a:prstGeom prst="rect">
            <a:avLst/>
          </a:prstGeom>
          <a:noFill/>
        </p:spPr>
        <p:txBody>
          <a:bodyPr wrap="square">
            <a:spAutoFit/>
          </a:bodyPr>
          <a:lstStyle/>
          <a:p>
            <a:pPr algn="l">
              <a:defRPr sz="1100" b="1">
                <a:solidFill>
                  <a:srgbClr val="FFFFFF"/>
                </a:solidFill>
                <a:latin typeface="Calibri"/>
              </a:defRPr>
            </a:pPr>
            <a:r>
              <a:t>M&amp;A Deal Flow</a:t>
            </a:r>
          </a:p>
        </p:txBody>
      </p:sp>
      <p:sp>
        <p:nvSpPr>
          <p:cNvPr id="22" name="TextBox 21"/>
          <p:cNvSpPr txBox="1"/>
          <p:nvPr/>
        </p:nvSpPr>
        <p:spPr>
          <a:xfrm>
            <a:off x="777240" y="2450592"/>
            <a:ext cx="2103120" cy="228600"/>
          </a:xfrm>
          <a:prstGeom prst="rect">
            <a:avLst/>
          </a:prstGeom>
          <a:noFill/>
        </p:spPr>
        <p:txBody>
          <a:bodyPr wrap="square">
            <a:spAutoFit/>
          </a:bodyPr>
          <a:lstStyle/>
          <a:p>
            <a:pPr algn="l">
              <a:defRPr sz="900" b="0">
                <a:solidFill>
                  <a:srgbClr val="94A3B8"/>
                </a:solidFill>
                <a:latin typeface="Calibri"/>
              </a:defRPr>
            </a:pPr>
            <a:r>
              <a:t>Not enough opportunities</a:t>
            </a:r>
          </a:p>
        </p:txBody>
      </p:sp>
      <p:sp>
        <p:nvSpPr>
          <p:cNvPr id="23" name="TextBox 22"/>
          <p:cNvSpPr txBox="1"/>
          <p:nvPr/>
        </p:nvSpPr>
        <p:spPr>
          <a:xfrm>
            <a:off x="2971800" y="2313432"/>
            <a:ext cx="2103120" cy="274320"/>
          </a:xfrm>
          <a:prstGeom prst="rect">
            <a:avLst/>
          </a:prstGeom>
          <a:noFill/>
        </p:spPr>
        <p:txBody>
          <a:bodyPr wrap="square">
            <a:spAutoFit/>
          </a:bodyPr>
          <a:lstStyle/>
          <a:p>
            <a:pPr algn="l">
              <a:defRPr sz="1000" b="0">
                <a:solidFill>
                  <a:srgbClr val="FFFFFF"/>
                </a:solidFill>
                <a:latin typeface="Calibri"/>
              </a:defRPr>
            </a:pPr>
            <a:r>
              <a:t>High-value underutilized</a:t>
            </a:r>
          </a:p>
        </p:txBody>
      </p:sp>
      <p:sp>
        <p:nvSpPr>
          <p:cNvPr id="24" name="TextBox 23"/>
          <p:cNvSpPr txBox="1"/>
          <p:nvPr/>
        </p:nvSpPr>
        <p:spPr>
          <a:xfrm>
            <a:off x="5257800" y="2176272"/>
            <a:ext cx="6309360" cy="228600"/>
          </a:xfrm>
          <a:prstGeom prst="rect">
            <a:avLst/>
          </a:prstGeom>
          <a:noFill/>
        </p:spPr>
        <p:txBody>
          <a:bodyPr wrap="square">
            <a:spAutoFit/>
          </a:bodyPr>
          <a:lstStyle/>
          <a:p>
            <a:pPr algn="l">
              <a:defRPr sz="1100" b="1">
                <a:solidFill>
                  <a:srgbClr val="FFFFFF"/>
                </a:solidFill>
                <a:latin typeface="Calibri"/>
              </a:defRPr>
            </a:pPr>
            <a:r>
              <a:t>Deal Sourcing Radar</a:t>
            </a:r>
          </a:p>
        </p:txBody>
      </p:sp>
      <p:sp>
        <p:nvSpPr>
          <p:cNvPr id="25" name="TextBox 24"/>
          <p:cNvSpPr txBox="1"/>
          <p:nvPr/>
        </p:nvSpPr>
        <p:spPr>
          <a:xfrm>
            <a:off x="5257800" y="2450592"/>
            <a:ext cx="6309360" cy="228600"/>
          </a:xfrm>
          <a:prstGeom prst="rect">
            <a:avLst/>
          </a:prstGeom>
          <a:noFill/>
        </p:spPr>
        <p:txBody>
          <a:bodyPr wrap="square">
            <a:spAutoFit/>
          </a:bodyPr>
          <a:lstStyle/>
          <a:p>
            <a:pPr algn="l">
              <a:defRPr sz="1000" b="0">
                <a:solidFill>
                  <a:srgbClr val="FFFFFF"/>
                </a:solidFill>
                <a:latin typeface="Calibri"/>
              </a:defRPr>
            </a:pPr>
            <a:r>
              <a:t>→ 2-3 to 8+ deals/yr (4x)</a:t>
            </a:r>
          </a:p>
        </p:txBody>
      </p:sp>
      <p:sp>
        <p:nvSpPr>
          <p:cNvPr id="26" name="Rectangle 25"/>
          <p:cNvSpPr/>
          <p:nvPr/>
        </p:nvSpPr>
        <p:spPr>
          <a:xfrm>
            <a:off x="274320" y="2798064"/>
            <a:ext cx="4846320" cy="6858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66360" y="2798064"/>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3026664"/>
            <a:ext cx="365760" cy="274320"/>
          </a:xfrm>
          <a:prstGeom prst="rect">
            <a:avLst/>
          </a:prstGeom>
          <a:noFill/>
        </p:spPr>
        <p:txBody>
          <a:bodyPr wrap="square">
            <a:spAutoFit/>
          </a:bodyPr>
          <a:lstStyle/>
          <a:p>
            <a:pPr algn="ctr">
              <a:defRPr sz="1100" b="0">
                <a:solidFill>
                  <a:srgbClr val="FFFFFF"/>
                </a:solidFill>
                <a:latin typeface="Calibri"/>
              </a:defRPr>
            </a:pPr>
            <a:r>
              <a:t>10</a:t>
            </a:r>
          </a:p>
        </p:txBody>
      </p:sp>
      <p:sp>
        <p:nvSpPr>
          <p:cNvPr id="29" name="TextBox 28"/>
          <p:cNvSpPr txBox="1"/>
          <p:nvPr/>
        </p:nvSpPr>
        <p:spPr>
          <a:xfrm>
            <a:off x="777240" y="2889504"/>
            <a:ext cx="2103120" cy="228600"/>
          </a:xfrm>
          <a:prstGeom prst="rect">
            <a:avLst/>
          </a:prstGeom>
          <a:noFill/>
        </p:spPr>
        <p:txBody>
          <a:bodyPr wrap="square">
            <a:spAutoFit/>
          </a:bodyPr>
          <a:lstStyle/>
          <a:p>
            <a:pPr algn="l">
              <a:defRPr sz="1100" b="1">
                <a:solidFill>
                  <a:srgbClr val="FFFFFF"/>
                </a:solidFill>
                <a:latin typeface="Calibri"/>
              </a:defRPr>
            </a:pPr>
            <a:r>
              <a:t>Not Marketing Expert</a:t>
            </a:r>
          </a:p>
        </p:txBody>
      </p:sp>
      <p:sp>
        <p:nvSpPr>
          <p:cNvPr id="30" name="TextBox 29"/>
          <p:cNvSpPr txBox="1"/>
          <p:nvPr/>
        </p:nvSpPr>
        <p:spPr>
          <a:xfrm>
            <a:off x="777240" y="3163824"/>
            <a:ext cx="2103120" cy="228600"/>
          </a:xfrm>
          <a:prstGeom prst="rect">
            <a:avLst/>
          </a:prstGeom>
          <a:noFill/>
        </p:spPr>
        <p:txBody>
          <a:bodyPr wrap="square">
            <a:spAutoFit/>
          </a:bodyPr>
          <a:lstStyle/>
          <a:p>
            <a:pPr algn="l">
              <a:defRPr sz="900" b="0">
                <a:solidFill>
                  <a:srgbClr val="94A3B8"/>
                </a:solidFill>
                <a:latin typeface="Calibri"/>
              </a:defRPr>
            </a:pPr>
            <a:r>
              <a:t>Finance background</a:t>
            </a:r>
          </a:p>
        </p:txBody>
      </p:sp>
      <p:sp>
        <p:nvSpPr>
          <p:cNvPr id="31" name="TextBox 30"/>
          <p:cNvSpPr txBox="1"/>
          <p:nvPr/>
        </p:nvSpPr>
        <p:spPr>
          <a:xfrm>
            <a:off x="2971800" y="3026664"/>
            <a:ext cx="2103120" cy="274320"/>
          </a:xfrm>
          <a:prstGeom prst="rect">
            <a:avLst/>
          </a:prstGeom>
          <a:noFill/>
        </p:spPr>
        <p:txBody>
          <a:bodyPr wrap="square">
            <a:spAutoFit/>
          </a:bodyPr>
          <a:lstStyle/>
          <a:p>
            <a:pPr algn="l">
              <a:defRPr sz="1000" b="0">
                <a:solidFill>
                  <a:srgbClr val="FFFFFF"/>
                </a:solidFill>
                <a:latin typeface="Calibri"/>
              </a:defRPr>
            </a:pPr>
            <a:r>
              <a:t>Ineffective DIY campaigns</a:t>
            </a:r>
          </a:p>
        </p:txBody>
      </p:sp>
      <p:sp>
        <p:nvSpPr>
          <p:cNvPr id="32" name="TextBox 31"/>
          <p:cNvSpPr txBox="1"/>
          <p:nvPr/>
        </p:nvSpPr>
        <p:spPr>
          <a:xfrm>
            <a:off x="5257800" y="2889504"/>
            <a:ext cx="6309360" cy="228600"/>
          </a:xfrm>
          <a:prstGeom prst="rect">
            <a:avLst/>
          </a:prstGeom>
          <a:noFill/>
        </p:spPr>
        <p:txBody>
          <a:bodyPr wrap="square">
            <a:spAutoFit/>
          </a:bodyPr>
          <a:lstStyle/>
          <a:p>
            <a:pPr algn="l">
              <a:defRPr sz="1100" b="1">
                <a:solidFill>
                  <a:srgbClr val="FFFFFF"/>
                </a:solidFill>
                <a:latin typeface="Calibri"/>
              </a:defRPr>
            </a:pPr>
            <a:r>
              <a:t>Done-For-You Marketing</a:t>
            </a:r>
          </a:p>
        </p:txBody>
      </p:sp>
      <p:sp>
        <p:nvSpPr>
          <p:cNvPr id="33" name="TextBox 32"/>
          <p:cNvSpPr txBox="1"/>
          <p:nvPr/>
        </p:nvSpPr>
        <p:spPr>
          <a:xfrm>
            <a:off x="5257800" y="3163824"/>
            <a:ext cx="6309360" cy="228600"/>
          </a:xfrm>
          <a:prstGeom prst="rect">
            <a:avLst/>
          </a:prstGeom>
          <a:noFill/>
        </p:spPr>
        <p:txBody>
          <a:bodyPr wrap="square">
            <a:spAutoFit/>
          </a:bodyPr>
          <a:lstStyle/>
          <a:p>
            <a:pPr algn="l">
              <a:defRPr sz="1000" b="0">
                <a:solidFill>
                  <a:srgbClr val="FFFFFF"/>
                </a:solidFill>
                <a:latin typeface="Calibri"/>
              </a:defRPr>
            </a:pPr>
            <a:r>
              <a:t>→ 0 hrs marketing time</a:t>
            </a:r>
          </a:p>
        </p:txBody>
      </p:sp>
      <p:sp>
        <p:nvSpPr>
          <p:cNvPr id="34" name="Rectangle 33"/>
          <p:cNvSpPr/>
          <p:nvPr/>
        </p:nvSpPr>
        <p:spPr>
          <a:xfrm>
            <a:off x="274320" y="3511296"/>
            <a:ext cx="4846320" cy="6858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166360" y="3511296"/>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3739896"/>
            <a:ext cx="365760" cy="274320"/>
          </a:xfrm>
          <a:prstGeom prst="rect">
            <a:avLst/>
          </a:prstGeom>
          <a:noFill/>
        </p:spPr>
        <p:txBody>
          <a:bodyPr wrap="square">
            <a:spAutoFit/>
          </a:bodyPr>
          <a:lstStyle/>
          <a:p>
            <a:pPr algn="ctr">
              <a:defRPr sz="1100" b="0">
                <a:solidFill>
                  <a:srgbClr val="FFFFFF"/>
                </a:solidFill>
                <a:latin typeface="Calibri"/>
              </a:defRPr>
            </a:pPr>
            <a:r>
              <a:t>11</a:t>
            </a:r>
          </a:p>
        </p:txBody>
      </p:sp>
      <p:sp>
        <p:nvSpPr>
          <p:cNvPr id="37" name="TextBox 36"/>
          <p:cNvSpPr txBox="1"/>
          <p:nvPr/>
        </p:nvSpPr>
        <p:spPr>
          <a:xfrm>
            <a:off x="777240" y="3602736"/>
            <a:ext cx="2103120" cy="228600"/>
          </a:xfrm>
          <a:prstGeom prst="rect">
            <a:avLst/>
          </a:prstGeom>
          <a:noFill/>
        </p:spPr>
        <p:txBody>
          <a:bodyPr wrap="square">
            <a:spAutoFit/>
          </a:bodyPr>
          <a:lstStyle/>
          <a:p>
            <a:pPr algn="l">
              <a:defRPr sz="1100" b="1">
                <a:solidFill>
                  <a:srgbClr val="FFFFFF"/>
                </a:solidFill>
                <a:latin typeface="Calibri"/>
              </a:defRPr>
            </a:pPr>
            <a:r>
              <a:t>Revenue Insufficient for Hiring</a:t>
            </a:r>
          </a:p>
        </p:txBody>
      </p:sp>
      <p:sp>
        <p:nvSpPr>
          <p:cNvPr id="38" name="TextBox 37"/>
          <p:cNvSpPr txBox="1"/>
          <p:nvPr/>
        </p:nvSpPr>
        <p:spPr>
          <a:xfrm>
            <a:off x="777240" y="3877056"/>
            <a:ext cx="2103120" cy="228600"/>
          </a:xfrm>
          <a:prstGeom prst="rect">
            <a:avLst/>
          </a:prstGeom>
          <a:noFill/>
        </p:spPr>
        <p:txBody>
          <a:bodyPr wrap="square">
            <a:spAutoFit/>
          </a:bodyPr>
          <a:lstStyle/>
          <a:p>
            <a:pPr algn="l">
              <a:defRPr sz="900" b="0">
                <a:solidFill>
                  <a:srgbClr val="94A3B8"/>
                </a:solidFill>
                <a:latin typeface="Calibri"/>
              </a:defRPr>
            </a:pPr>
            <a:r>
              <a:t>Can't afford support</a:t>
            </a:r>
          </a:p>
        </p:txBody>
      </p:sp>
      <p:sp>
        <p:nvSpPr>
          <p:cNvPr id="39" name="TextBox 38"/>
          <p:cNvSpPr txBox="1"/>
          <p:nvPr/>
        </p:nvSpPr>
        <p:spPr>
          <a:xfrm>
            <a:off x="2971800" y="3739896"/>
            <a:ext cx="2103120" cy="274320"/>
          </a:xfrm>
          <a:prstGeom prst="rect">
            <a:avLst/>
          </a:prstGeom>
          <a:noFill/>
        </p:spPr>
        <p:txBody>
          <a:bodyPr wrap="square">
            <a:spAutoFit/>
          </a:bodyPr>
          <a:lstStyle/>
          <a:p>
            <a:pPr algn="l">
              <a:defRPr sz="1000" b="0">
                <a:solidFill>
                  <a:srgbClr val="FFFFFF"/>
                </a:solidFill>
                <a:latin typeface="Calibri"/>
              </a:defRPr>
            </a:pPr>
            <a:r>
              <a:t>Solo operator trap</a:t>
            </a:r>
          </a:p>
        </p:txBody>
      </p:sp>
      <p:sp>
        <p:nvSpPr>
          <p:cNvPr id="40" name="TextBox 39"/>
          <p:cNvSpPr txBox="1"/>
          <p:nvPr/>
        </p:nvSpPr>
        <p:spPr>
          <a:xfrm>
            <a:off x="5257800" y="3602736"/>
            <a:ext cx="6309360" cy="228600"/>
          </a:xfrm>
          <a:prstGeom prst="rect">
            <a:avLst/>
          </a:prstGeom>
          <a:noFill/>
        </p:spPr>
        <p:txBody>
          <a:bodyPr wrap="square">
            <a:spAutoFit/>
          </a:bodyPr>
          <a:lstStyle/>
          <a:p>
            <a:pPr algn="l">
              <a:defRPr sz="1100" b="1">
                <a:solidFill>
                  <a:srgbClr val="FFFFFF"/>
                </a:solidFill>
                <a:latin typeface="Calibri"/>
              </a:defRPr>
            </a:pPr>
            <a:r>
              <a:t>Revenue Acceleration</a:t>
            </a:r>
          </a:p>
        </p:txBody>
      </p:sp>
      <p:sp>
        <p:nvSpPr>
          <p:cNvPr id="41" name="TextBox 40"/>
          <p:cNvSpPr txBox="1"/>
          <p:nvPr/>
        </p:nvSpPr>
        <p:spPr>
          <a:xfrm>
            <a:off x="5257800" y="3877056"/>
            <a:ext cx="6309360" cy="228600"/>
          </a:xfrm>
          <a:prstGeom prst="rect">
            <a:avLst/>
          </a:prstGeom>
          <a:noFill/>
        </p:spPr>
        <p:txBody>
          <a:bodyPr wrap="square">
            <a:spAutoFit/>
          </a:bodyPr>
          <a:lstStyle/>
          <a:p>
            <a:pPr algn="l">
              <a:defRPr sz="1000" b="0">
                <a:solidFill>
                  <a:srgbClr val="FFFFFF"/>
                </a:solidFill>
                <a:latin typeface="Calibri"/>
              </a:defRPr>
            </a:pPr>
            <a:r>
              <a:t>→ $83K/mo ($1M/yr)</a:t>
            </a:r>
          </a:p>
        </p:txBody>
      </p:sp>
      <p:sp>
        <p:nvSpPr>
          <p:cNvPr id="42" name="Rectangle 41"/>
          <p:cNvSpPr/>
          <p:nvPr/>
        </p:nvSpPr>
        <p:spPr>
          <a:xfrm>
            <a:off x="274320" y="4224528"/>
            <a:ext cx="4846320" cy="6858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166360" y="4224528"/>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5760" y="4453128"/>
            <a:ext cx="365760" cy="274320"/>
          </a:xfrm>
          <a:prstGeom prst="rect">
            <a:avLst/>
          </a:prstGeom>
          <a:noFill/>
        </p:spPr>
        <p:txBody>
          <a:bodyPr wrap="square">
            <a:spAutoFit/>
          </a:bodyPr>
          <a:lstStyle/>
          <a:p>
            <a:pPr algn="ctr">
              <a:defRPr sz="1100" b="0">
                <a:solidFill>
                  <a:srgbClr val="FFFFFF"/>
                </a:solidFill>
                <a:latin typeface="Calibri"/>
              </a:defRPr>
            </a:pPr>
            <a:r>
              <a:t>12</a:t>
            </a:r>
          </a:p>
        </p:txBody>
      </p:sp>
      <p:sp>
        <p:nvSpPr>
          <p:cNvPr id="45" name="TextBox 44"/>
          <p:cNvSpPr txBox="1"/>
          <p:nvPr/>
        </p:nvSpPr>
        <p:spPr>
          <a:xfrm>
            <a:off x="777240" y="4315968"/>
            <a:ext cx="2103120" cy="228600"/>
          </a:xfrm>
          <a:prstGeom prst="rect">
            <a:avLst/>
          </a:prstGeom>
          <a:noFill/>
        </p:spPr>
        <p:txBody>
          <a:bodyPr wrap="square">
            <a:spAutoFit/>
          </a:bodyPr>
          <a:lstStyle/>
          <a:p>
            <a:pPr algn="l">
              <a:defRPr sz="1100" b="1">
                <a:solidFill>
                  <a:srgbClr val="FFFFFF"/>
                </a:solidFill>
                <a:latin typeface="Calibri"/>
              </a:defRPr>
            </a:pPr>
            <a:r>
              <a:t>NY Market Penetration</a:t>
            </a:r>
          </a:p>
        </p:txBody>
      </p:sp>
      <p:sp>
        <p:nvSpPr>
          <p:cNvPr id="46" name="TextBox 45"/>
          <p:cNvSpPr txBox="1"/>
          <p:nvPr/>
        </p:nvSpPr>
        <p:spPr>
          <a:xfrm>
            <a:off x="777240" y="4590288"/>
            <a:ext cx="2103120" cy="228600"/>
          </a:xfrm>
          <a:prstGeom prst="rect">
            <a:avLst/>
          </a:prstGeom>
          <a:noFill/>
        </p:spPr>
        <p:txBody>
          <a:bodyPr wrap="square">
            <a:spAutoFit/>
          </a:bodyPr>
          <a:lstStyle/>
          <a:p>
            <a:pPr algn="l">
              <a:defRPr sz="900" b="0">
                <a:solidFill>
                  <a:srgbClr val="94A3B8"/>
                </a:solidFill>
                <a:latin typeface="Calibri"/>
              </a:defRPr>
            </a:pPr>
            <a:r>
              <a:t>Saturated market</a:t>
            </a:r>
          </a:p>
        </p:txBody>
      </p:sp>
      <p:sp>
        <p:nvSpPr>
          <p:cNvPr id="47" name="TextBox 46"/>
          <p:cNvSpPr txBox="1"/>
          <p:nvPr/>
        </p:nvSpPr>
        <p:spPr>
          <a:xfrm>
            <a:off x="2971800" y="4453128"/>
            <a:ext cx="2103120" cy="274320"/>
          </a:xfrm>
          <a:prstGeom prst="rect">
            <a:avLst/>
          </a:prstGeom>
          <a:noFill/>
        </p:spPr>
        <p:txBody>
          <a:bodyPr wrap="square">
            <a:spAutoFit/>
          </a:bodyPr>
          <a:lstStyle/>
          <a:p>
            <a:pPr algn="l">
              <a:defRPr sz="1000" b="0">
                <a:solidFill>
                  <a:srgbClr val="FFFFFF"/>
                </a:solidFill>
                <a:latin typeface="Calibri"/>
              </a:defRPr>
            </a:pPr>
            <a:r>
              <a:t>Missing high-ticket NY</a:t>
            </a:r>
          </a:p>
        </p:txBody>
      </p:sp>
      <p:sp>
        <p:nvSpPr>
          <p:cNvPr id="48" name="TextBox 47"/>
          <p:cNvSpPr txBox="1"/>
          <p:nvPr/>
        </p:nvSpPr>
        <p:spPr>
          <a:xfrm>
            <a:off x="5257800" y="4315968"/>
            <a:ext cx="6309360" cy="228600"/>
          </a:xfrm>
          <a:prstGeom prst="rect">
            <a:avLst/>
          </a:prstGeom>
          <a:noFill/>
        </p:spPr>
        <p:txBody>
          <a:bodyPr wrap="square">
            <a:spAutoFit/>
          </a:bodyPr>
          <a:lstStyle/>
          <a:p>
            <a:pPr algn="l">
              <a:defRPr sz="1100" b="1">
                <a:solidFill>
                  <a:srgbClr val="FFFFFF"/>
                </a:solidFill>
                <a:latin typeface="Calibri"/>
              </a:defRPr>
            </a:pPr>
            <a:r>
              <a:t>Geo-Targeted Campaigns</a:t>
            </a:r>
          </a:p>
        </p:txBody>
      </p:sp>
      <p:sp>
        <p:nvSpPr>
          <p:cNvPr id="49" name="TextBox 48"/>
          <p:cNvSpPr txBox="1"/>
          <p:nvPr/>
        </p:nvSpPr>
        <p:spPr>
          <a:xfrm>
            <a:off x="5257800" y="4590288"/>
            <a:ext cx="6309360" cy="228600"/>
          </a:xfrm>
          <a:prstGeom prst="rect">
            <a:avLst/>
          </a:prstGeom>
          <a:noFill/>
        </p:spPr>
        <p:txBody>
          <a:bodyPr wrap="square">
            <a:spAutoFit/>
          </a:bodyPr>
          <a:lstStyle/>
          <a:p>
            <a:pPr algn="l">
              <a:defRPr sz="1000" b="0">
                <a:solidFill>
                  <a:srgbClr val="FFFFFF"/>
                </a:solidFill>
                <a:latin typeface="Calibri"/>
              </a:defRPr>
            </a:pPr>
            <a:r>
              <a:t>→ NYC/CT/LI $1M+ owners</a:t>
            </a:r>
          </a:p>
        </p:txBody>
      </p:sp>
      <p:sp>
        <p:nvSpPr>
          <p:cNvPr id="50" name="Rectangle 49"/>
          <p:cNvSpPr/>
          <p:nvPr/>
        </p:nvSpPr>
        <p:spPr>
          <a:xfrm>
            <a:off x="274320" y="4937760"/>
            <a:ext cx="4846320" cy="6858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5166360" y="4937760"/>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5166360"/>
            <a:ext cx="365760" cy="274320"/>
          </a:xfrm>
          <a:prstGeom prst="rect">
            <a:avLst/>
          </a:prstGeom>
          <a:noFill/>
        </p:spPr>
        <p:txBody>
          <a:bodyPr wrap="square">
            <a:spAutoFit/>
          </a:bodyPr>
          <a:lstStyle/>
          <a:p>
            <a:pPr algn="ctr">
              <a:defRPr sz="1100" b="0">
                <a:solidFill>
                  <a:srgbClr val="FFFFFF"/>
                </a:solidFill>
                <a:latin typeface="Calibri"/>
              </a:defRPr>
            </a:pPr>
            <a:r>
              <a:t>13</a:t>
            </a:r>
          </a:p>
        </p:txBody>
      </p:sp>
      <p:sp>
        <p:nvSpPr>
          <p:cNvPr id="53" name="TextBox 52"/>
          <p:cNvSpPr txBox="1"/>
          <p:nvPr/>
        </p:nvSpPr>
        <p:spPr>
          <a:xfrm>
            <a:off x="777240" y="5029200"/>
            <a:ext cx="2103120" cy="228600"/>
          </a:xfrm>
          <a:prstGeom prst="rect">
            <a:avLst/>
          </a:prstGeom>
          <a:noFill/>
        </p:spPr>
        <p:txBody>
          <a:bodyPr wrap="square">
            <a:spAutoFit/>
          </a:bodyPr>
          <a:lstStyle/>
          <a:p>
            <a:pPr algn="l">
              <a:defRPr sz="1100" b="1">
                <a:solidFill>
                  <a:srgbClr val="FFFFFF"/>
                </a:solidFill>
                <a:latin typeface="Calibri"/>
              </a:defRPr>
            </a:pPr>
            <a:r>
              <a:t>Website/Digital</a:t>
            </a:r>
          </a:p>
        </p:txBody>
      </p:sp>
      <p:sp>
        <p:nvSpPr>
          <p:cNvPr id="54" name="TextBox 53"/>
          <p:cNvSpPr txBox="1"/>
          <p:nvPr/>
        </p:nvSpPr>
        <p:spPr>
          <a:xfrm>
            <a:off x="777240" y="5303520"/>
            <a:ext cx="2103120" cy="228600"/>
          </a:xfrm>
          <a:prstGeom prst="rect">
            <a:avLst/>
          </a:prstGeom>
          <a:noFill/>
        </p:spPr>
        <p:txBody>
          <a:bodyPr wrap="square">
            <a:spAutoFit/>
          </a:bodyPr>
          <a:lstStyle/>
          <a:p>
            <a:pPr algn="l">
              <a:defRPr sz="900" b="0">
                <a:solidFill>
                  <a:srgbClr val="94A3B8"/>
                </a:solidFill>
                <a:latin typeface="Calibri"/>
              </a:defRPr>
            </a:pPr>
            <a:r>
              <a:t>FMG cookie-cutter</a:t>
            </a:r>
          </a:p>
        </p:txBody>
      </p:sp>
      <p:sp>
        <p:nvSpPr>
          <p:cNvPr id="55" name="TextBox 54"/>
          <p:cNvSpPr txBox="1"/>
          <p:nvPr/>
        </p:nvSpPr>
        <p:spPr>
          <a:xfrm>
            <a:off x="2971800" y="5166360"/>
            <a:ext cx="2103120" cy="274320"/>
          </a:xfrm>
          <a:prstGeom prst="rect">
            <a:avLst/>
          </a:prstGeom>
          <a:noFill/>
        </p:spPr>
        <p:txBody>
          <a:bodyPr wrap="square">
            <a:spAutoFit/>
          </a:bodyPr>
          <a:lstStyle/>
          <a:p>
            <a:pPr algn="l">
              <a:defRPr sz="1000" b="0">
                <a:solidFill>
                  <a:srgbClr val="FFFFFF"/>
                </a:solidFill>
                <a:latin typeface="Calibri"/>
              </a:defRPr>
            </a:pPr>
            <a:r>
              <a:t>89% research online</a:t>
            </a:r>
          </a:p>
        </p:txBody>
      </p:sp>
      <p:sp>
        <p:nvSpPr>
          <p:cNvPr id="56" name="TextBox 55"/>
          <p:cNvSpPr txBox="1"/>
          <p:nvPr/>
        </p:nvSpPr>
        <p:spPr>
          <a:xfrm>
            <a:off x="5257800" y="5029200"/>
            <a:ext cx="6309360" cy="228600"/>
          </a:xfrm>
          <a:prstGeom prst="rect">
            <a:avLst/>
          </a:prstGeom>
          <a:noFill/>
        </p:spPr>
        <p:txBody>
          <a:bodyPr wrap="square">
            <a:spAutoFit/>
          </a:bodyPr>
          <a:lstStyle/>
          <a:p>
            <a:pPr algn="l">
              <a:defRPr sz="1100" b="1">
                <a:solidFill>
                  <a:srgbClr val="FFFFFF"/>
                </a:solidFill>
                <a:latin typeface="Calibri"/>
              </a:defRPr>
            </a:pPr>
            <a:r>
              <a:t>Digital Authority</a:t>
            </a:r>
          </a:p>
        </p:txBody>
      </p:sp>
      <p:sp>
        <p:nvSpPr>
          <p:cNvPr id="57" name="TextBox 56"/>
          <p:cNvSpPr txBox="1"/>
          <p:nvPr/>
        </p:nvSpPr>
        <p:spPr>
          <a:xfrm>
            <a:off x="5257800" y="5303520"/>
            <a:ext cx="6309360" cy="228600"/>
          </a:xfrm>
          <a:prstGeom prst="rect">
            <a:avLst/>
          </a:prstGeom>
          <a:noFill/>
        </p:spPr>
        <p:txBody>
          <a:bodyPr wrap="square">
            <a:spAutoFit/>
          </a:bodyPr>
          <a:lstStyle/>
          <a:p>
            <a:pPr algn="l">
              <a:defRPr sz="1000" b="0">
                <a:solidFill>
                  <a:srgbClr val="FFFFFF"/>
                </a:solidFill>
                <a:latin typeface="Calibri"/>
              </a:defRPr>
            </a:pPr>
            <a:r>
              <a:t>→ Top-3 SEO in 6 months</a:t>
            </a:r>
          </a:p>
        </p:txBody>
      </p:sp>
      <p:sp>
        <p:nvSpPr>
          <p:cNvPr id="58" name="Rectangle 57"/>
          <p:cNvSpPr/>
          <p:nvPr/>
        </p:nvSpPr>
        <p:spPr>
          <a:xfrm>
            <a:off x="274320" y="5650992"/>
            <a:ext cx="4846320" cy="6858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166360" y="5650992"/>
            <a:ext cx="6720840" cy="6858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5879592"/>
            <a:ext cx="365760" cy="274320"/>
          </a:xfrm>
          <a:prstGeom prst="rect">
            <a:avLst/>
          </a:prstGeom>
          <a:noFill/>
        </p:spPr>
        <p:txBody>
          <a:bodyPr wrap="square">
            <a:spAutoFit/>
          </a:bodyPr>
          <a:lstStyle/>
          <a:p>
            <a:pPr algn="ctr">
              <a:defRPr sz="1100" b="0">
                <a:solidFill>
                  <a:srgbClr val="FFFFFF"/>
                </a:solidFill>
                <a:latin typeface="Calibri"/>
              </a:defRPr>
            </a:pPr>
            <a:r>
              <a:t>14</a:t>
            </a:r>
          </a:p>
        </p:txBody>
      </p:sp>
      <p:sp>
        <p:nvSpPr>
          <p:cNvPr id="61" name="TextBox 60"/>
          <p:cNvSpPr txBox="1"/>
          <p:nvPr/>
        </p:nvSpPr>
        <p:spPr>
          <a:xfrm>
            <a:off x="777240" y="5742432"/>
            <a:ext cx="2103120" cy="228600"/>
          </a:xfrm>
          <a:prstGeom prst="rect">
            <a:avLst/>
          </a:prstGeom>
          <a:noFill/>
        </p:spPr>
        <p:txBody>
          <a:bodyPr wrap="square">
            <a:spAutoFit/>
          </a:bodyPr>
          <a:lstStyle/>
          <a:p>
            <a:pPr algn="l">
              <a:defRPr sz="1100" b="1">
                <a:solidFill>
                  <a:srgbClr val="FFFFFF"/>
                </a:solidFill>
                <a:latin typeface="Calibri"/>
              </a:defRPr>
            </a:pPr>
            <a:r>
              <a:t>Compliance Overhead</a:t>
            </a:r>
          </a:p>
        </p:txBody>
      </p:sp>
      <p:sp>
        <p:nvSpPr>
          <p:cNvPr id="62" name="TextBox 61"/>
          <p:cNvSpPr txBox="1"/>
          <p:nvPr/>
        </p:nvSpPr>
        <p:spPr>
          <a:xfrm>
            <a:off x="777240" y="6016752"/>
            <a:ext cx="2103120" cy="228600"/>
          </a:xfrm>
          <a:prstGeom prst="rect">
            <a:avLst/>
          </a:prstGeom>
          <a:noFill/>
        </p:spPr>
        <p:txBody>
          <a:bodyPr wrap="square">
            <a:spAutoFit/>
          </a:bodyPr>
          <a:lstStyle/>
          <a:p>
            <a:pPr algn="l">
              <a:defRPr sz="900" b="0">
                <a:solidFill>
                  <a:srgbClr val="94A3B8"/>
                </a:solidFill>
                <a:latin typeface="Calibri"/>
              </a:defRPr>
            </a:pPr>
            <a:r>
              <a:t>Recent GA audit</a:t>
            </a:r>
          </a:p>
        </p:txBody>
      </p:sp>
      <p:sp>
        <p:nvSpPr>
          <p:cNvPr id="63" name="TextBox 62"/>
          <p:cNvSpPr txBox="1"/>
          <p:nvPr/>
        </p:nvSpPr>
        <p:spPr>
          <a:xfrm>
            <a:off x="2971800" y="5879592"/>
            <a:ext cx="2103120" cy="274320"/>
          </a:xfrm>
          <a:prstGeom prst="rect">
            <a:avLst/>
          </a:prstGeom>
          <a:noFill/>
        </p:spPr>
        <p:txBody>
          <a:bodyPr wrap="square">
            <a:spAutoFit/>
          </a:bodyPr>
          <a:lstStyle/>
          <a:p>
            <a:pPr algn="l">
              <a:defRPr sz="1000" b="0">
                <a:solidFill>
                  <a:srgbClr val="FFFFFF"/>
                </a:solidFill>
                <a:latin typeface="Calibri"/>
              </a:defRPr>
            </a:pPr>
            <a:r>
              <a:t>Time drain</a:t>
            </a:r>
          </a:p>
        </p:txBody>
      </p:sp>
      <p:sp>
        <p:nvSpPr>
          <p:cNvPr id="64" name="TextBox 63"/>
          <p:cNvSpPr txBox="1"/>
          <p:nvPr/>
        </p:nvSpPr>
        <p:spPr>
          <a:xfrm>
            <a:off x="5257800" y="5742432"/>
            <a:ext cx="6309360" cy="228600"/>
          </a:xfrm>
          <a:prstGeom prst="rect">
            <a:avLst/>
          </a:prstGeom>
          <a:noFill/>
        </p:spPr>
        <p:txBody>
          <a:bodyPr wrap="square">
            <a:spAutoFit/>
          </a:bodyPr>
          <a:lstStyle/>
          <a:p>
            <a:pPr algn="l">
              <a:defRPr sz="1100" b="1">
                <a:solidFill>
                  <a:srgbClr val="FFFFFF"/>
                </a:solidFill>
                <a:latin typeface="Calibri"/>
              </a:defRPr>
            </a:pPr>
            <a:r>
              <a:t>Compliance Automation</a:t>
            </a:r>
          </a:p>
        </p:txBody>
      </p:sp>
      <p:sp>
        <p:nvSpPr>
          <p:cNvPr id="65" name="TextBox 64"/>
          <p:cNvSpPr txBox="1"/>
          <p:nvPr/>
        </p:nvSpPr>
        <p:spPr>
          <a:xfrm>
            <a:off x="5257800" y="6016752"/>
            <a:ext cx="6309360" cy="228600"/>
          </a:xfrm>
          <a:prstGeom prst="rect">
            <a:avLst/>
          </a:prstGeom>
          <a:noFill/>
        </p:spPr>
        <p:txBody>
          <a:bodyPr wrap="square">
            <a:spAutoFit/>
          </a:bodyPr>
          <a:lstStyle/>
          <a:p>
            <a:pPr algn="l">
              <a:defRPr sz="1000" b="0">
                <a:solidFill>
                  <a:srgbClr val="FFFFFF"/>
                </a:solidFill>
                <a:latin typeface="Calibri"/>
              </a:defRPr>
            </a:pPr>
            <a:r>
              <a:t>→ 3 hrs to 30 min/week</a:t>
            </a:r>
          </a:p>
        </p:txBody>
      </p:sp>
      <p:sp>
        <p:nvSpPr>
          <p:cNvPr id="66" name="TextBox 65"/>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The Shift: Partner Reliance → Independence</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365760"/>
          </a:xfrm>
          <a:prstGeom prst="rect">
            <a:avLst/>
          </a:prstGeom>
          <a:noFill/>
        </p:spPr>
        <p:txBody>
          <a:bodyPr wrap="square">
            <a:spAutoFit/>
          </a:bodyPr>
          <a:lstStyle/>
          <a:p>
            <a:pPr algn="l">
              <a:defRPr sz="1100" b="0">
                <a:solidFill>
                  <a:srgbClr val="94A3B8"/>
                </a:solidFill>
                <a:latin typeface="Calibri"/>
              </a:defRPr>
            </a:pPr>
            <a:r>
              <a:t>The Collective Consulting Group partnership creates value, but currently Jack is 'the muscle behind the team.' This plan shifts the model.</a:t>
            </a:r>
          </a:p>
        </p:txBody>
      </p:sp>
      <p:sp>
        <p:nvSpPr>
          <p:cNvPr id="6" name="Rectangle 5"/>
          <p:cNvSpPr/>
          <p:nvPr/>
        </p:nvSpPr>
        <p:spPr>
          <a:xfrm>
            <a:off x="457200" y="1371600"/>
            <a:ext cx="5577840" cy="365760"/>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5394960" cy="274320"/>
          </a:xfrm>
          <a:prstGeom prst="rect">
            <a:avLst/>
          </a:prstGeom>
          <a:noFill/>
        </p:spPr>
        <p:txBody>
          <a:bodyPr wrap="square">
            <a:spAutoFit/>
          </a:bodyPr>
          <a:lstStyle/>
          <a:p>
            <a:pPr algn="l">
              <a:defRPr sz="1200" b="1">
                <a:solidFill>
                  <a:srgbClr val="FFFFFF"/>
                </a:solidFill>
                <a:latin typeface="Calibri"/>
              </a:defRPr>
            </a:pPr>
            <a:r>
              <a:t>Current State (Partner-Dependent)</a:t>
            </a:r>
          </a:p>
        </p:txBody>
      </p:sp>
      <p:sp>
        <p:nvSpPr>
          <p:cNvPr id="8" name="Rectangle 7"/>
          <p:cNvSpPr/>
          <p:nvPr/>
        </p:nvSpPr>
        <p:spPr>
          <a:xfrm>
            <a:off x="6126480" y="1371600"/>
            <a:ext cx="5577840" cy="36576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0" y="1417320"/>
            <a:ext cx="5394960" cy="274320"/>
          </a:xfrm>
          <a:prstGeom prst="rect">
            <a:avLst/>
          </a:prstGeom>
          <a:noFill/>
        </p:spPr>
        <p:txBody>
          <a:bodyPr wrap="square">
            <a:spAutoFit/>
          </a:bodyPr>
          <a:lstStyle/>
          <a:p>
            <a:pPr algn="l">
              <a:defRPr sz="1200" b="1">
                <a:solidFill>
                  <a:srgbClr val="FFFFFF"/>
                </a:solidFill>
                <a:latin typeface="Calibri"/>
              </a:defRPr>
            </a:pPr>
            <a:r>
              <a:t>Future State (Independent)</a:t>
            </a:r>
          </a:p>
        </p:txBody>
      </p:sp>
      <p:sp>
        <p:nvSpPr>
          <p:cNvPr id="10" name="Rectangle 9"/>
          <p:cNvSpPr/>
          <p:nvPr/>
        </p:nvSpPr>
        <p:spPr>
          <a:xfrm>
            <a:off x="457200" y="1783080"/>
            <a:ext cx="5577840" cy="457200"/>
          </a:xfrm>
          <a:prstGeom prst="rect">
            <a:avLst/>
          </a:prstGeom>
          <a:solidFill>
            <a:srgbClr val="6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892807"/>
            <a:ext cx="5394960" cy="320040"/>
          </a:xfrm>
          <a:prstGeom prst="rect">
            <a:avLst/>
          </a:prstGeom>
          <a:noFill/>
        </p:spPr>
        <p:txBody>
          <a:bodyPr wrap="square">
            <a:spAutoFit/>
          </a:bodyPr>
          <a:lstStyle/>
          <a:p>
            <a:pPr algn="l">
              <a:defRPr sz="1100" b="0">
                <a:solidFill>
                  <a:srgbClr val="FFFFFF"/>
                </a:solidFill>
                <a:latin typeface="Calibri"/>
              </a:defRPr>
            </a:pPr>
            <a:r>
              <a:t>Jack creates ALL collateral for 3 companies</a:t>
            </a:r>
          </a:p>
        </p:txBody>
      </p:sp>
      <p:sp>
        <p:nvSpPr>
          <p:cNvPr id="12" name="Rectangle 11"/>
          <p:cNvSpPr/>
          <p:nvPr/>
        </p:nvSpPr>
        <p:spPr>
          <a:xfrm>
            <a:off x="6126480" y="1783080"/>
            <a:ext cx="557784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1892807"/>
            <a:ext cx="5394960" cy="320040"/>
          </a:xfrm>
          <a:prstGeom prst="rect">
            <a:avLst/>
          </a:prstGeom>
          <a:noFill/>
        </p:spPr>
        <p:txBody>
          <a:bodyPr wrap="square">
            <a:spAutoFit/>
          </a:bodyPr>
          <a:lstStyle/>
          <a:p>
            <a:pPr algn="l">
              <a:defRPr sz="1100" b="1">
                <a:solidFill>
                  <a:srgbClr val="FFFFFF"/>
                </a:solidFill>
                <a:latin typeface="Calibri"/>
              </a:defRPr>
            </a:pPr>
            <a:r>
              <a:t>AI generates collateral in 15 minutes vs 5+ hours</a:t>
            </a:r>
          </a:p>
        </p:txBody>
      </p:sp>
      <p:sp>
        <p:nvSpPr>
          <p:cNvPr id="14" name="Rectangle 13"/>
          <p:cNvSpPr/>
          <p:nvPr/>
        </p:nvSpPr>
        <p:spPr>
          <a:xfrm>
            <a:off x="457200" y="2258568"/>
            <a:ext cx="5577840" cy="457200"/>
          </a:xfrm>
          <a:prstGeom prst="rect">
            <a:avLst/>
          </a:prstGeom>
          <a:solidFill>
            <a:srgbClr val="6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368296"/>
            <a:ext cx="5394960" cy="320040"/>
          </a:xfrm>
          <a:prstGeom prst="rect">
            <a:avLst/>
          </a:prstGeom>
          <a:noFill/>
        </p:spPr>
        <p:txBody>
          <a:bodyPr wrap="square">
            <a:spAutoFit/>
          </a:bodyPr>
          <a:lstStyle/>
          <a:p>
            <a:pPr algn="l">
              <a:defRPr sz="1100" b="0">
                <a:solidFill>
                  <a:srgbClr val="FFFFFF"/>
                </a:solidFill>
                <a:latin typeface="Calibri"/>
              </a:defRPr>
            </a:pPr>
            <a:r>
              <a:t>Lead flow depends on partner referrals</a:t>
            </a:r>
          </a:p>
        </p:txBody>
      </p:sp>
      <p:sp>
        <p:nvSpPr>
          <p:cNvPr id="16" name="Rectangle 15"/>
          <p:cNvSpPr/>
          <p:nvPr/>
        </p:nvSpPr>
        <p:spPr>
          <a:xfrm>
            <a:off x="6126480" y="2258568"/>
            <a:ext cx="557784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2368296"/>
            <a:ext cx="5394960" cy="320040"/>
          </a:xfrm>
          <a:prstGeom prst="rect">
            <a:avLst/>
          </a:prstGeom>
          <a:noFill/>
        </p:spPr>
        <p:txBody>
          <a:bodyPr wrap="square">
            <a:spAutoFit/>
          </a:bodyPr>
          <a:lstStyle/>
          <a:p>
            <a:pPr algn="l">
              <a:defRPr sz="1100" b="1">
                <a:solidFill>
                  <a:srgbClr val="FFFFFF"/>
                </a:solidFill>
                <a:latin typeface="Calibri"/>
              </a:defRPr>
            </a:pPr>
            <a:r>
              <a:t>20+ qualified leads/month from owned pipeline</a:t>
            </a:r>
          </a:p>
        </p:txBody>
      </p:sp>
      <p:sp>
        <p:nvSpPr>
          <p:cNvPr id="18" name="Rectangle 17"/>
          <p:cNvSpPr/>
          <p:nvPr/>
        </p:nvSpPr>
        <p:spPr>
          <a:xfrm>
            <a:off x="457200" y="2734056"/>
            <a:ext cx="5577840" cy="457200"/>
          </a:xfrm>
          <a:prstGeom prst="rect">
            <a:avLst/>
          </a:prstGeom>
          <a:solidFill>
            <a:srgbClr val="6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843784"/>
            <a:ext cx="5394960" cy="320040"/>
          </a:xfrm>
          <a:prstGeom prst="rect">
            <a:avLst/>
          </a:prstGeom>
          <a:noFill/>
        </p:spPr>
        <p:txBody>
          <a:bodyPr wrap="square">
            <a:spAutoFit/>
          </a:bodyPr>
          <a:lstStyle/>
          <a:p>
            <a:pPr algn="l">
              <a:defRPr sz="1100" b="0">
                <a:solidFill>
                  <a:srgbClr val="FFFFFF"/>
                </a:solidFill>
                <a:latin typeface="Calibri"/>
              </a:defRPr>
            </a:pPr>
            <a:r>
              <a:t>Revenue tied to collective deals closing</a:t>
            </a:r>
          </a:p>
        </p:txBody>
      </p:sp>
      <p:sp>
        <p:nvSpPr>
          <p:cNvPr id="20" name="Rectangle 19"/>
          <p:cNvSpPr/>
          <p:nvPr/>
        </p:nvSpPr>
        <p:spPr>
          <a:xfrm>
            <a:off x="6126480" y="2734056"/>
            <a:ext cx="557784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0" y="2843784"/>
            <a:ext cx="5394960" cy="320040"/>
          </a:xfrm>
          <a:prstGeom prst="rect">
            <a:avLst/>
          </a:prstGeom>
          <a:noFill/>
        </p:spPr>
        <p:txBody>
          <a:bodyPr wrap="square">
            <a:spAutoFit/>
          </a:bodyPr>
          <a:lstStyle/>
          <a:p>
            <a:pPr algn="l">
              <a:defRPr sz="1100" b="1">
                <a:solidFill>
                  <a:srgbClr val="FFFFFF"/>
                </a:solidFill>
                <a:latin typeface="Calibri"/>
              </a:defRPr>
            </a:pPr>
            <a:r>
              <a:t>100% self-generated revenue capacity</a:t>
            </a:r>
          </a:p>
        </p:txBody>
      </p:sp>
      <p:sp>
        <p:nvSpPr>
          <p:cNvPr id="22" name="Rectangle 21"/>
          <p:cNvSpPr/>
          <p:nvPr/>
        </p:nvSpPr>
        <p:spPr>
          <a:xfrm>
            <a:off x="457200" y="3209544"/>
            <a:ext cx="5577840" cy="457200"/>
          </a:xfrm>
          <a:prstGeom prst="rect">
            <a:avLst/>
          </a:prstGeom>
          <a:solidFill>
            <a:srgbClr val="6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3319272"/>
            <a:ext cx="5394960" cy="320040"/>
          </a:xfrm>
          <a:prstGeom prst="rect">
            <a:avLst/>
          </a:prstGeom>
          <a:noFill/>
        </p:spPr>
        <p:txBody>
          <a:bodyPr wrap="square">
            <a:spAutoFit/>
          </a:bodyPr>
          <a:lstStyle/>
          <a:p>
            <a:pPr algn="l">
              <a:defRPr sz="1100" b="0">
                <a:solidFill>
                  <a:srgbClr val="FFFFFF"/>
                </a:solidFill>
                <a:latin typeface="Calibri"/>
              </a:defRPr>
            </a:pPr>
            <a:r>
              <a:t>Working until 1:30 AM creating materials</a:t>
            </a:r>
          </a:p>
        </p:txBody>
      </p:sp>
      <p:sp>
        <p:nvSpPr>
          <p:cNvPr id="24" name="Rectangle 23"/>
          <p:cNvSpPr/>
          <p:nvPr/>
        </p:nvSpPr>
        <p:spPr>
          <a:xfrm>
            <a:off x="6126480" y="3209544"/>
            <a:ext cx="557784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0" y="3319272"/>
            <a:ext cx="5394960" cy="320040"/>
          </a:xfrm>
          <a:prstGeom prst="rect">
            <a:avLst/>
          </a:prstGeom>
          <a:noFill/>
        </p:spPr>
        <p:txBody>
          <a:bodyPr wrap="square">
            <a:spAutoFit/>
          </a:bodyPr>
          <a:lstStyle/>
          <a:p>
            <a:pPr algn="l">
              <a:defRPr sz="1100" b="1">
                <a:solidFill>
                  <a:srgbClr val="FFFFFF"/>
                </a:solidFill>
                <a:latin typeface="Calibri"/>
              </a:defRPr>
            </a:pPr>
            <a:r>
              <a:t>5 PM call ends → 6 PM polished package sent</a:t>
            </a:r>
          </a:p>
        </p:txBody>
      </p:sp>
      <p:sp>
        <p:nvSpPr>
          <p:cNvPr id="26" name="Rectangle 25"/>
          <p:cNvSpPr/>
          <p:nvPr/>
        </p:nvSpPr>
        <p:spPr>
          <a:xfrm>
            <a:off x="457200" y="3685031"/>
            <a:ext cx="5577840" cy="457200"/>
          </a:xfrm>
          <a:prstGeom prst="rect">
            <a:avLst/>
          </a:prstGeom>
          <a:solidFill>
            <a:srgbClr val="6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3794759"/>
            <a:ext cx="5394960" cy="320040"/>
          </a:xfrm>
          <a:prstGeom prst="rect">
            <a:avLst/>
          </a:prstGeom>
          <a:noFill/>
        </p:spPr>
        <p:txBody>
          <a:bodyPr wrap="square">
            <a:spAutoFit/>
          </a:bodyPr>
          <a:lstStyle/>
          <a:p>
            <a:pPr algn="l">
              <a:defRPr sz="1100" b="0">
                <a:solidFill>
                  <a:srgbClr val="FFFFFF"/>
                </a:solidFill>
                <a:latin typeface="Calibri"/>
              </a:defRPr>
            </a:pPr>
            <a:r>
              <a:t>Valuations take 3-4 weeks, 7 days/week</a:t>
            </a:r>
          </a:p>
        </p:txBody>
      </p:sp>
      <p:sp>
        <p:nvSpPr>
          <p:cNvPr id="28" name="Rectangle 27"/>
          <p:cNvSpPr/>
          <p:nvPr/>
        </p:nvSpPr>
        <p:spPr>
          <a:xfrm>
            <a:off x="6126480" y="3685031"/>
            <a:ext cx="557784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20" y="3794759"/>
            <a:ext cx="5394960" cy="320040"/>
          </a:xfrm>
          <a:prstGeom prst="rect">
            <a:avLst/>
          </a:prstGeom>
          <a:noFill/>
        </p:spPr>
        <p:txBody>
          <a:bodyPr wrap="square">
            <a:spAutoFit/>
          </a:bodyPr>
          <a:lstStyle/>
          <a:p>
            <a:pPr algn="l">
              <a:defRPr sz="1100" b="1">
                <a:solidFill>
                  <a:srgbClr val="FFFFFF"/>
                </a:solidFill>
                <a:latin typeface="Calibri"/>
              </a:defRPr>
            </a:pPr>
            <a:r>
              <a:t>Valuations completed in 3-4 days</a:t>
            </a:r>
          </a:p>
        </p:txBody>
      </p:sp>
      <p:sp>
        <p:nvSpPr>
          <p:cNvPr id="30" name="Rectangle 29"/>
          <p:cNvSpPr/>
          <p:nvPr/>
        </p:nvSpPr>
        <p:spPr>
          <a:xfrm>
            <a:off x="457200" y="4160519"/>
            <a:ext cx="5577840" cy="457200"/>
          </a:xfrm>
          <a:prstGeom prst="rect">
            <a:avLst/>
          </a:prstGeom>
          <a:solidFill>
            <a:srgbClr val="6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4270247"/>
            <a:ext cx="5394960" cy="320040"/>
          </a:xfrm>
          <a:prstGeom prst="rect">
            <a:avLst/>
          </a:prstGeom>
          <a:noFill/>
        </p:spPr>
        <p:txBody>
          <a:bodyPr wrap="square">
            <a:spAutoFit/>
          </a:bodyPr>
          <a:lstStyle/>
          <a:p>
            <a:pPr algn="l">
              <a:defRPr sz="1100" b="0">
                <a:solidFill>
                  <a:srgbClr val="FFFFFF"/>
                </a:solidFill>
                <a:latin typeface="Calibri"/>
              </a:defRPr>
            </a:pPr>
            <a:r>
              <a:t>No digital presence beyond basic LinkedIn</a:t>
            </a:r>
          </a:p>
        </p:txBody>
      </p:sp>
      <p:sp>
        <p:nvSpPr>
          <p:cNvPr id="32" name="Rectangle 31"/>
          <p:cNvSpPr/>
          <p:nvPr/>
        </p:nvSpPr>
        <p:spPr>
          <a:xfrm>
            <a:off x="6126480" y="4160519"/>
            <a:ext cx="557784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0" y="4270247"/>
            <a:ext cx="5394960" cy="320040"/>
          </a:xfrm>
          <a:prstGeom prst="rect">
            <a:avLst/>
          </a:prstGeom>
          <a:noFill/>
        </p:spPr>
        <p:txBody>
          <a:bodyPr wrap="square">
            <a:spAutoFit/>
          </a:bodyPr>
          <a:lstStyle/>
          <a:p>
            <a:pPr algn="l">
              <a:defRPr sz="1100" b="1">
                <a:solidFill>
                  <a:srgbClr val="FFFFFF"/>
                </a:solidFill>
                <a:latin typeface="Calibri"/>
              </a:defRPr>
            </a:pPr>
            <a:r>
              <a:t>NYC business owner market authority</a:t>
            </a:r>
          </a:p>
        </p:txBody>
      </p:sp>
      <p:sp>
        <p:nvSpPr>
          <p:cNvPr id="34" name="Rectangle 33"/>
          <p:cNvSpPr/>
          <p:nvPr/>
        </p:nvSpPr>
        <p:spPr>
          <a:xfrm>
            <a:off x="457200" y="4636007"/>
            <a:ext cx="5577840" cy="457200"/>
          </a:xfrm>
          <a:prstGeom prst="rect">
            <a:avLst/>
          </a:prstGeom>
          <a:solidFill>
            <a:srgbClr val="6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4745735"/>
            <a:ext cx="5394960" cy="320040"/>
          </a:xfrm>
          <a:prstGeom prst="rect">
            <a:avLst/>
          </a:prstGeom>
          <a:noFill/>
        </p:spPr>
        <p:txBody>
          <a:bodyPr wrap="square">
            <a:spAutoFit/>
          </a:bodyPr>
          <a:lstStyle/>
          <a:p>
            <a:pPr algn="l">
              <a:defRPr sz="1100" b="0">
                <a:solidFill>
                  <a:srgbClr val="FFFFFF"/>
                </a:solidFill>
                <a:latin typeface="Calibri"/>
              </a:defRPr>
            </a:pPr>
            <a:r>
              <a:t>60+ hour weeks with diminishing returns</a:t>
            </a:r>
          </a:p>
        </p:txBody>
      </p:sp>
      <p:sp>
        <p:nvSpPr>
          <p:cNvPr id="36" name="Rectangle 35"/>
          <p:cNvSpPr/>
          <p:nvPr/>
        </p:nvSpPr>
        <p:spPr>
          <a:xfrm>
            <a:off x="6126480" y="4636007"/>
            <a:ext cx="557784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17920" y="4745735"/>
            <a:ext cx="5394960" cy="320040"/>
          </a:xfrm>
          <a:prstGeom prst="rect">
            <a:avLst/>
          </a:prstGeom>
          <a:noFill/>
        </p:spPr>
        <p:txBody>
          <a:bodyPr wrap="square">
            <a:spAutoFit/>
          </a:bodyPr>
          <a:lstStyle/>
          <a:p>
            <a:pPr algn="l">
              <a:defRPr sz="1100" b="1">
                <a:solidFill>
                  <a:srgbClr val="FFFFFF"/>
                </a:solidFill>
                <a:latin typeface="Calibri"/>
              </a:defRPr>
            </a:pPr>
            <a:r>
              <a:t>45-50 hours focused on high-value work</a:t>
            </a:r>
          </a:p>
        </p:txBody>
      </p:sp>
      <p:sp>
        <p:nvSpPr>
          <p:cNvPr id="38" name="Rounded Rectangle 37"/>
          <p:cNvSpPr/>
          <p:nvPr/>
        </p:nvSpPr>
        <p:spPr>
          <a:xfrm>
            <a:off x="457200" y="5202935"/>
            <a:ext cx="11247120" cy="640080"/>
          </a:xfrm>
          <a:prstGeom prst="roundRect">
            <a:avLst/>
          </a:prstGeom>
          <a:solidFill>
            <a:srgbClr val="0D284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80" y="5294375"/>
            <a:ext cx="10972800" cy="457200"/>
          </a:xfrm>
          <a:prstGeom prst="rect">
            <a:avLst/>
          </a:prstGeom>
          <a:noFill/>
        </p:spPr>
        <p:txBody>
          <a:bodyPr wrap="square">
            <a:spAutoFit/>
          </a:bodyPr>
          <a:lstStyle/>
          <a:p>
            <a:pPr algn="l">
              <a:defRPr sz="1100" b="0">
                <a:solidFill>
                  <a:srgbClr val="FFFFFF"/>
                </a:solidFill>
                <a:latin typeface="Calibri"/>
              </a:defRPr>
            </a:pPr>
            <a:r>
              <a:t>Key Point: Partners still add value for certain deals. The difference is Jack can now choose when to collaborate rather than being dependent.</a:t>
            </a:r>
          </a:p>
        </p:txBody>
      </p:sp>
      <p:sp>
        <p:nvSpPr>
          <p:cNvPr id="40" name="TextBox 39"/>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The Six-Pillar Growth Framework</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365760"/>
          </a:xfrm>
          <a:prstGeom prst="rect">
            <a:avLst/>
          </a:prstGeom>
          <a:noFill/>
        </p:spPr>
        <p:txBody>
          <a:bodyPr wrap="square">
            <a:spAutoFit/>
          </a:bodyPr>
          <a:lstStyle/>
          <a:p>
            <a:pPr algn="l">
              <a:defRPr sz="1200" b="0">
                <a:solidFill>
                  <a:srgbClr val="94A3B8"/>
                </a:solidFill>
                <a:latin typeface="Calibri"/>
              </a:defRPr>
            </a:pPr>
            <a:r>
              <a:t>AI and automation replacing functions that would otherwise require employees or partners. Each pillar addresses multiple pain points.</a:t>
            </a:r>
          </a:p>
        </p:txBody>
      </p:sp>
      <p:sp>
        <p:nvSpPr>
          <p:cNvPr id="6" name="Rounded Rectangle 5"/>
          <p:cNvSpPr/>
          <p:nvPr/>
        </p:nvSpPr>
        <p:spPr>
          <a:xfrm>
            <a:off x="457200" y="1371600"/>
            <a:ext cx="5394960" cy="13716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71600"/>
            <a:ext cx="73152" cy="13716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554480"/>
            <a:ext cx="5029200" cy="365760"/>
          </a:xfrm>
          <a:prstGeom prst="rect">
            <a:avLst/>
          </a:prstGeom>
          <a:noFill/>
        </p:spPr>
        <p:txBody>
          <a:bodyPr wrap="square">
            <a:spAutoFit/>
          </a:bodyPr>
          <a:lstStyle/>
          <a:p>
            <a:pPr algn="l">
              <a:defRPr sz="1300" b="1">
                <a:solidFill>
                  <a:srgbClr val="3B82F6"/>
                </a:solidFill>
                <a:latin typeface="Calibri"/>
              </a:defRPr>
            </a:pPr>
            <a:r>
              <a:t>1. Lead Generation Engine</a:t>
            </a:r>
          </a:p>
        </p:txBody>
      </p:sp>
      <p:sp>
        <p:nvSpPr>
          <p:cNvPr id="9" name="TextBox 8"/>
          <p:cNvSpPr txBox="1"/>
          <p:nvPr/>
        </p:nvSpPr>
        <p:spPr>
          <a:xfrm>
            <a:off x="640080" y="1920240"/>
            <a:ext cx="5029200" cy="365760"/>
          </a:xfrm>
          <a:prstGeom prst="rect">
            <a:avLst/>
          </a:prstGeom>
          <a:noFill/>
        </p:spPr>
        <p:txBody>
          <a:bodyPr wrap="square">
            <a:spAutoFit/>
          </a:bodyPr>
          <a:lstStyle/>
          <a:p>
            <a:pPr algn="l">
              <a:defRPr sz="1100" b="0">
                <a:solidFill>
                  <a:srgbClr val="FFFFFF"/>
                </a:solidFill>
                <a:latin typeface="Calibri"/>
              </a:defRPr>
            </a:pPr>
            <a:r>
              <a:t>20+ qualified leads/month automated</a:t>
            </a:r>
          </a:p>
        </p:txBody>
      </p:sp>
      <p:sp>
        <p:nvSpPr>
          <p:cNvPr id="10" name="TextBox 9"/>
          <p:cNvSpPr txBox="1"/>
          <p:nvPr/>
        </p:nvSpPr>
        <p:spPr>
          <a:xfrm>
            <a:off x="640080" y="2286000"/>
            <a:ext cx="5029200" cy="274320"/>
          </a:xfrm>
          <a:prstGeom prst="rect">
            <a:avLst/>
          </a:prstGeom>
          <a:noFill/>
        </p:spPr>
        <p:txBody>
          <a:bodyPr wrap="square">
            <a:spAutoFit/>
          </a:bodyPr>
          <a:lstStyle/>
          <a:p>
            <a:pPr algn="l">
              <a:defRPr sz="900" b="0">
                <a:solidFill>
                  <a:srgbClr val="94A3B8"/>
                </a:solidFill>
                <a:latin typeface="Calibri"/>
              </a:defRPr>
            </a:pPr>
            <a:r>
              <a:t>Pain Points: #7, #10, #12</a:t>
            </a:r>
          </a:p>
        </p:txBody>
      </p:sp>
      <p:sp>
        <p:nvSpPr>
          <p:cNvPr id="11" name="Rounded Rectangle 10"/>
          <p:cNvSpPr/>
          <p:nvPr/>
        </p:nvSpPr>
        <p:spPr>
          <a:xfrm>
            <a:off x="457200" y="2971800"/>
            <a:ext cx="5394960" cy="13716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971800"/>
            <a:ext cx="73152" cy="13716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154680"/>
            <a:ext cx="5029200" cy="365760"/>
          </a:xfrm>
          <a:prstGeom prst="rect">
            <a:avLst/>
          </a:prstGeom>
          <a:noFill/>
        </p:spPr>
        <p:txBody>
          <a:bodyPr wrap="square">
            <a:spAutoFit/>
          </a:bodyPr>
          <a:lstStyle/>
          <a:p>
            <a:pPr algn="l">
              <a:defRPr sz="1300" b="1">
                <a:solidFill>
                  <a:srgbClr val="22C55E"/>
                </a:solidFill>
                <a:latin typeface="Calibri"/>
              </a:defRPr>
            </a:pPr>
            <a:r>
              <a:t>2. AI Document Engine</a:t>
            </a:r>
          </a:p>
        </p:txBody>
      </p:sp>
      <p:sp>
        <p:nvSpPr>
          <p:cNvPr id="14" name="TextBox 13"/>
          <p:cNvSpPr txBox="1"/>
          <p:nvPr/>
        </p:nvSpPr>
        <p:spPr>
          <a:xfrm>
            <a:off x="640080" y="3520440"/>
            <a:ext cx="5029200" cy="365760"/>
          </a:xfrm>
          <a:prstGeom prst="rect">
            <a:avLst/>
          </a:prstGeom>
          <a:noFill/>
        </p:spPr>
        <p:txBody>
          <a:bodyPr wrap="square">
            <a:spAutoFit/>
          </a:bodyPr>
          <a:lstStyle/>
          <a:p>
            <a:pPr algn="l">
              <a:defRPr sz="1100" b="0">
                <a:solidFill>
                  <a:srgbClr val="FFFFFF"/>
                </a:solidFill>
                <a:latin typeface="Calibri"/>
              </a:defRPr>
            </a:pPr>
            <a:r>
              <a:t>5+ hours → 15 minutes per document</a:t>
            </a:r>
          </a:p>
        </p:txBody>
      </p:sp>
      <p:sp>
        <p:nvSpPr>
          <p:cNvPr id="15" name="TextBox 14"/>
          <p:cNvSpPr txBox="1"/>
          <p:nvPr/>
        </p:nvSpPr>
        <p:spPr>
          <a:xfrm>
            <a:off x="640080" y="3886200"/>
            <a:ext cx="5029200" cy="274320"/>
          </a:xfrm>
          <a:prstGeom prst="rect">
            <a:avLst/>
          </a:prstGeom>
          <a:noFill/>
        </p:spPr>
        <p:txBody>
          <a:bodyPr wrap="square">
            <a:spAutoFit/>
          </a:bodyPr>
          <a:lstStyle/>
          <a:p>
            <a:pPr algn="l">
              <a:defRPr sz="900" b="0">
                <a:solidFill>
                  <a:srgbClr val="94A3B8"/>
                </a:solidFill>
                <a:latin typeface="Calibri"/>
              </a:defRPr>
            </a:pPr>
            <a:r>
              <a:t>Pain Points: #2, #3, #10</a:t>
            </a:r>
          </a:p>
        </p:txBody>
      </p:sp>
      <p:sp>
        <p:nvSpPr>
          <p:cNvPr id="16" name="Rounded Rectangle 15"/>
          <p:cNvSpPr/>
          <p:nvPr/>
        </p:nvSpPr>
        <p:spPr>
          <a:xfrm>
            <a:off x="457200" y="4572000"/>
            <a:ext cx="5394960" cy="13716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4572000"/>
            <a:ext cx="73152" cy="1371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754880"/>
            <a:ext cx="5029200" cy="365760"/>
          </a:xfrm>
          <a:prstGeom prst="rect">
            <a:avLst/>
          </a:prstGeom>
          <a:noFill/>
        </p:spPr>
        <p:txBody>
          <a:bodyPr wrap="square">
            <a:spAutoFit/>
          </a:bodyPr>
          <a:lstStyle/>
          <a:p>
            <a:pPr algn="l">
              <a:defRPr sz="1300" b="1">
                <a:solidFill>
                  <a:srgbClr val="F59E0B"/>
                </a:solidFill>
                <a:latin typeface="Calibri"/>
              </a:defRPr>
            </a:pPr>
            <a:r>
              <a:t>3. Financial Planning Automation</a:t>
            </a:r>
          </a:p>
        </p:txBody>
      </p:sp>
      <p:sp>
        <p:nvSpPr>
          <p:cNvPr id="19" name="TextBox 18"/>
          <p:cNvSpPr txBox="1"/>
          <p:nvPr/>
        </p:nvSpPr>
        <p:spPr>
          <a:xfrm>
            <a:off x="640080" y="5120640"/>
            <a:ext cx="5029200" cy="365760"/>
          </a:xfrm>
          <a:prstGeom prst="rect">
            <a:avLst/>
          </a:prstGeom>
          <a:noFill/>
        </p:spPr>
        <p:txBody>
          <a:bodyPr wrap="square">
            <a:spAutoFit/>
          </a:bodyPr>
          <a:lstStyle/>
          <a:p>
            <a:pPr algn="l">
              <a:defRPr sz="1100" b="0">
                <a:solidFill>
                  <a:srgbClr val="FFFFFF"/>
                </a:solidFill>
                <a:latin typeface="Calibri"/>
              </a:defRPr>
            </a:pPr>
            <a:r>
              <a:t>70% reduction in admin time</a:t>
            </a:r>
          </a:p>
        </p:txBody>
      </p:sp>
      <p:sp>
        <p:nvSpPr>
          <p:cNvPr id="20" name="TextBox 19"/>
          <p:cNvSpPr txBox="1"/>
          <p:nvPr/>
        </p:nvSpPr>
        <p:spPr>
          <a:xfrm>
            <a:off x="640080" y="5486400"/>
            <a:ext cx="5029200" cy="274320"/>
          </a:xfrm>
          <a:prstGeom prst="rect">
            <a:avLst/>
          </a:prstGeom>
          <a:noFill/>
        </p:spPr>
        <p:txBody>
          <a:bodyPr wrap="square">
            <a:spAutoFit/>
          </a:bodyPr>
          <a:lstStyle/>
          <a:p>
            <a:pPr algn="l">
              <a:defRPr sz="900" b="0">
                <a:solidFill>
                  <a:srgbClr val="94A3B8"/>
                </a:solidFill>
                <a:latin typeface="Calibri"/>
              </a:defRPr>
            </a:pPr>
            <a:r>
              <a:t>Pain Points: #4, #8, #1</a:t>
            </a:r>
          </a:p>
        </p:txBody>
      </p:sp>
      <p:sp>
        <p:nvSpPr>
          <p:cNvPr id="21" name="Rounded Rectangle 20"/>
          <p:cNvSpPr/>
          <p:nvPr/>
        </p:nvSpPr>
        <p:spPr>
          <a:xfrm>
            <a:off x="6126480" y="1371600"/>
            <a:ext cx="5394960" cy="13716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26480" y="1371600"/>
            <a:ext cx="73152" cy="13716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60" y="1554480"/>
            <a:ext cx="5029200" cy="365760"/>
          </a:xfrm>
          <a:prstGeom prst="rect">
            <a:avLst/>
          </a:prstGeom>
          <a:noFill/>
        </p:spPr>
        <p:txBody>
          <a:bodyPr wrap="square">
            <a:spAutoFit/>
          </a:bodyPr>
          <a:lstStyle/>
          <a:p>
            <a:pPr algn="l">
              <a:defRPr sz="1300" b="1">
                <a:solidFill>
                  <a:srgbClr val="EC4899"/>
                </a:solidFill>
                <a:latin typeface="Calibri"/>
              </a:defRPr>
            </a:pPr>
            <a:r>
              <a:t>4. M&amp;A Valuation Accelerator</a:t>
            </a:r>
          </a:p>
        </p:txBody>
      </p:sp>
      <p:sp>
        <p:nvSpPr>
          <p:cNvPr id="24" name="TextBox 23"/>
          <p:cNvSpPr txBox="1"/>
          <p:nvPr/>
        </p:nvSpPr>
        <p:spPr>
          <a:xfrm>
            <a:off x="6309360" y="1920240"/>
            <a:ext cx="5029200" cy="365760"/>
          </a:xfrm>
          <a:prstGeom prst="rect">
            <a:avLst/>
          </a:prstGeom>
          <a:noFill/>
        </p:spPr>
        <p:txBody>
          <a:bodyPr wrap="square">
            <a:spAutoFit/>
          </a:bodyPr>
          <a:lstStyle/>
          <a:p>
            <a:pPr algn="l">
              <a:defRPr sz="1100" b="0">
                <a:solidFill>
                  <a:srgbClr val="FFFFFF"/>
                </a:solidFill>
                <a:latin typeface="Calibri"/>
              </a:defRPr>
            </a:pPr>
            <a:r>
              <a:t>4 weeks → 4 days per valuation</a:t>
            </a:r>
          </a:p>
        </p:txBody>
      </p:sp>
      <p:sp>
        <p:nvSpPr>
          <p:cNvPr id="25" name="TextBox 24"/>
          <p:cNvSpPr txBox="1"/>
          <p:nvPr/>
        </p:nvSpPr>
        <p:spPr>
          <a:xfrm>
            <a:off x="6309360" y="2286000"/>
            <a:ext cx="5029200" cy="274320"/>
          </a:xfrm>
          <a:prstGeom prst="rect">
            <a:avLst/>
          </a:prstGeom>
          <a:noFill/>
        </p:spPr>
        <p:txBody>
          <a:bodyPr wrap="square">
            <a:spAutoFit/>
          </a:bodyPr>
          <a:lstStyle/>
          <a:p>
            <a:pPr algn="l">
              <a:defRPr sz="900" b="0">
                <a:solidFill>
                  <a:srgbClr val="94A3B8"/>
                </a:solidFill>
                <a:latin typeface="Calibri"/>
              </a:defRPr>
            </a:pPr>
            <a:r>
              <a:t>Pain Points: #5, #9</a:t>
            </a:r>
          </a:p>
        </p:txBody>
      </p:sp>
      <p:sp>
        <p:nvSpPr>
          <p:cNvPr id="26" name="Rounded Rectangle 25"/>
          <p:cNvSpPr/>
          <p:nvPr/>
        </p:nvSpPr>
        <p:spPr>
          <a:xfrm>
            <a:off x="6126480" y="2971800"/>
            <a:ext cx="5394960" cy="13716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26480" y="2971800"/>
            <a:ext cx="73152" cy="13716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60" y="3154680"/>
            <a:ext cx="5029200" cy="365760"/>
          </a:xfrm>
          <a:prstGeom prst="rect">
            <a:avLst/>
          </a:prstGeom>
          <a:noFill/>
        </p:spPr>
        <p:txBody>
          <a:bodyPr wrap="square">
            <a:spAutoFit/>
          </a:bodyPr>
          <a:lstStyle/>
          <a:p>
            <a:pPr algn="l">
              <a:defRPr sz="1300" b="1">
                <a:solidFill>
                  <a:srgbClr val="8B5CF6"/>
                </a:solidFill>
                <a:latin typeface="Calibri"/>
              </a:defRPr>
            </a:pPr>
            <a:r>
              <a:t>5. Digital Authority Platform</a:t>
            </a:r>
          </a:p>
        </p:txBody>
      </p:sp>
      <p:sp>
        <p:nvSpPr>
          <p:cNvPr id="29" name="TextBox 28"/>
          <p:cNvSpPr txBox="1"/>
          <p:nvPr/>
        </p:nvSpPr>
        <p:spPr>
          <a:xfrm>
            <a:off x="6309360" y="3520440"/>
            <a:ext cx="5029200" cy="365760"/>
          </a:xfrm>
          <a:prstGeom prst="rect">
            <a:avLst/>
          </a:prstGeom>
          <a:noFill/>
        </p:spPr>
        <p:txBody>
          <a:bodyPr wrap="square">
            <a:spAutoFit/>
          </a:bodyPr>
          <a:lstStyle/>
          <a:p>
            <a:pPr algn="l">
              <a:defRPr sz="1100" b="0">
                <a:solidFill>
                  <a:srgbClr val="FFFFFF"/>
                </a:solidFill>
                <a:latin typeface="Calibri"/>
              </a:defRPr>
            </a:pPr>
            <a:r>
              <a:t>Top-3 SEO ranking in 6 months</a:t>
            </a:r>
          </a:p>
        </p:txBody>
      </p:sp>
      <p:sp>
        <p:nvSpPr>
          <p:cNvPr id="30" name="TextBox 29"/>
          <p:cNvSpPr txBox="1"/>
          <p:nvPr/>
        </p:nvSpPr>
        <p:spPr>
          <a:xfrm>
            <a:off x="6309360" y="3886200"/>
            <a:ext cx="5029200" cy="274320"/>
          </a:xfrm>
          <a:prstGeom prst="rect">
            <a:avLst/>
          </a:prstGeom>
          <a:noFill/>
        </p:spPr>
        <p:txBody>
          <a:bodyPr wrap="square">
            <a:spAutoFit/>
          </a:bodyPr>
          <a:lstStyle/>
          <a:p>
            <a:pPr algn="l">
              <a:defRPr sz="900" b="0">
                <a:solidFill>
                  <a:srgbClr val="94A3B8"/>
                </a:solidFill>
                <a:latin typeface="Calibri"/>
              </a:defRPr>
            </a:pPr>
            <a:r>
              <a:t>Pain Points: #13, #12, #10</a:t>
            </a:r>
          </a:p>
        </p:txBody>
      </p:sp>
      <p:sp>
        <p:nvSpPr>
          <p:cNvPr id="31" name="Rounded Rectangle 30"/>
          <p:cNvSpPr/>
          <p:nvPr/>
        </p:nvSpPr>
        <p:spPr>
          <a:xfrm>
            <a:off x="6126480" y="4572000"/>
            <a:ext cx="5394960" cy="13716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126480" y="4572000"/>
            <a:ext cx="73152" cy="13716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09360" y="4754880"/>
            <a:ext cx="5029200" cy="365760"/>
          </a:xfrm>
          <a:prstGeom prst="rect">
            <a:avLst/>
          </a:prstGeom>
          <a:noFill/>
        </p:spPr>
        <p:txBody>
          <a:bodyPr wrap="square">
            <a:spAutoFit/>
          </a:bodyPr>
          <a:lstStyle/>
          <a:p>
            <a:pPr algn="l">
              <a:defRPr sz="1300" b="1">
                <a:solidFill>
                  <a:srgbClr val="06B6D4"/>
                </a:solidFill>
                <a:latin typeface="Calibri"/>
              </a:defRPr>
            </a:pPr>
            <a:r>
              <a:t>6. Client Service Automation</a:t>
            </a:r>
          </a:p>
        </p:txBody>
      </p:sp>
      <p:sp>
        <p:nvSpPr>
          <p:cNvPr id="34" name="TextBox 33"/>
          <p:cNvSpPr txBox="1"/>
          <p:nvPr/>
        </p:nvSpPr>
        <p:spPr>
          <a:xfrm>
            <a:off x="6309360" y="5120640"/>
            <a:ext cx="5029200" cy="365760"/>
          </a:xfrm>
          <a:prstGeom prst="rect">
            <a:avLst/>
          </a:prstGeom>
          <a:noFill/>
        </p:spPr>
        <p:txBody>
          <a:bodyPr wrap="square">
            <a:spAutoFit/>
          </a:bodyPr>
          <a:lstStyle/>
          <a:p>
            <a:pPr algn="l">
              <a:defRPr sz="1100" b="0">
                <a:solidFill>
                  <a:srgbClr val="FFFFFF"/>
                </a:solidFill>
                <a:latin typeface="Calibri"/>
              </a:defRPr>
            </a:pPr>
            <a:r>
              <a:t>$75K/year assistant equivalent</a:t>
            </a:r>
          </a:p>
        </p:txBody>
      </p:sp>
      <p:sp>
        <p:nvSpPr>
          <p:cNvPr id="35" name="TextBox 34"/>
          <p:cNvSpPr txBox="1"/>
          <p:nvPr/>
        </p:nvSpPr>
        <p:spPr>
          <a:xfrm>
            <a:off x="6309360" y="5486400"/>
            <a:ext cx="5029200" cy="274320"/>
          </a:xfrm>
          <a:prstGeom prst="rect">
            <a:avLst/>
          </a:prstGeom>
          <a:noFill/>
        </p:spPr>
        <p:txBody>
          <a:bodyPr wrap="square">
            <a:spAutoFit/>
          </a:bodyPr>
          <a:lstStyle/>
          <a:p>
            <a:pPr algn="l">
              <a:defRPr sz="900" b="0">
                <a:solidFill>
                  <a:srgbClr val="94A3B8"/>
                </a:solidFill>
                <a:latin typeface="Calibri"/>
              </a:defRPr>
            </a:pPr>
            <a:r>
              <a:t>Pain Points: #1, #3, #14, #6</a:t>
            </a:r>
          </a:p>
        </p:txBody>
      </p:sp>
      <p:sp>
        <p:nvSpPr>
          <p:cNvPr id="36" name="TextBox 35"/>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2800" b="1">
                <a:solidFill>
                  <a:srgbClr val="FFFFFF"/>
                </a:solidFill>
                <a:latin typeface="Calibri"/>
              </a:defRPr>
            </a:pPr>
            <a:r>
              <a:t>Pillar 1: AI-Powered Lead Generation Engine</a:t>
            </a:r>
          </a:p>
        </p:txBody>
      </p:sp>
      <p:sp>
        <p:nvSpPr>
          <p:cNvPr id="4" name="Rectangle 3"/>
          <p:cNvSpPr/>
          <p:nvPr/>
        </p:nvSpPr>
        <p:spPr>
          <a:xfrm>
            <a:off x="457200" y="777240"/>
            <a:ext cx="731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7589520" cy="118872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97280"/>
            <a:ext cx="7223760" cy="274320"/>
          </a:xfrm>
          <a:prstGeom prst="rect">
            <a:avLst/>
          </a:prstGeom>
          <a:noFill/>
        </p:spPr>
        <p:txBody>
          <a:bodyPr wrap="square">
            <a:spAutoFit/>
          </a:bodyPr>
          <a:lstStyle/>
          <a:p>
            <a:pPr algn="l">
              <a:defRPr sz="1200" b="1">
                <a:solidFill>
                  <a:srgbClr val="3B82F6"/>
                </a:solidFill>
                <a:latin typeface="Calibri"/>
              </a:defRPr>
            </a:pPr>
            <a:r>
              <a:t>Pain Points Addressed: #7, #10, #12</a:t>
            </a:r>
          </a:p>
        </p:txBody>
      </p:sp>
      <p:sp>
        <p:nvSpPr>
          <p:cNvPr id="7" name="TextBox 6"/>
          <p:cNvSpPr txBox="1"/>
          <p:nvPr/>
        </p:nvSpPr>
        <p:spPr>
          <a:xfrm>
            <a:off x="640080" y="1371600"/>
            <a:ext cx="7223760" cy="731520"/>
          </a:xfrm>
          <a:prstGeom prst="rect">
            <a:avLst/>
          </a:prstGeom>
          <a:noFill/>
        </p:spPr>
        <p:txBody>
          <a:bodyPr wrap="square">
            <a:spAutoFit/>
          </a:bodyPr>
          <a:lstStyle/>
          <a:p>
            <a:pPr algn="l">
              <a:defRPr sz="1200" b="0">
                <a:solidFill>
                  <a:srgbClr val="FFFFFF"/>
                </a:solidFill>
                <a:latin typeface="Calibri"/>
              </a:defRPr>
            </a:pPr>
            <a:r>
              <a:t>An automated client acquisition system that generates 20+ qualified leads per month targeting high-net-worth business owners in NYC, CT, and Long Island.</a:t>
            </a:r>
          </a:p>
        </p:txBody>
      </p:sp>
      <p:sp>
        <p:nvSpPr>
          <p:cNvPr id="8" name="Rounded Rectangle 7"/>
          <p:cNvSpPr/>
          <p:nvPr/>
        </p:nvSpPr>
        <p:spPr>
          <a:xfrm>
            <a:off x="457200" y="2286000"/>
            <a:ext cx="7589520" cy="20116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377440"/>
            <a:ext cx="7223760" cy="274320"/>
          </a:xfrm>
          <a:prstGeom prst="rect">
            <a:avLst/>
          </a:prstGeom>
          <a:noFill/>
        </p:spPr>
        <p:txBody>
          <a:bodyPr wrap="square">
            <a:spAutoFit/>
          </a:bodyPr>
          <a:lstStyle/>
          <a:p>
            <a:pPr algn="l">
              <a:defRPr sz="1200" b="1">
                <a:solidFill>
                  <a:srgbClr val="F59E0B"/>
                </a:solidFill>
                <a:latin typeface="Calibri"/>
              </a:defRPr>
            </a:pPr>
            <a:r>
              <a:t>Key Components:</a:t>
            </a:r>
          </a:p>
        </p:txBody>
      </p:sp>
      <p:sp>
        <p:nvSpPr>
          <p:cNvPr id="10" name="TextBox 9"/>
          <p:cNvSpPr txBox="1"/>
          <p:nvPr/>
        </p:nvSpPr>
        <p:spPr>
          <a:xfrm>
            <a:off x="640080" y="2743200"/>
            <a:ext cx="7223760" cy="274320"/>
          </a:xfrm>
          <a:prstGeom prst="rect">
            <a:avLst/>
          </a:prstGeom>
          <a:noFill/>
        </p:spPr>
        <p:txBody>
          <a:bodyPr wrap="square">
            <a:spAutoFit/>
          </a:bodyPr>
          <a:lstStyle/>
          <a:p>
            <a:pPr algn="l">
              <a:defRPr sz="1100" b="0">
                <a:solidFill>
                  <a:srgbClr val="FFFFFF"/>
                </a:solidFill>
                <a:latin typeface="Calibri"/>
              </a:defRPr>
            </a:pPr>
            <a:r>
              <a:t>• LinkedIn automation targeting $1M+ net worth business owners</a:t>
            </a:r>
          </a:p>
        </p:txBody>
      </p:sp>
      <p:sp>
        <p:nvSpPr>
          <p:cNvPr id="11" name="TextBox 10"/>
          <p:cNvSpPr txBox="1"/>
          <p:nvPr/>
        </p:nvSpPr>
        <p:spPr>
          <a:xfrm>
            <a:off x="640080" y="3063240"/>
            <a:ext cx="7223760" cy="274320"/>
          </a:xfrm>
          <a:prstGeom prst="rect">
            <a:avLst/>
          </a:prstGeom>
          <a:noFill/>
        </p:spPr>
        <p:txBody>
          <a:bodyPr wrap="square">
            <a:spAutoFit/>
          </a:bodyPr>
          <a:lstStyle/>
          <a:p>
            <a:pPr algn="l">
              <a:defRPr sz="1100" b="0">
                <a:solidFill>
                  <a:srgbClr val="FFFFFF"/>
                </a:solidFill>
                <a:latin typeface="Calibri"/>
              </a:defRPr>
            </a:pPr>
            <a:r>
              <a:t>• AI-powered email sequences that nurture automatically</a:t>
            </a:r>
          </a:p>
        </p:txBody>
      </p:sp>
      <p:sp>
        <p:nvSpPr>
          <p:cNvPr id="12" name="TextBox 11"/>
          <p:cNvSpPr txBox="1"/>
          <p:nvPr/>
        </p:nvSpPr>
        <p:spPr>
          <a:xfrm>
            <a:off x="640080" y="3383280"/>
            <a:ext cx="7223760" cy="274320"/>
          </a:xfrm>
          <a:prstGeom prst="rect">
            <a:avLst/>
          </a:prstGeom>
          <a:noFill/>
        </p:spPr>
        <p:txBody>
          <a:bodyPr wrap="square">
            <a:spAutoFit/>
          </a:bodyPr>
          <a:lstStyle/>
          <a:p>
            <a:pPr algn="l">
              <a:defRPr sz="1100" b="0">
                <a:solidFill>
                  <a:srgbClr val="FFFFFF"/>
                </a:solidFill>
                <a:latin typeface="Calibri"/>
              </a:defRPr>
            </a:pPr>
            <a:r>
              <a:t>• Geographic targeting for NYC tri-state area</a:t>
            </a:r>
          </a:p>
        </p:txBody>
      </p:sp>
      <p:sp>
        <p:nvSpPr>
          <p:cNvPr id="13" name="TextBox 12"/>
          <p:cNvSpPr txBox="1"/>
          <p:nvPr/>
        </p:nvSpPr>
        <p:spPr>
          <a:xfrm>
            <a:off x="640080" y="3703320"/>
            <a:ext cx="7223760" cy="274320"/>
          </a:xfrm>
          <a:prstGeom prst="rect">
            <a:avLst/>
          </a:prstGeom>
          <a:noFill/>
        </p:spPr>
        <p:txBody>
          <a:bodyPr wrap="square">
            <a:spAutoFit/>
          </a:bodyPr>
          <a:lstStyle/>
          <a:p>
            <a:pPr algn="l">
              <a:defRPr sz="1100" b="0">
                <a:solidFill>
                  <a:srgbClr val="FFFFFF"/>
                </a:solidFill>
                <a:latin typeface="Calibri"/>
              </a:defRPr>
            </a:pPr>
            <a:r>
              <a:t>• Automatic calendar booking for qualified prospects</a:t>
            </a:r>
          </a:p>
        </p:txBody>
      </p:sp>
      <p:sp>
        <p:nvSpPr>
          <p:cNvPr id="14" name="TextBox 13"/>
          <p:cNvSpPr txBox="1"/>
          <p:nvPr/>
        </p:nvSpPr>
        <p:spPr>
          <a:xfrm>
            <a:off x="640080" y="4023359"/>
            <a:ext cx="7223760" cy="274320"/>
          </a:xfrm>
          <a:prstGeom prst="rect">
            <a:avLst/>
          </a:prstGeom>
          <a:noFill/>
        </p:spPr>
        <p:txBody>
          <a:bodyPr wrap="square">
            <a:spAutoFit/>
          </a:bodyPr>
          <a:lstStyle/>
          <a:p>
            <a:pPr algn="l">
              <a:defRPr sz="1100" b="0">
                <a:solidFill>
                  <a:srgbClr val="FFFFFF"/>
                </a:solidFill>
                <a:latin typeface="Calibri"/>
              </a:defRPr>
            </a:pPr>
            <a:r>
              <a:t>• CRM integration tracking every touchpoint</a:t>
            </a:r>
          </a:p>
        </p:txBody>
      </p:sp>
      <p:sp>
        <p:nvSpPr>
          <p:cNvPr id="15" name="Rounded Rectangle 14"/>
          <p:cNvSpPr/>
          <p:nvPr/>
        </p:nvSpPr>
        <p:spPr>
          <a:xfrm>
            <a:off x="8229600" y="100584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143000"/>
            <a:ext cx="3291840" cy="228600"/>
          </a:xfrm>
          <a:prstGeom prst="rect">
            <a:avLst/>
          </a:prstGeom>
          <a:noFill/>
        </p:spPr>
        <p:txBody>
          <a:bodyPr wrap="square">
            <a:spAutoFit/>
          </a:bodyPr>
          <a:lstStyle/>
          <a:p>
            <a:pPr algn="ctr">
              <a:defRPr sz="1000" b="0">
                <a:solidFill>
                  <a:srgbClr val="94A3B8"/>
                </a:solidFill>
                <a:latin typeface="Calibri"/>
              </a:defRPr>
            </a:pPr>
            <a:r>
              <a:t>Monthly Leads</a:t>
            </a:r>
          </a:p>
        </p:txBody>
      </p:sp>
      <p:sp>
        <p:nvSpPr>
          <p:cNvPr id="17" name="TextBox 16"/>
          <p:cNvSpPr txBox="1"/>
          <p:nvPr/>
        </p:nvSpPr>
        <p:spPr>
          <a:xfrm>
            <a:off x="8321040" y="1371600"/>
            <a:ext cx="3291840" cy="457200"/>
          </a:xfrm>
          <a:prstGeom prst="rect">
            <a:avLst/>
          </a:prstGeom>
          <a:noFill/>
        </p:spPr>
        <p:txBody>
          <a:bodyPr wrap="square">
            <a:spAutoFit/>
          </a:bodyPr>
          <a:lstStyle/>
          <a:p>
            <a:pPr algn="ctr">
              <a:defRPr sz="2800" b="1">
                <a:solidFill>
                  <a:srgbClr val="22C55E"/>
                </a:solidFill>
                <a:latin typeface="Calibri"/>
              </a:defRPr>
            </a:pPr>
            <a:r>
              <a:t>20+</a:t>
            </a:r>
          </a:p>
        </p:txBody>
      </p:sp>
      <p:sp>
        <p:nvSpPr>
          <p:cNvPr id="18" name="TextBox 17"/>
          <p:cNvSpPr txBox="1"/>
          <p:nvPr/>
        </p:nvSpPr>
        <p:spPr>
          <a:xfrm>
            <a:off x="8321040" y="1828800"/>
            <a:ext cx="3291840" cy="228600"/>
          </a:xfrm>
          <a:prstGeom prst="rect">
            <a:avLst/>
          </a:prstGeom>
          <a:noFill/>
        </p:spPr>
        <p:txBody>
          <a:bodyPr wrap="square">
            <a:spAutoFit/>
          </a:bodyPr>
          <a:lstStyle/>
          <a:p>
            <a:pPr algn="ctr">
              <a:defRPr sz="1000" b="0">
                <a:solidFill>
                  <a:srgbClr val="94A3B8"/>
                </a:solidFill>
                <a:latin typeface="Calibri"/>
              </a:defRPr>
            </a:pPr>
            <a:r>
              <a:t>Qualified</a:t>
            </a:r>
          </a:p>
        </p:txBody>
      </p:sp>
      <p:sp>
        <p:nvSpPr>
          <p:cNvPr id="19" name="Rounded Rectangle 18"/>
          <p:cNvSpPr/>
          <p:nvPr/>
        </p:nvSpPr>
        <p:spPr>
          <a:xfrm>
            <a:off x="8229600" y="228600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423160"/>
            <a:ext cx="3291840" cy="228600"/>
          </a:xfrm>
          <a:prstGeom prst="rect">
            <a:avLst/>
          </a:prstGeom>
          <a:noFill/>
        </p:spPr>
        <p:txBody>
          <a:bodyPr wrap="square">
            <a:spAutoFit/>
          </a:bodyPr>
          <a:lstStyle/>
          <a:p>
            <a:pPr algn="ctr">
              <a:defRPr sz="1000" b="0">
                <a:solidFill>
                  <a:srgbClr val="94A3B8"/>
                </a:solidFill>
                <a:latin typeface="Calibri"/>
              </a:defRPr>
            </a:pPr>
            <a:r>
              <a:t>Close Rate</a:t>
            </a:r>
          </a:p>
        </p:txBody>
      </p:sp>
      <p:sp>
        <p:nvSpPr>
          <p:cNvPr id="21" name="TextBox 20"/>
          <p:cNvSpPr txBox="1"/>
          <p:nvPr/>
        </p:nvSpPr>
        <p:spPr>
          <a:xfrm>
            <a:off x="8321040" y="2651760"/>
            <a:ext cx="3291840" cy="457200"/>
          </a:xfrm>
          <a:prstGeom prst="rect">
            <a:avLst/>
          </a:prstGeom>
          <a:noFill/>
        </p:spPr>
        <p:txBody>
          <a:bodyPr wrap="square">
            <a:spAutoFit/>
          </a:bodyPr>
          <a:lstStyle/>
          <a:p>
            <a:pPr algn="ctr">
              <a:defRPr sz="2800" b="1">
                <a:solidFill>
                  <a:srgbClr val="22C55E"/>
                </a:solidFill>
                <a:latin typeface="Calibri"/>
              </a:defRPr>
            </a:pPr>
            <a:r>
              <a:t>15-20%</a:t>
            </a:r>
          </a:p>
        </p:txBody>
      </p:sp>
      <p:sp>
        <p:nvSpPr>
          <p:cNvPr id="22" name="TextBox 21"/>
          <p:cNvSpPr txBox="1"/>
          <p:nvPr/>
        </p:nvSpPr>
        <p:spPr>
          <a:xfrm>
            <a:off x="8321040" y="3108960"/>
            <a:ext cx="3291840" cy="228600"/>
          </a:xfrm>
          <a:prstGeom prst="rect">
            <a:avLst/>
          </a:prstGeom>
          <a:noFill/>
        </p:spPr>
        <p:txBody>
          <a:bodyPr wrap="square">
            <a:spAutoFit/>
          </a:bodyPr>
          <a:lstStyle/>
          <a:p>
            <a:pPr algn="ctr">
              <a:defRPr sz="1000" b="0">
                <a:solidFill>
                  <a:srgbClr val="94A3B8"/>
                </a:solidFill>
                <a:latin typeface="Calibri"/>
              </a:defRPr>
            </a:pPr>
            <a:r>
              <a:t>Lead to Client</a:t>
            </a:r>
          </a:p>
        </p:txBody>
      </p:sp>
      <p:sp>
        <p:nvSpPr>
          <p:cNvPr id="23" name="Rounded Rectangle 22"/>
          <p:cNvSpPr/>
          <p:nvPr/>
        </p:nvSpPr>
        <p:spPr>
          <a:xfrm>
            <a:off x="8229600" y="356616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703320"/>
            <a:ext cx="3291840" cy="228600"/>
          </a:xfrm>
          <a:prstGeom prst="rect">
            <a:avLst/>
          </a:prstGeom>
          <a:noFill/>
        </p:spPr>
        <p:txBody>
          <a:bodyPr wrap="square">
            <a:spAutoFit/>
          </a:bodyPr>
          <a:lstStyle/>
          <a:p>
            <a:pPr algn="ctr">
              <a:defRPr sz="1000" b="0">
                <a:solidFill>
                  <a:srgbClr val="94A3B8"/>
                </a:solidFill>
                <a:latin typeface="Calibri"/>
              </a:defRPr>
            </a:pPr>
            <a:r>
              <a:t>New Clients</a:t>
            </a:r>
          </a:p>
        </p:txBody>
      </p:sp>
      <p:sp>
        <p:nvSpPr>
          <p:cNvPr id="25" name="TextBox 24"/>
          <p:cNvSpPr txBox="1"/>
          <p:nvPr/>
        </p:nvSpPr>
        <p:spPr>
          <a:xfrm>
            <a:off x="8321040" y="3931920"/>
            <a:ext cx="3291840" cy="457200"/>
          </a:xfrm>
          <a:prstGeom prst="rect">
            <a:avLst/>
          </a:prstGeom>
          <a:noFill/>
        </p:spPr>
        <p:txBody>
          <a:bodyPr wrap="square">
            <a:spAutoFit/>
          </a:bodyPr>
          <a:lstStyle/>
          <a:p>
            <a:pPr algn="ctr">
              <a:defRPr sz="2800" b="1">
                <a:solidFill>
                  <a:srgbClr val="22C55E"/>
                </a:solidFill>
                <a:latin typeface="Calibri"/>
              </a:defRPr>
            </a:pPr>
            <a:r>
              <a:t>3-4</a:t>
            </a:r>
          </a:p>
        </p:txBody>
      </p:sp>
      <p:sp>
        <p:nvSpPr>
          <p:cNvPr id="26" name="TextBox 25"/>
          <p:cNvSpPr txBox="1"/>
          <p:nvPr/>
        </p:nvSpPr>
        <p:spPr>
          <a:xfrm>
            <a:off x="8321040" y="4389120"/>
            <a:ext cx="3291840" cy="228600"/>
          </a:xfrm>
          <a:prstGeom prst="rect">
            <a:avLst/>
          </a:prstGeom>
          <a:noFill/>
        </p:spPr>
        <p:txBody>
          <a:bodyPr wrap="square">
            <a:spAutoFit/>
          </a:bodyPr>
          <a:lstStyle/>
          <a:p>
            <a:pPr algn="ctr">
              <a:defRPr sz="1000" b="0">
                <a:solidFill>
                  <a:srgbClr val="94A3B8"/>
                </a:solidFill>
                <a:latin typeface="Calibri"/>
              </a:defRPr>
            </a:pPr>
            <a:r>
              <a:t>Per Month</a:t>
            </a:r>
          </a:p>
        </p:txBody>
      </p:sp>
      <p:sp>
        <p:nvSpPr>
          <p:cNvPr id="27" name="TextBox 26"/>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2800" b="1">
                <a:solidFill>
                  <a:srgbClr val="FFFFFF"/>
                </a:solidFill>
                <a:latin typeface="Calibri"/>
              </a:defRPr>
            </a:pPr>
            <a:r>
              <a:t>Pillar 2: AI Document &amp; Collateral Engine</a:t>
            </a:r>
          </a:p>
        </p:txBody>
      </p:sp>
      <p:sp>
        <p:nvSpPr>
          <p:cNvPr id="4" name="Rectangle 3"/>
          <p:cNvSpPr/>
          <p:nvPr/>
        </p:nvSpPr>
        <p:spPr>
          <a:xfrm>
            <a:off x="457200" y="777240"/>
            <a:ext cx="73152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7589520" cy="118872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97280"/>
            <a:ext cx="7223760" cy="274320"/>
          </a:xfrm>
          <a:prstGeom prst="rect">
            <a:avLst/>
          </a:prstGeom>
          <a:noFill/>
        </p:spPr>
        <p:txBody>
          <a:bodyPr wrap="square">
            <a:spAutoFit/>
          </a:bodyPr>
          <a:lstStyle/>
          <a:p>
            <a:pPr algn="l">
              <a:defRPr sz="1200" b="1">
                <a:solidFill>
                  <a:srgbClr val="22C55E"/>
                </a:solidFill>
                <a:latin typeface="Calibri"/>
              </a:defRPr>
            </a:pPr>
            <a:r>
              <a:t>Pain Points Addressed: #2, #3, #10</a:t>
            </a:r>
          </a:p>
        </p:txBody>
      </p:sp>
      <p:sp>
        <p:nvSpPr>
          <p:cNvPr id="7" name="TextBox 6"/>
          <p:cNvSpPr txBox="1"/>
          <p:nvPr/>
        </p:nvSpPr>
        <p:spPr>
          <a:xfrm>
            <a:off x="640080" y="1371600"/>
            <a:ext cx="7223760" cy="731520"/>
          </a:xfrm>
          <a:prstGeom prst="rect">
            <a:avLst/>
          </a:prstGeom>
          <a:noFill/>
        </p:spPr>
        <p:txBody>
          <a:bodyPr wrap="square">
            <a:spAutoFit/>
          </a:bodyPr>
          <a:lstStyle/>
          <a:p>
            <a:pPr algn="l">
              <a:defRPr sz="1200" b="0">
                <a:solidFill>
                  <a:srgbClr val="FFFFFF"/>
                </a:solidFill>
                <a:latin typeface="Calibri"/>
              </a:defRPr>
            </a:pPr>
            <a:r>
              <a:t>AI content engine creating professional marketing materials in minutes. 5 PM call ends → 5:15 PM polished follow-up package ready.</a:t>
            </a:r>
          </a:p>
        </p:txBody>
      </p:sp>
      <p:sp>
        <p:nvSpPr>
          <p:cNvPr id="8" name="Rounded Rectangle 7"/>
          <p:cNvSpPr/>
          <p:nvPr/>
        </p:nvSpPr>
        <p:spPr>
          <a:xfrm>
            <a:off x="457200" y="2286000"/>
            <a:ext cx="7589520" cy="20116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377440"/>
            <a:ext cx="7223760" cy="274320"/>
          </a:xfrm>
          <a:prstGeom prst="rect">
            <a:avLst/>
          </a:prstGeom>
          <a:noFill/>
        </p:spPr>
        <p:txBody>
          <a:bodyPr wrap="square">
            <a:spAutoFit/>
          </a:bodyPr>
          <a:lstStyle/>
          <a:p>
            <a:pPr algn="l">
              <a:defRPr sz="1200" b="1">
                <a:solidFill>
                  <a:srgbClr val="F59E0B"/>
                </a:solidFill>
                <a:latin typeface="Calibri"/>
              </a:defRPr>
            </a:pPr>
            <a:r>
              <a:t>Key Components:</a:t>
            </a:r>
          </a:p>
        </p:txBody>
      </p:sp>
      <p:sp>
        <p:nvSpPr>
          <p:cNvPr id="10" name="TextBox 9"/>
          <p:cNvSpPr txBox="1"/>
          <p:nvPr/>
        </p:nvSpPr>
        <p:spPr>
          <a:xfrm>
            <a:off x="640080" y="2743200"/>
            <a:ext cx="7223760" cy="274320"/>
          </a:xfrm>
          <a:prstGeom prst="rect">
            <a:avLst/>
          </a:prstGeom>
          <a:noFill/>
        </p:spPr>
        <p:txBody>
          <a:bodyPr wrap="square">
            <a:spAutoFit/>
          </a:bodyPr>
          <a:lstStyle/>
          <a:p>
            <a:pPr algn="l">
              <a:defRPr sz="1100" b="0">
                <a:solidFill>
                  <a:srgbClr val="FFFFFF"/>
                </a:solidFill>
                <a:latin typeface="Calibri"/>
              </a:defRPr>
            </a:pPr>
            <a:r>
              <a:t>• AI-generated pitch decks customized per prospect industry</a:t>
            </a:r>
          </a:p>
        </p:txBody>
      </p:sp>
      <p:sp>
        <p:nvSpPr>
          <p:cNvPr id="11" name="TextBox 10"/>
          <p:cNvSpPr txBox="1"/>
          <p:nvPr/>
        </p:nvSpPr>
        <p:spPr>
          <a:xfrm>
            <a:off x="640080" y="3063240"/>
            <a:ext cx="7223760" cy="274320"/>
          </a:xfrm>
          <a:prstGeom prst="rect">
            <a:avLst/>
          </a:prstGeom>
          <a:noFill/>
        </p:spPr>
        <p:txBody>
          <a:bodyPr wrap="square">
            <a:spAutoFit/>
          </a:bodyPr>
          <a:lstStyle/>
          <a:p>
            <a:pPr algn="l">
              <a:defRPr sz="1100" b="0">
                <a:solidFill>
                  <a:srgbClr val="FFFFFF"/>
                </a:solidFill>
                <a:latin typeface="Calibri"/>
              </a:defRPr>
            </a:pPr>
            <a:r>
              <a:t>• One-pager templates that auto-populate from CRM</a:t>
            </a:r>
          </a:p>
        </p:txBody>
      </p:sp>
      <p:sp>
        <p:nvSpPr>
          <p:cNvPr id="12" name="TextBox 11"/>
          <p:cNvSpPr txBox="1"/>
          <p:nvPr/>
        </p:nvSpPr>
        <p:spPr>
          <a:xfrm>
            <a:off x="640080" y="3383280"/>
            <a:ext cx="7223760" cy="274320"/>
          </a:xfrm>
          <a:prstGeom prst="rect">
            <a:avLst/>
          </a:prstGeom>
          <a:noFill/>
        </p:spPr>
        <p:txBody>
          <a:bodyPr wrap="square">
            <a:spAutoFit/>
          </a:bodyPr>
          <a:lstStyle/>
          <a:p>
            <a:pPr algn="l">
              <a:defRPr sz="1100" b="0">
                <a:solidFill>
                  <a:srgbClr val="FFFFFF"/>
                </a:solidFill>
                <a:latin typeface="Calibri"/>
              </a:defRPr>
            </a:pPr>
            <a:r>
              <a:t>• Proposal builder with pricing calculator</a:t>
            </a:r>
          </a:p>
        </p:txBody>
      </p:sp>
      <p:sp>
        <p:nvSpPr>
          <p:cNvPr id="13" name="TextBox 12"/>
          <p:cNvSpPr txBox="1"/>
          <p:nvPr/>
        </p:nvSpPr>
        <p:spPr>
          <a:xfrm>
            <a:off x="640080" y="3703320"/>
            <a:ext cx="7223760" cy="274320"/>
          </a:xfrm>
          <a:prstGeom prst="rect">
            <a:avLst/>
          </a:prstGeom>
          <a:noFill/>
        </p:spPr>
        <p:txBody>
          <a:bodyPr wrap="square">
            <a:spAutoFit/>
          </a:bodyPr>
          <a:lstStyle/>
          <a:p>
            <a:pPr algn="l">
              <a:defRPr sz="1100" b="0">
                <a:solidFill>
                  <a:srgbClr val="FFFFFF"/>
                </a:solidFill>
                <a:latin typeface="Calibri"/>
              </a:defRPr>
            </a:pPr>
            <a:r>
              <a:t>• Case study generator from client wins</a:t>
            </a:r>
          </a:p>
        </p:txBody>
      </p:sp>
      <p:sp>
        <p:nvSpPr>
          <p:cNvPr id="14" name="TextBox 13"/>
          <p:cNvSpPr txBox="1"/>
          <p:nvPr/>
        </p:nvSpPr>
        <p:spPr>
          <a:xfrm>
            <a:off x="640080" y="4023359"/>
            <a:ext cx="7223760" cy="274320"/>
          </a:xfrm>
          <a:prstGeom prst="rect">
            <a:avLst/>
          </a:prstGeom>
          <a:noFill/>
        </p:spPr>
        <p:txBody>
          <a:bodyPr wrap="square">
            <a:spAutoFit/>
          </a:bodyPr>
          <a:lstStyle/>
          <a:p>
            <a:pPr algn="l">
              <a:defRPr sz="1100" b="0">
                <a:solidFill>
                  <a:srgbClr val="FFFFFF"/>
                </a:solidFill>
                <a:latin typeface="Calibri"/>
              </a:defRPr>
            </a:pPr>
            <a:r>
              <a:t>• Email template library with proven sequences</a:t>
            </a:r>
          </a:p>
        </p:txBody>
      </p:sp>
      <p:sp>
        <p:nvSpPr>
          <p:cNvPr id="15" name="Rounded Rectangle 14"/>
          <p:cNvSpPr/>
          <p:nvPr/>
        </p:nvSpPr>
        <p:spPr>
          <a:xfrm>
            <a:off x="8229600" y="100584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143000"/>
            <a:ext cx="3291840" cy="228600"/>
          </a:xfrm>
          <a:prstGeom prst="rect">
            <a:avLst/>
          </a:prstGeom>
          <a:noFill/>
        </p:spPr>
        <p:txBody>
          <a:bodyPr wrap="square">
            <a:spAutoFit/>
          </a:bodyPr>
          <a:lstStyle/>
          <a:p>
            <a:pPr algn="ctr">
              <a:defRPr sz="1000" b="0">
                <a:solidFill>
                  <a:srgbClr val="94A3B8"/>
                </a:solidFill>
                <a:latin typeface="Calibri"/>
              </a:defRPr>
            </a:pPr>
            <a:r>
              <a:t>Time Before</a:t>
            </a:r>
          </a:p>
        </p:txBody>
      </p:sp>
      <p:sp>
        <p:nvSpPr>
          <p:cNvPr id="17" name="TextBox 16"/>
          <p:cNvSpPr txBox="1"/>
          <p:nvPr/>
        </p:nvSpPr>
        <p:spPr>
          <a:xfrm>
            <a:off x="8321040" y="1371600"/>
            <a:ext cx="3291840" cy="457200"/>
          </a:xfrm>
          <a:prstGeom prst="rect">
            <a:avLst/>
          </a:prstGeom>
          <a:noFill/>
        </p:spPr>
        <p:txBody>
          <a:bodyPr wrap="square">
            <a:spAutoFit/>
          </a:bodyPr>
          <a:lstStyle/>
          <a:p>
            <a:pPr algn="ctr">
              <a:defRPr sz="2800" b="1">
                <a:solidFill>
                  <a:srgbClr val="EF4444"/>
                </a:solidFill>
                <a:latin typeface="Calibri"/>
              </a:defRPr>
            </a:pPr>
            <a:r>
              <a:t>5+ hrs</a:t>
            </a:r>
          </a:p>
        </p:txBody>
      </p:sp>
      <p:sp>
        <p:nvSpPr>
          <p:cNvPr id="18" name="TextBox 17"/>
          <p:cNvSpPr txBox="1"/>
          <p:nvPr/>
        </p:nvSpPr>
        <p:spPr>
          <a:xfrm>
            <a:off x="8321040" y="1828800"/>
            <a:ext cx="3291840" cy="228600"/>
          </a:xfrm>
          <a:prstGeom prst="rect">
            <a:avLst/>
          </a:prstGeom>
          <a:noFill/>
        </p:spPr>
        <p:txBody>
          <a:bodyPr wrap="square">
            <a:spAutoFit/>
          </a:bodyPr>
          <a:lstStyle/>
          <a:p>
            <a:pPr algn="ctr">
              <a:defRPr sz="1000" b="0">
                <a:solidFill>
                  <a:srgbClr val="94A3B8"/>
                </a:solidFill>
                <a:latin typeface="Calibri"/>
              </a:defRPr>
            </a:pPr>
            <a:r>
              <a:t>Per Doc</a:t>
            </a:r>
          </a:p>
        </p:txBody>
      </p:sp>
      <p:sp>
        <p:nvSpPr>
          <p:cNvPr id="19" name="Rounded Rectangle 18"/>
          <p:cNvSpPr/>
          <p:nvPr/>
        </p:nvSpPr>
        <p:spPr>
          <a:xfrm>
            <a:off x="8229600" y="228600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423160"/>
            <a:ext cx="3291840" cy="228600"/>
          </a:xfrm>
          <a:prstGeom prst="rect">
            <a:avLst/>
          </a:prstGeom>
          <a:noFill/>
        </p:spPr>
        <p:txBody>
          <a:bodyPr wrap="square">
            <a:spAutoFit/>
          </a:bodyPr>
          <a:lstStyle/>
          <a:p>
            <a:pPr algn="ctr">
              <a:defRPr sz="1000" b="0">
                <a:solidFill>
                  <a:srgbClr val="94A3B8"/>
                </a:solidFill>
                <a:latin typeface="Calibri"/>
              </a:defRPr>
            </a:pPr>
            <a:r>
              <a:t>Time After</a:t>
            </a:r>
          </a:p>
        </p:txBody>
      </p:sp>
      <p:sp>
        <p:nvSpPr>
          <p:cNvPr id="21" name="TextBox 20"/>
          <p:cNvSpPr txBox="1"/>
          <p:nvPr/>
        </p:nvSpPr>
        <p:spPr>
          <a:xfrm>
            <a:off x="8321040" y="2651760"/>
            <a:ext cx="3291840" cy="457200"/>
          </a:xfrm>
          <a:prstGeom prst="rect">
            <a:avLst/>
          </a:prstGeom>
          <a:noFill/>
        </p:spPr>
        <p:txBody>
          <a:bodyPr wrap="square">
            <a:spAutoFit/>
          </a:bodyPr>
          <a:lstStyle/>
          <a:p>
            <a:pPr algn="ctr">
              <a:defRPr sz="2800" b="1">
                <a:solidFill>
                  <a:srgbClr val="22C55E"/>
                </a:solidFill>
                <a:latin typeface="Calibri"/>
              </a:defRPr>
            </a:pPr>
            <a:r>
              <a:t>15 min</a:t>
            </a:r>
          </a:p>
        </p:txBody>
      </p:sp>
      <p:sp>
        <p:nvSpPr>
          <p:cNvPr id="22" name="TextBox 21"/>
          <p:cNvSpPr txBox="1"/>
          <p:nvPr/>
        </p:nvSpPr>
        <p:spPr>
          <a:xfrm>
            <a:off x="8321040" y="3108960"/>
            <a:ext cx="3291840" cy="228600"/>
          </a:xfrm>
          <a:prstGeom prst="rect">
            <a:avLst/>
          </a:prstGeom>
          <a:noFill/>
        </p:spPr>
        <p:txBody>
          <a:bodyPr wrap="square">
            <a:spAutoFit/>
          </a:bodyPr>
          <a:lstStyle/>
          <a:p>
            <a:pPr algn="ctr">
              <a:defRPr sz="1000" b="0">
                <a:solidFill>
                  <a:srgbClr val="94A3B8"/>
                </a:solidFill>
                <a:latin typeface="Calibri"/>
              </a:defRPr>
            </a:pPr>
            <a:r>
              <a:t>Per Doc</a:t>
            </a:r>
          </a:p>
        </p:txBody>
      </p:sp>
      <p:sp>
        <p:nvSpPr>
          <p:cNvPr id="23" name="Rounded Rectangle 22"/>
          <p:cNvSpPr/>
          <p:nvPr/>
        </p:nvSpPr>
        <p:spPr>
          <a:xfrm>
            <a:off x="8229600" y="356616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703320"/>
            <a:ext cx="3291840" cy="228600"/>
          </a:xfrm>
          <a:prstGeom prst="rect">
            <a:avLst/>
          </a:prstGeom>
          <a:noFill/>
        </p:spPr>
        <p:txBody>
          <a:bodyPr wrap="square">
            <a:spAutoFit/>
          </a:bodyPr>
          <a:lstStyle/>
          <a:p>
            <a:pPr algn="ctr">
              <a:defRPr sz="1000" b="0">
                <a:solidFill>
                  <a:srgbClr val="94A3B8"/>
                </a:solidFill>
                <a:latin typeface="Calibri"/>
              </a:defRPr>
            </a:pPr>
            <a:r>
              <a:t>Reduction</a:t>
            </a:r>
          </a:p>
        </p:txBody>
      </p:sp>
      <p:sp>
        <p:nvSpPr>
          <p:cNvPr id="25" name="TextBox 24"/>
          <p:cNvSpPr txBox="1"/>
          <p:nvPr/>
        </p:nvSpPr>
        <p:spPr>
          <a:xfrm>
            <a:off x="8321040" y="3931920"/>
            <a:ext cx="3291840" cy="457200"/>
          </a:xfrm>
          <a:prstGeom prst="rect">
            <a:avLst/>
          </a:prstGeom>
          <a:noFill/>
        </p:spPr>
        <p:txBody>
          <a:bodyPr wrap="square">
            <a:spAutoFit/>
          </a:bodyPr>
          <a:lstStyle/>
          <a:p>
            <a:pPr algn="ctr">
              <a:defRPr sz="2800" b="1">
                <a:solidFill>
                  <a:srgbClr val="22C55E"/>
                </a:solidFill>
                <a:latin typeface="Calibri"/>
              </a:defRPr>
            </a:pPr>
            <a:r>
              <a:t>95%</a:t>
            </a:r>
          </a:p>
        </p:txBody>
      </p:sp>
      <p:sp>
        <p:nvSpPr>
          <p:cNvPr id="26" name="TextBox 25"/>
          <p:cNvSpPr txBox="1"/>
          <p:nvPr/>
        </p:nvSpPr>
        <p:spPr>
          <a:xfrm>
            <a:off x="8321040" y="4389120"/>
            <a:ext cx="3291840" cy="228600"/>
          </a:xfrm>
          <a:prstGeom prst="rect">
            <a:avLst/>
          </a:prstGeom>
          <a:noFill/>
        </p:spPr>
        <p:txBody>
          <a:bodyPr wrap="square">
            <a:spAutoFit/>
          </a:bodyPr>
          <a:lstStyle/>
          <a:p>
            <a:pPr algn="ctr">
              <a:defRPr sz="1000" b="0">
                <a:solidFill>
                  <a:srgbClr val="94A3B8"/>
                </a:solidFill>
                <a:latin typeface="Calibri"/>
              </a:defRPr>
            </a:pPr>
            <a:r>
              <a:t>Time Saved</a:t>
            </a:r>
          </a:p>
        </p:txBody>
      </p:sp>
      <p:sp>
        <p:nvSpPr>
          <p:cNvPr id="27" name="TextBox 26"/>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2800" b="1">
                <a:solidFill>
                  <a:srgbClr val="FFFFFF"/>
                </a:solidFill>
                <a:latin typeface="Calibri"/>
              </a:defRPr>
            </a:pPr>
            <a:r>
              <a:t>Pillar 3: Financial Planning Automation</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7589520" cy="118872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97280"/>
            <a:ext cx="7223760" cy="274320"/>
          </a:xfrm>
          <a:prstGeom prst="rect">
            <a:avLst/>
          </a:prstGeom>
          <a:noFill/>
        </p:spPr>
        <p:txBody>
          <a:bodyPr wrap="square">
            <a:spAutoFit/>
          </a:bodyPr>
          <a:lstStyle/>
          <a:p>
            <a:pPr algn="l">
              <a:defRPr sz="1200" b="1">
                <a:solidFill>
                  <a:srgbClr val="F59E0B"/>
                </a:solidFill>
                <a:latin typeface="Calibri"/>
              </a:defRPr>
            </a:pPr>
            <a:r>
              <a:t>Pain Points Addressed: #4, #8, #1</a:t>
            </a:r>
          </a:p>
        </p:txBody>
      </p:sp>
      <p:sp>
        <p:nvSpPr>
          <p:cNvPr id="7" name="TextBox 6"/>
          <p:cNvSpPr txBox="1"/>
          <p:nvPr/>
        </p:nvSpPr>
        <p:spPr>
          <a:xfrm>
            <a:off x="640080" y="1371600"/>
            <a:ext cx="7223760" cy="731520"/>
          </a:xfrm>
          <a:prstGeom prst="rect">
            <a:avLst/>
          </a:prstGeom>
          <a:noFill/>
        </p:spPr>
        <p:txBody>
          <a:bodyPr wrap="square">
            <a:spAutoFit/>
          </a:bodyPr>
          <a:lstStyle/>
          <a:p>
            <a:pPr algn="l">
              <a:defRPr sz="1200" b="0">
                <a:solidFill>
                  <a:srgbClr val="FFFFFF"/>
                </a:solidFill>
                <a:latin typeface="Calibri"/>
              </a:defRPr>
            </a:pPr>
            <a:r>
              <a:t>Automated data pipelines eliminating manual E-Money data entry. Focus shifts to interpreting results and advising clients.</a:t>
            </a:r>
          </a:p>
        </p:txBody>
      </p:sp>
      <p:sp>
        <p:nvSpPr>
          <p:cNvPr id="8" name="Rounded Rectangle 7"/>
          <p:cNvSpPr/>
          <p:nvPr/>
        </p:nvSpPr>
        <p:spPr>
          <a:xfrm>
            <a:off x="457200" y="2286000"/>
            <a:ext cx="7589520" cy="20116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377440"/>
            <a:ext cx="7223760" cy="274320"/>
          </a:xfrm>
          <a:prstGeom prst="rect">
            <a:avLst/>
          </a:prstGeom>
          <a:noFill/>
        </p:spPr>
        <p:txBody>
          <a:bodyPr wrap="square">
            <a:spAutoFit/>
          </a:bodyPr>
          <a:lstStyle/>
          <a:p>
            <a:pPr algn="l">
              <a:defRPr sz="1200" b="1">
                <a:solidFill>
                  <a:srgbClr val="F59E0B"/>
                </a:solidFill>
                <a:latin typeface="Calibri"/>
              </a:defRPr>
            </a:pPr>
            <a:r>
              <a:t>Key Components:</a:t>
            </a:r>
          </a:p>
        </p:txBody>
      </p:sp>
      <p:sp>
        <p:nvSpPr>
          <p:cNvPr id="10" name="TextBox 9"/>
          <p:cNvSpPr txBox="1"/>
          <p:nvPr/>
        </p:nvSpPr>
        <p:spPr>
          <a:xfrm>
            <a:off x="640080" y="2743200"/>
            <a:ext cx="7223760" cy="274320"/>
          </a:xfrm>
          <a:prstGeom prst="rect">
            <a:avLst/>
          </a:prstGeom>
          <a:noFill/>
        </p:spPr>
        <p:txBody>
          <a:bodyPr wrap="square">
            <a:spAutoFit/>
          </a:bodyPr>
          <a:lstStyle/>
          <a:p>
            <a:pPr algn="l">
              <a:defRPr sz="1100" b="0">
                <a:solidFill>
                  <a:srgbClr val="FFFFFF"/>
                </a:solidFill>
                <a:latin typeface="Calibri"/>
              </a:defRPr>
            </a:pPr>
            <a:r>
              <a:t>• Automated client data intake populating planning software</a:t>
            </a:r>
          </a:p>
        </p:txBody>
      </p:sp>
      <p:sp>
        <p:nvSpPr>
          <p:cNvPr id="11" name="TextBox 10"/>
          <p:cNvSpPr txBox="1"/>
          <p:nvPr/>
        </p:nvSpPr>
        <p:spPr>
          <a:xfrm>
            <a:off x="640080" y="3063240"/>
            <a:ext cx="7223760" cy="274320"/>
          </a:xfrm>
          <a:prstGeom prst="rect">
            <a:avLst/>
          </a:prstGeom>
          <a:noFill/>
        </p:spPr>
        <p:txBody>
          <a:bodyPr wrap="square">
            <a:spAutoFit/>
          </a:bodyPr>
          <a:lstStyle/>
          <a:p>
            <a:pPr algn="l">
              <a:defRPr sz="1100" b="0">
                <a:solidFill>
                  <a:srgbClr val="FFFFFF"/>
                </a:solidFill>
                <a:latin typeface="Calibri"/>
              </a:defRPr>
            </a:pPr>
            <a:r>
              <a:t>• Document parsing for tax returns and statements</a:t>
            </a:r>
          </a:p>
        </p:txBody>
      </p:sp>
      <p:sp>
        <p:nvSpPr>
          <p:cNvPr id="12" name="TextBox 11"/>
          <p:cNvSpPr txBox="1"/>
          <p:nvPr/>
        </p:nvSpPr>
        <p:spPr>
          <a:xfrm>
            <a:off x="640080" y="3383280"/>
            <a:ext cx="7223760" cy="274320"/>
          </a:xfrm>
          <a:prstGeom prst="rect">
            <a:avLst/>
          </a:prstGeom>
          <a:noFill/>
        </p:spPr>
        <p:txBody>
          <a:bodyPr wrap="square">
            <a:spAutoFit/>
          </a:bodyPr>
          <a:lstStyle/>
          <a:p>
            <a:pPr algn="l">
              <a:defRPr sz="1100" b="0">
                <a:solidFill>
                  <a:srgbClr val="FFFFFF"/>
                </a:solidFill>
                <a:latin typeface="Calibri"/>
              </a:defRPr>
            </a:pPr>
            <a:r>
              <a:t>• Scenario pre-build templates for common situations</a:t>
            </a:r>
          </a:p>
        </p:txBody>
      </p:sp>
      <p:sp>
        <p:nvSpPr>
          <p:cNvPr id="13" name="TextBox 12"/>
          <p:cNvSpPr txBox="1"/>
          <p:nvPr/>
        </p:nvSpPr>
        <p:spPr>
          <a:xfrm>
            <a:off x="640080" y="3703320"/>
            <a:ext cx="7223760" cy="274320"/>
          </a:xfrm>
          <a:prstGeom prst="rect">
            <a:avLst/>
          </a:prstGeom>
          <a:noFill/>
        </p:spPr>
        <p:txBody>
          <a:bodyPr wrap="square">
            <a:spAutoFit/>
          </a:bodyPr>
          <a:lstStyle/>
          <a:p>
            <a:pPr algn="l">
              <a:defRPr sz="1100" b="0">
                <a:solidFill>
                  <a:srgbClr val="FFFFFF"/>
                </a:solidFill>
                <a:latin typeface="Calibri"/>
              </a:defRPr>
            </a:pPr>
            <a:r>
              <a:t>• Integration with Precision FP</a:t>
            </a:r>
          </a:p>
        </p:txBody>
      </p:sp>
      <p:sp>
        <p:nvSpPr>
          <p:cNvPr id="14" name="TextBox 13"/>
          <p:cNvSpPr txBox="1"/>
          <p:nvPr/>
        </p:nvSpPr>
        <p:spPr>
          <a:xfrm>
            <a:off x="640080" y="4023359"/>
            <a:ext cx="7223760" cy="274320"/>
          </a:xfrm>
          <a:prstGeom prst="rect">
            <a:avLst/>
          </a:prstGeom>
          <a:noFill/>
        </p:spPr>
        <p:txBody>
          <a:bodyPr wrap="square">
            <a:spAutoFit/>
          </a:bodyPr>
          <a:lstStyle/>
          <a:p>
            <a:pPr algn="l">
              <a:defRPr sz="1100" b="0">
                <a:solidFill>
                  <a:srgbClr val="FFFFFF"/>
                </a:solidFill>
                <a:latin typeface="Calibri"/>
              </a:defRPr>
            </a:pPr>
            <a:r>
              <a:t>• Automated report generation</a:t>
            </a:r>
          </a:p>
        </p:txBody>
      </p:sp>
      <p:sp>
        <p:nvSpPr>
          <p:cNvPr id="15" name="Rounded Rectangle 14"/>
          <p:cNvSpPr/>
          <p:nvPr/>
        </p:nvSpPr>
        <p:spPr>
          <a:xfrm>
            <a:off x="8229600" y="100584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143000"/>
            <a:ext cx="3291840" cy="228600"/>
          </a:xfrm>
          <a:prstGeom prst="rect">
            <a:avLst/>
          </a:prstGeom>
          <a:noFill/>
        </p:spPr>
        <p:txBody>
          <a:bodyPr wrap="square">
            <a:spAutoFit/>
          </a:bodyPr>
          <a:lstStyle/>
          <a:p>
            <a:pPr algn="ctr">
              <a:defRPr sz="1000" b="0">
                <a:solidFill>
                  <a:srgbClr val="94A3B8"/>
                </a:solidFill>
                <a:latin typeface="Calibri"/>
              </a:defRPr>
            </a:pPr>
            <a:r>
              <a:t>Time Before</a:t>
            </a:r>
          </a:p>
        </p:txBody>
      </p:sp>
      <p:sp>
        <p:nvSpPr>
          <p:cNvPr id="17" name="TextBox 16"/>
          <p:cNvSpPr txBox="1"/>
          <p:nvPr/>
        </p:nvSpPr>
        <p:spPr>
          <a:xfrm>
            <a:off x="8321040" y="1371600"/>
            <a:ext cx="3291840" cy="457200"/>
          </a:xfrm>
          <a:prstGeom prst="rect">
            <a:avLst/>
          </a:prstGeom>
          <a:noFill/>
        </p:spPr>
        <p:txBody>
          <a:bodyPr wrap="square">
            <a:spAutoFit/>
          </a:bodyPr>
          <a:lstStyle/>
          <a:p>
            <a:pPr algn="ctr">
              <a:defRPr sz="2800" b="1">
                <a:solidFill>
                  <a:srgbClr val="EF4444"/>
                </a:solidFill>
                <a:latin typeface="Calibri"/>
              </a:defRPr>
            </a:pPr>
            <a:r>
              <a:t>6 hrs</a:t>
            </a:r>
          </a:p>
        </p:txBody>
      </p:sp>
      <p:sp>
        <p:nvSpPr>
          <p:cNvPr id="18" name="TextBox 17"/>
          <p:cNvSpPr txBox="1"/>
          <p:nvPr/>
        </p:nvSpPr>
        <p:spPr>
          <a:xfrm>
            <a:off x="8321040" y="1828800"/>
            <a:ext cx="3291840" cy="228600"/>
          </a:xfrm>
          <a:prstGeom prst="rect">
            <a:avLst/>
          </a:prstGeom>
          <a:noFill/>
        </p:spPr>
        <p:txBody>
          <a:bodyPr wrap="square">
            <a:spAutoFit/>
          </a:bodyPr>
          <a:lstStyle/>
          <a:p>
            <a:pPr algn="ctr">
              <a:defRPr sz="1000" b="0">
                <a:solidFill>
                  <a:srgbClr val="94A3B8"/>
                </a:solidFill>
                <a:latin typeface="Calibri"/>
              </a:defRPr>
            </a:pPr>
            <a:r>
              <a:t>Per Plan</a:t>
            </a:r>
          </a:p>
        </p:txBody>
      </p:sp>
      <p:sp>
        <p:nvSpPr>
          <p:cNvPr id="19" name="Rounded Rectangle 18"/>
          <p:cNvSpPr/>
          <p:nvPr/>
        </p:nvSpPr>
        <p:spPr>
          <a:xfrm>
            <a:off x="8229600" y="228600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423160"/>
            <a:ext cx="3291840" cy="228600"/>
          </a:xfrm>
          <a:prstGeom prst="rect">
            <a:avLst/>
          </a:prstGeom>
          <a:noFill/>
        </p:spPr>
        <p:txBody>
          <a:bodyPr wrap="square">
            <a:spAutoFit/>
          </a:bodyPr>
          <a:lstStyle/>
          <a:p>
            <a:pPr algn="ctr">
              <a:defRPr sz="1000" b="0">
                <a:solidFill>
                  <a:srgbClr val="94A3B8"/>
                </a:solidFill>
                <a:latin typeface="Calibri"/>
              </a:defRPr>
            </a:pPr>
            <a:r>
              <a:t>Time After</a:t>
            </a:r>
          </a:p>
        </p:txBody>
      </p:sp>
      <p:sp>
        <p:nvSpPr>
          <p:cNvPr id="21" name="TextBox 20"/>
          <p:cNvSpPr txBox="1"/>
          <p:nvPr/>
        </p:nvSpPr>
        <p:spPr>
          <a:xfrm>
            <a:off x="8321040" y="2651760"/>
            <a:ext cx="3291840" cy="457200"/>
          </a:xfrm>
          <a:prstGeom prst="rect">
            <a:avLst/>
          </a:prstGeom>
          <a:noFill/>
        </p:spPr>
        <p:txBody>
          <a:bodyPr wrap="square">
            <a:spAutoFit/>
          </a:bodyPr>
          <a:lstStyle/>
          <a:p>
            <a:pPr algn="ctr">
              <a:defRPr sz="2800" b="1">
                <a:solidFill>
                  <a:srgbClr val="22C55E"/>
                </a:solidFill>
                <a:latin typeface="Calibri"/>
              </a:defRPr>
            </a:pPr>
            <a:r>
              <a:t>1 hr</a:t>
            </a:r>
          </a:p>
        </p:txBody>
      </p:sp>
      <p:sp>
        <p:nvSpPr>
          <p:cNvPr id="22" name="TextBox 21"/>
          <p:cNvSpPr txBox="1"/>
          <p:nvPr/>
        </p:nvSpPr>
        <p:spPr>
          <a:xfrm>
            <a:off x="8321040" y="3108960"/>
            <a:ext cx="3291840" cy="228600"/>
          </a:xfrm>
          <a:prstGeom prst="rect">
            <a:avLst/>
          </a:prstGeom>
          <a:noFill/>
        </p:spPr>
        <p:txBody>
          <a:bodyPr wrap="square">
            <a:spAutoFit/>
          </a:bodyPr>
          <a:lstStyle/>
          <a:p>
            <a:pPr algn="ctr">
              <a:defRPr sz="1000" b="0">
                <a:solidFill>
                  <a:srgbClr val="94A3B8"/>
                </a:solidFill>
                <a:latin typeface="Calibri"/>
              </a:defRPr>
            </a:pPr>
            <a:r>
              <a:t>Per Plan</a:t>
            </a:r>
          </a:p>
        </p:txBody>
      </p:sp>
      <p:sp>
        <p:nvSpPr>
          <p:cNvPr id="23" name="Rounded Rectangle 22"/>
          <p:cNvSpPr/>
          <p:nvPr/>
        </p:nvSpPr>
        <p:spPr>
          <a:xfrm>
            <a:off x="8229600" y="356616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703320"/>
            <a:ext cx="3291840" cy="228600"/>
          </a:xfrm>
          <a:prstGeom prst="rect">
            <a:avLst/>
          </a:prstGeom>
          <a:noFill/>
        </p:spPr>
        <p:txBody>
          <a:bodyPr wrap="square">
            <a:spAutoFit/>
          </a:bodyPr>
          <a:lstStyle/>
          <a:p>
            <a:pPr algn="ctr">
              <a:defRPr sz="1000" b="0">
                <a:solidFill>
                  <a:srgbClr val="94A3B8"/>
                </a:solidFill>
                <a:latin typeface="Calibri"/>
              </a:defRPr>
            </a:pPr>
            <a:r>
              <a:t>Weekly Freed</a:t>
            </a:r>
          </a:p>
        </p:txBody>
      </p:sp>
      <p:sp>
        <p:nvSpPr>
          <p:cNvPr id="25" name="TextBox 24"/>
          <p:cNvSpPr txBox="1"/>
          <p:nvPr/>
        </p:nvSpPr>
        <p:spPr>
          <a:xfrm>
            <a:off x="8321040" y="3931920"/>
            <a:ext cx="3291840" cy="457200"/>
          </a:xfrm>
          <a:prstGeom prst="rect">
            <a:avLst/>
          </a:prstGeom>
          <a:noFill/>
        </p:spPr>
        <p:txBody>
          <a:bodyPr wrap="square">
            <a:spAutoFit/>
          </a:bodyPr>
          <a:lstStyle/>
          <a:p>
            <a:pPr algn="ctr">
              <a:defRPr sz="2800" b="1">
                <a:solidFill>
                  <a:srgbClr val="22C55E"/>
                </a:solidFill>
                <a:latin typeface="Calibri"/>
              </a:defRPr>
            </a:pPr>
            <a:r>
              <a:t>8+</a:t>
            </a:r>
          </a:p>
        </p:txBody>
      </p:sp>
      <p:sp>
        <p:nvSpPr>
          <p:cNvPr id="26" name="TextBox 25"/>
          <p:cNvSpPr txBox="1"/>
          <p:nvPr/>
        </p:nvSpPr>
        <p:spPr>
          <a:xfrm>
            <a:off x="8321040" y="4389120"/>
            <a:ext cx="3291840" cy="228600"/>
          </a:xfrm>
          <a:prstGeom prst="rect">
            <a:avLst/>
          </a:prstGeom>
          <a:noFill/>
        </p:spPr>
        <p:txBody>
          <a:bodyPr wrap="square">
            <a:spAutoFit/>
          </a:bodyPr>
          <a:lstStyle/>
          <a:p>
            <a:pPr algn="ctr">
              <a:defRPr sz="1000" b="0">
                <a:solidFill>
                  <a:srgbClr val="94A3B8"/>
                </a:solidFill>
                <a:latin typeface="Calibri"/>
              </a:defRPr>
            </a:pPr>
            <a:r>
              <a:t>Hours</a:t>
            </a:r>
          </a:p>
        </p:txBody>
      </p:sp>
      <p:sp>
        <p:nvSpPr>
          <p:cNvPr id="27" name="TextBox 26"/>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2800" b="1">
                <a:solidFill>
                  <a:srgbClr val="FFFFFF"/>
                </a:solidFill>
                <a:latin typeface="Calibri"/>
              </a:defRPr>
            </a:pPr>
            <a:r>
              <a:t>Pillar 4: M&amp;A Valuation Accelerator</a:t>
            </a:r>
          </a:p>
        </p:txBody>
      </p:sp>
      <p:sp>
        <p:nvSpPr>
          <p:cNvPr id="4" name="Rectangle 3"/>
          <p:cNvSpPr/>
          <p:nvPr/>
        </p:nvSpPr>
        <p:spPr>
          <a:xfrm>
            <a:off x="457200" y="777240"/>
            <a:ext cx="73152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7589520" cy="118872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97280"/>
            <a:ext cx="7223760" cy="274320"/>
          </a:xfrm>
          <a:prstGeom prst="rect">
            <a:avLst/>
          </a:prstGeom>
          <a:noFill/>
        </p:spPr>
        <p:txBody>
          <a:bodyPr wrap="square">
            <a:spAutoFit/>
          </a:bodyPr>
          <a:lstStyle/>
          <a:p>
            <a:pPr algn="l">
              <a:defRPr sz="1200" b="1">
                <a:solidFill>
                  <a:srgbClr val="EC4899"/>
                </a:solidFill>
                <a:latin typeface="Calibri"/>
              </a:defRPr>
            </a:pPr>
            <a:r>
              <a:t>Pain Points Addressed: #5, #9</a:t>
            </a:r>
          </a:p>
        </p:txBody>
      </p:sp>
      <p:sp>
        <p:nvSpPr>
          <p:cNvPr id="7" name="TextBox 6"/>
          <p:cNvSpPr txBox="1"/>
          <p:nvPr/>
        </p:nvSpPr>
        <p:spPr>
          <a:xfrm>
            <a:off x="640080" y="1371600"/>
            <a:ext cx="7223760" cy="731520"/>
          </a:xfrm>
          <a:prstGeom prst="rect">
            <a:avLst/>
          </a:prstGeom>
          <a:noFill/>
        </p:spPr>
        <p:txBody>
          <a:bodyPr wrap="square">
            <a:spAutoFit/>
          </a:bodyPr>
          <a:lstStyle/>
          <a:p>
            <a:pPr algn="l">
              <a:defRPr sz="1200" b="0">
                <a:solidFill>
                  <a:srgbClr val="FFFFFF"/>
                </a:solidFill>
                <a:latin typeface="Calibri"/>
              </a:defRPr>
            </a:pPr>
            <a:r>
              <a:t>AI-powered valuation tools reducing 3-4 week projects to 3-4 days. Increases deal capacity from 2-3 to 8+ valuations annually.</a:t>
            </a:r>
          </a:p>
        </p:txBody>
      </p:sp>
      <p:sp>
        <p:nvSpPr>
          <p:cNvPr id="8" name="Rounded Rectangle 7"/>
          <p:cNvSpPr/>
          <p:nvPr/>
        </p:nvSpPr>
        <p:spPr>
          <a:xfrm>
            <a:off x="457200" y="2286000"/>
            <a:ext cx="7589520" cy="20116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377440"/>
            <a:ext cx="7223760" cy="274320"/>
          </a:xfrm>
          <a:prstGeom prst="rect">
            <a:avLst/>
          </a:prstGeom>
          <a:noFill/>
        </p:spPr>
        <p:txBody>
          <a:bodyPr wrap="square">
            <a:spAutoFit/>
          </a:bodyPr>
          <a:lstStyle/>
          <a:p>
            <a:pPr algn="l">
              <a:defRPr sz="1200" b="1">
                <a:solidFill>
                  <a:srgbClr val="F59E0B"/>
                </a:solidFill>
                <a:latin typeface="Calibri"/>
              </a:defRPr>
            </a:pPr>
            <a:r>
              <a:t>Key Components:</a:t>
            </a:r>
          </a:p>
        </p:txBody>
      </p:sp>
      <p:sp>
        <p:nvSpPr>
          <p:cNvPr id="10" name="TextBox 9"/>
          <p:cNvSpPr txBox="1"/>
          <p:nvPr/>
        </p:nvSpPr>
        <p:spPr>
          <a:xfrm>
            <a:off x="640080" y="2743200"/>
            <a:ext cx="7223760" cy="274320"/>
          </a:xfrm>
          <a:prstGeom prst="rect">
            <a:avLst/>
          </a:prstGeom>
          <a:noFill/>
        </p:spPr>
        <p:txBody>
          <a:bodyPr wrap="square">
            <a:spAutoFit/>
          </a:bodyPr>
          <a:lstStyle/>
          <a:p>
            <a:pPr algn="l">
              <a:defRPr sz="1100" b="0">
                <a:solidFill>
                  <a:srgbClr val="FFFFFF"/>
                </a:solidFill>
                <a:latin typeface="Calibri"/>
              </a:defRPr>
            </a:pPr>
            <a:r>
              <a:t>• Automated comparable company analysis</a:t>
            </a:r>
          </a:p>
        </p:txBody>
      </p:sp>
      <p:sp>
        <p:nvSpPr>
          <p:cNvPr id="11" name="TextBox 10"/>
          <p:cNvSpPr txBox="1"/>
          <p:nvPr/>
        </p:nvSpPr>
        <p:spPr>
          <a:xfrm>
            <a:off x="640080" y="3063240"/>
            <a:ext cx="7223760" cy="274320"/>
          </a:xfrm>
          <a:prstGeom prst="rect">
            <a:avLst/>
          </a:prstGeom>
          <a:noFill/>
        </p:spPr>
        <p:txBody>
          <a:bodyPr wrap="square">
            <a:spAutoFit/>
          </a:bodyPr>
          <a:lstStyle/>
          <a:p>
            <a:pPr algn="l">
              <a:defRPr sz="1100" b="0">
                <a:solidFill>
                  <a:srgbClr val="FFFFFF"/>
                </a:solidFill>
                <a:latin typeface="Calibri"/>
              </a:defRPr>
            </a:pPr>
            <a:r>
              <a:t>• DCF model builder with industry assumptions</a:t>
            </a:r>
          </a:p>
        </p:txBody>
      </p:sp>
      <p:sp>
        <p:nvSpPr>
          <p:cNvPr id="12" name="TextBox 11"/>
          <p:cNvSpPr txBox="1"/>
          <p:nvPr/>
        </p:nvSpPr>
        <p:spPr>
          <a:xfrm>
            <a:off x="640080" y="3383280"/>
            <a:ext cx="7223760" cy="274320"/>
          </a:xfrm>
          <a:prstGeom prst="rect">
            <a:avLst/>
          </a:prstGeom>
          <a:noFill/>
        </p:spPr>
        <p:txBody>
          <a:bodyPr wrap="square">
            <a:spAutoFit/>
          </a:bodyPr>
          <a:lstStyle/>
          <a:p>
            <a:pPr algn="l">
              <a:defRPr sz="1100" b="0">
                <a:solidFill>
                  <a:srgbClr val="FFFFFF"/>
                </a:solidFill>
                <a:latin typeface="Calibri"/>
              </a:defRPr>
            </a:pPr>
            <a:r>
              <a:t>• Financial statement normalization</a:t>
            </a:r>
          </a:p>
        </p:txBody>
      </p:sp>
      <p:sp>
        <p:nvSpPr>
          <p:cNvPr id="13" name="TextBox 12"/>
          <p:cNvSpPr txBox="1"/>
          <p:nvPr/>
        </p:nvSpPr>
        <p:spPr>
          <a:xfrm>
            <a:off x="640080" y="3703320"/>
            <a:ext cx="7223760" cy="274320"/>
          </a:xfrm>
          <a:prstGeom prst="rect">
            <a:avLst/>
          </a:prstGeom>
          <a:noFill/>
        </p:spPr>
        <p:txBody>
          <a:bodyPr wrap="square">
            <a:spAutoFit/>
          </a:bodyPr>
          <a:lstStyle/>
          <a:p>
            <a:pPr algn="l">
              <a:defRPr sz="1100" b="0">
                <a:solidFill>
                  <a:srgbClr val="FFFFFF"/>
                </a:solidFill>
                <a:latin typeface="Calibri"/>
              </a:defRPr>
            </a:pPr>
            <a:r>
              <a:t>• AI-generated valuation report drafts</a:t>
            </a:r>
          </a:p>
        </p:txBody>
      </p:sp>
      <p:sp>
        <p:nvSpPr>
          <p:cNvPr id="14" name="TextBox 13"/>
          <p:cNvSpPr txBox="1"/>
          <p:nvPr/>
        </p:nvSpPr>
        <p:spPr>
          <a:xfrm>
            <a:off x="640080" y="4023359"/>
            <a:ext cx="7223760" cy="274320"/>
          </a:xfrm>
          <a:prstGeom prst="rect">
            <a:avLst/>
          </a:prstGeom>
          <a:noFill/>
        </p:spPr>
        <p:txBody>
          <a:bodyPr wrap="square">
            <a:spAutoFit/>
          </a:bodyPr>
          <a:lstStyle/>
          <a:p>
            <a:pPr algn="l">
              <a:defRPr sz="1100" b="0">
                <a:solidFill>
                  <a:srgbClr val="FFFFFF"/>
                </a:solidFill>
                <a:latin typeface="Calibri"/>
              </a:defRPr>
            </a:pPr>
            <a:r>
              <a:t>• Deal sourcing radar for RIA opportunities</a:t>
            </a:r>
          </a:p>
        </p:txBody>
      </p:sp>
      <p:sp>
        <p:nvSpPr>
          <p:cNvPr id="15" name="Rounded Rectangle 14"/>
          <p:cNvSpPr/>
          <p:nvPr/>
        </p:nvSpPr>
        <p:spPr>
          <a:xfrm>
            <a:off x="8229600" y="100584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143000"/>
            <a:ext cx="3291840" cy="228600"/>
          </a:xfrm>
          <a:prstGeom prst="rect">
            <a:avLst/>
          </a:prstGeom>
          <a:noFill/>
        </p:spPr>
        <p:txBody>
          <a:bodyPr wrap="square">
            <a:spAutoFit/>
          </a:bodyPr>
          <a:lstStyle/>
          <a:p>
            <a:pPr algn="ctr">
              <a:defRPr sz="1000" b="0">
                <a:solidFill>
                  <a:srgbClr val="94A3B8"/>
                </a:solidFill>
                <a:latin typeface="Calibri"/>
              </a:defRPr>
            </a:pPr>
            <a:r>
              <a:t>Time Before</a:t>
            </a:r>
          </a:p>
        </p:txBody>
      </p:sp>
      <p:sp>
        <p:nvSpPr>
          <p:cNvPr id="17" name="TextBox 16"/>
          <p:cNvSpPr txBox="1"/>
          <p:nvPr/>
        </p:nvSpPr>
        <p:spPr>
          <a:xfrm>
            <a:off x="8321040" y="1371600"/>
            <a:ext cx="3291840" cy="457200"/>
          </a:xfrm>
          <a:prstGeom prst="rect">
            <a:avLst/>
          </a:prstGeom>
          <a:noFill/>
        </p:spPr>
        <p:txBody>
          <a:bodyPr wrap="square">
            <a:spAutoFit/>
          </a:bodyPr>
          <a:lstStyle/>
          <a:p>
            <a:pPr algn="ctr">
              <a:defRPr sz="2800" b="1">
                <a:solidFill>
                  <a:srgbClr val="EF4444"/>
                </a:solidFill>
                <a:latin typeface="Calibri"/>
              </a:defRPr>
            </a:pPr>
            <a:r>
              <a:t>4 wks</a:t>
            </a:r>
          </a:p>
        </p:txBody>
      </p:sp>
      <p:sp>
        <p:nvSpPr>
          <p:cNvPr id="18" name="TextBox 17"/>
          <p:cNvSpPr txBox="1"/>
          <p:nvPr/>
        </p:nvSpPr>
        <p:spPr>
          <a:xfrm>
            <a:off x="8321040" y="1828800"/>
            <a:ext cx="3291840" cy="228600"/>
          </a:xfrm>
          <a:prstGeom prst="rect">
            <a:avLst/>
          </a:prstGeom>
          <a:noFill/>
        </p:spPr>
        <p:txBody>
          <a:bodyPr wrap="square">
            <a:spAutoFit/>
          </a:bodyPr>
          <a:lstStyle/>
          <a:p>
            <a:pPr algn="ctr">
              <a:defRPr sz="1000" b="0">
                <a:solidFill>
                  <a:srgbClr val="94A3B8"/>
                </a:solidFill>
                <a:latin typeface="Calibri"/>
              </a:defRPr>
            </a:pPr>
            <a:r>
              <a:t>Per Valuation</a:t>
            </a:r>
          </a:p>
        </p:txBody>
      </p:sp>
      <p:sp>
        <p:nvSpPr>
          <p:cNvPr id="19" name="Rounded Rectangle 18"/>
          <p:cNvSpPr/>
          <p:nvPr/>
        </p:nvSpPr>
        <p:spPr>
          <a:xfrm>
            <a:off x="8229600" y="228600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423160"/>
            <a:ext cx="3291840" cy="228600"/>
          </a:xfrm>
          <a:prstGeom prst="rect">
            <a:avLst/>
          </a:prstGeom>
          <a:noFill/>
        </p:spPr>
        <p:txBody>
          <a:bodyPr wrap="square">
            <a:spAutoFit/>
          </a:bodyPr>
          <a:lstStyle/>
          <a:p>
            <a:pPr algn="ctr">
              <a:defRPr sz="1000" b="0">
                <a:solidFill>
                  <a:srgbClr val="94A3B8"/>
                </a:solidFill>
                <a:latin typeface="Calibri"/>
              </a:defRPr>
            </a:pPr>
            <a:r>
              <a:t>Time After</a:t>
            </a:r>
          </a:p>
        </p:txBody>
      </p:sp>
      <p:sp>
        <p:nvSpPr>
          <p:cNvPr id="21" name="TextBox 20"/>
          <p:cNvSpPr txBox="1"/>
          <p:nvPr/>
        </p:nvSpPr>
        <p:spPr>
          <a:xfrm>
            <a:off x="8321040" y="2651760"/>
            <a:ext cx="3291840" cy="457200"/>
          </a:xfrm>
          <a:prstGeom prst="rect">
            <a:avLst/>
          </a:prstGeom>
          <a:noFill/>
        </p:spPr>
        <p:txBody>
          <a:bodyPr wrap="square">
            <a:spAutoFit/>
          </a:bodyPr>
          <a:lstStyle/>
          <a:p>
            <a:pPr algn="ctr">
              <a:defRPr sz="2800" b="1">
                <a:solidFill>
                  <a:srgbClr val="22C55E"/>
                </a:solidFill>
                <a:latin typeface="Calibri"/>
              </a:defRPr>
            </a:pPr>
            <a:r>
              <a:t>4 days</a:t>
            </a:r>
          </a:p>
        </p:txBody>
      </p:sp>
      <p:sp>
        <p:nvSpPr>
          <p:cNvPr id="22" name="TextBox 21"/>
          <p:cNvSpPr txBox="1"/>
          <p:nvPr/>
        </p:nvSpPr>
        <p:spPr>
          <a:xfrm>
            <a:off x="8321040" y="3108960"/>
            <a:ext cx="3291840" cy="228600"/>
          </a:xfrm>
          <a:prstGeom prst="rect">
            <a:avLst/>
          </a:prstGeom>
          <a:noFill/>
        </p:spPr>
        <p:txBody>
          <a:bodyPr wrap="square">
            <a:spAutoFit/>
          </a:bodyPr>
          <a:lstStyle/>
          <a:p>
            <a:pPr algn="ctr">
              <a:defRPr sz="1000" b="0">
                <a:solidFill>
                  <a:srgbClr val="94A3B8"/>
                </a:solidFill>
                <a:latin typeface="Calibri"/>
              </a:defRPr>
            </a:pPr>
            <a:r>
              <a:t>Per Valuation</a:t>
            </a:r>
          </a:p>
        </p:txBody>
      </p:sp>
      <p:sp>
        <p:nvSpPr>
          <p:cNvPr id="23" name="Rounded Rectangle 22"/>
          <p:cNvSpPr/>
          <p:nvPr/>
        </p:nvSpPr>
        <p:spPr>
          <a:xfrm>
            <a:off x="8229600" y="356616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703320"/>
            <a:ext cx="3291840" cy="228600"/>
          </a:xfrm>
          <a:prstGeom prst="rect">
            <a:avLst/>
          </a:prstGeom>
          <a:noFill/>
        </p:spPr>
        <p:txBody>
          <a:bodyPr wrap="square">
            <a:spAutoFit/>
          </a:bodyPr>
          <a:lstStyle/>
          <a:p>
            <a:pPr algn="ctr">
              <a:defRPr sz="1000" b="0">
                <a:solidFill>
                  <a:srgbClr val="94A3B8"/>
                </a:solidFill>
                <a:latin typeface="Calibri"/>
              </a:defRPr>
            </a:pPr>
            <a:r>
              <a:t>Capacity</a:t>
            </a:r>
          </a:p>
        </p:txBody>
      </p:sp>
      <p:sp>
        <p:nvSpPr>
          <p:cNvPr id="25" name="TextBox 24"/>
          <p:cNvSpPr txBox="1"/>
          <p:nvPr/>
        </p:nvSpPr>
        <p:spPr>
          <a:xfrm>
            <a:off x="8321040" y="3931920"/>
            <a:ext cx="3291840" cy="457200"/>
          </a:xfrm>
          <a:prstGeom prst="rect">
            <a:avLst/>
          </a:prstGeom>
          <a:noFill/>
        </p:spPr>
        <p:txBody>
          <a:bodyPr wrap="square">
            <a:spAutoFit/>
          </a:bodyPr>
          <a:lstStyle/>
          <a:p>
            <a:pPr algn="ctr">
              <a:defRPr sz="2800" b="1">
                <a:solidFill>
                  <a:srgbClr val="22C55E"/>
                </a:solidFill>
                <a:latin typeface="Calibri"/>
              </a:defRPr>
            </a:pPr>
            <a:r>
              <a:t>4x</a:t>
            </a:r>
          </a:p>
        </p:txBody>
      </p:sp>
      <p:sp>
        <p:nvSpPr>
          <p:cNvPr id="26" name="TextBox 25"/>
          <p:cNvSpPr txBox="1"/>
          <p:nvPr/>
        </p:nvSpPr>
        <p:spPr>
          <a:xfrm>
            <a:off x="8321040" y="4389120"/>
            <a:ext cx="3291840" cy="228600"/>
          </a:xfrm>
          <a:prstGeom prst="rect">
            <a:avLst/>
          </a:prstGeom>
          <a:noFill/>
        </p:spPr>
        <p:txBody>
          <a:bodyPr wrap="square">
            <a:spAutoFit/>
          </a:bodyPr>
          <a:lstStyle/>
          <a:p>
            <a:pPr algn="ctr">
              <a:defRPr sz="1000" b="0">
                <a:solidFill>
                  <a:srgbClr val="94A3B8"/>
                </a:solidFill>
                <a:latin typeface="Calibri"/>
              </a:defRPr>
            </a:pPr>
            <a:r>
              <a:t>More Deals</a:t>
            </a:r>
          </a:p>
        </p:txBody>
      </p:sp>
      <p:sp>
        <p:nvSpPr>
          <p:cNvPr id="27" name="TextBox 26"/>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2800" b="1">
                <a:solidFill>
                  <a:srgbClr val="FFFFFF"/>
                </a:solidFill>
                <a:latin typeface="Calibri"/>
              </a:defRPr>
            </a:pPr>
            <a:r>
              <a:t>Pillar 5: Digital Authority Platform</a:t>
            </a:r>
          </a:p>
        </p:txBody>
      </p:sp>
      <p:sp>
        <p:nvSpPr>
          <p:cNvPr id="4" name="Rectangle 3"/>
          <p:cNvSpPr/>
          <p:nvPr/>
        </p:nvSpPr>
        <p:spPr>
          <a:xfrm>
            <a:off x="457200" y="777240"/>
            <a:ext cx="731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7589520" cy="118872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97280"/>
            <a:ext cx="7223760" cy="274320"/>
          </a:xfrm>
          <a:prstGeom prst="rect">
            <a:avLst/>
          </a:prstGeom>
          <a:noFill/>
        </p:spPr>
        <p:txBody>
          <a:bodyPr wrap="square">
            <a:spAutoFit/>
          </a:bodyPr>
          <a:lstStyle/>
          <a:p>
            <a:pPr algn="l">
              <a:defRPr sz="1200" b="1">
                <a:solidFill>
                  <a:srgbClr val="8B5CF6"/>
                </a:solidFill>
                <a:latin typeface="Calibri"/>
              </a:defRPr>
            </a:pPr>
            <a:r>
              <a:t>Pain Points Addressed: #13, #12, #10</a:t>
            </a:r>
          </a:p>
        </p:txBody>
      </p:sp>
      <p:sp>
        <p:nvSpPr>
          <p:cNvPr id="7" name="TextBox 6"/>
          <p:cNvSpPr txBox="1"/>
          <p:nvPr/>
        </p:nvSpPr>
        <p:spPr>
          <a:xfrm>
            <a:off x="640080" y="1371600"/>
            <a:ext cx="7223760" cy="731520"/>
          </a:xfrm>
          <a:prstGeom prst="rect">
            <a:avLst/>
          </a:prstGeom>
          <a:noFill/>
        </p:spPr>
        <p:txBody>
          <a:bodyPr wrap="square">
            <a:spAutoFit/>
          </a:bodyPr>
          <a:lstStyle/>
          <a:p>
            <a:pPr algn="l">
              <a:defRPr sz="1200" b="0">
                <a:solidFill>
                  <a:srgbClr val="FFFFFF"/>
                </a:solidFill>
                <a:latin typeface="Calibri"/>
              </a:defRPr>
            </a:pPr>
            <a:r>
              <a:t>Professional digital presence positioning Alpha Umi as THE go-to advisor for business owner wealth management in NYC tri-state area.</a:t>
            </a:r>
          </a:p>
        </p:txBody>
      </p:sp>
      <p:sp>
        <p:nvSpPr>
          <p:cNvPr id="8" name="Rounded Rectangle 7"/>
          <p:cNvSpPr/>
          <p:nvPr/>
        </p:nvSpPr>
        <p:spPr>
          <a:xfrm>
            <a:off x="457200" y="2286000"/>
            <a:ext cx="7589520" cy="20116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377440"/>
            <a:ext cx="7223760" cy="274320"/>
          </a:xfrm>
          <a:prstGeom prst="rect">
            <a:avLst/>
          </a:prstGeom>
          <a:noFill/>
        </p:spPr>
        <p:txBody>
          <a:bodyPr wrap="square">
            <a:spAutoFit/>
          </a:bodyPr>
          <a:lstStyle/>
          <a:p>
            <a:pPr algn="l">
              <a:defRPr sz="1200" b="1">
                <a:solidFill>
                  <a:srgbClr val="F59E0B"/>
                </a:solidFill>
                <a:latin typeface="Calibri"/>
              </a:defRPr>
            </a:pPr>
            <a:r>
              <a:t>Key Components:</a:t>
            </a:r>
          </a:p>
        </p:txBody>
      </p:sp>
      <p:sp>
        <p:nvSpPr>
          <p:cNvPr id="10" name="TextBox 9"/>
          <p:cNvSpPr txBox="1"/>
          <p:nvPr/>
        </p:nvSpPr>
        <p:spPr>
          <a:xfrm>
            <a:off x="640080" y="2743200"/>
            <a:ext cx="7223760" cy="274320"/>
          </a:xfrm>
          <a:prstGeom prst="rect">
            <a:avLst/>
          </a:prstGeom>
          <a:noFill/>
        </p:spPr>
        <p:txBody>
          <a:bodyPr wrap="square">
            <a:spAutoFit/>
          </a:bodyPr>
          <a:lstStyle/>
          <a:p>
            <a:pPr algn="l">
              <a:defRPr sz="1100" b="0">
                <a:solidFill>
                  <a:srgbClr val="FFFFFF"/>
                </a:solidFill>
                <a:latin typeface="Calibri"/>
              </a:defRPr>
            </a:pPr>
            <a:r>
              <a:t>• Custom website optimized for business owner search terms</a:t>
            </a:r>
          </a:p>
        </p:txBody>
      </p:sp>
      <p:sp>
        <p:nvSpPr>
          <p:cNvPr id="11" name="TextBox 10"/>
          <p:cNvSpPr txBox="1"/>
          <p:nvPr/>
        </p:nvSpPr>
        <p:spPr>
          <a:xfrm>
            <a:off x="640080" y="3063240"/>
            <a:ext cx="7223760" cy="274320"/>
          </a:xfrm>
          <a:prstGeom prst="rect">
            <a:avLst/>
          </a:prstGeom>
          <a:noFill/>
        </p:spPr>
        <p:txBody>
          <a:bodyPr wrap="square">
            <a:spAutoFit/>
          </a:bodyPr>
          <a:lstStyle/>
          <a:p>
            <a:pPr algn="l">
              <a:defRPr sz="1100" b="0">
                <a:solidFill>
                  <a:srgbClr val="FFFFFF"/>
                </a:solidFill>
                <a:latin typeface="Calibri"/>
              </a:defRPr>
            </a:pPr>
            <a:r>
              <a:t>• SEO strategy for NYC, Long Island, Connecticut</a:t>
            </a:r>
          </a:p>
        </p:txBody>
      </p:sp>
      <p:sp>
        <p:nvSpPr>
          <p:cNvPr id="12" name="TextBox 11"/>
          <p:cNvSpPr txBox="1"/>
          <p:nvPr/>
        </p:nvSpPr>
        <p:spPr>
          <a:xfrm>
            <a:off x="640080" y="3383280"/>
            <a:ext cx="7223760" cy="274320"/>
          </a:xfrm>
          <a:prstGeom prst="rect">
            <a:avLst/>
          </a:prstGeom>
          <a:noFill/>
        </p:spPr>
        <p:txBody>
          <a:bodyPr wrap="square">
            <a:spAutoFit/>
          </a:bodyPr>
          <a:lstStyle/>
          <a:p>
            <a:pPr algn="l">
              <a:defRPr sz="1100" b="0">
                <a:solidFill>
                  <a:srgbClr val="FFFFFF"/>
                </a:solidFill>
                <a:latin typeface="Calibri"/>
              </a:defRPr>
            </a:pPr>
            <a:r>
              <a:t>• LinkedIn profile optimization and content calendar</a:t>
            </a:r>
          </a:p>
        </p:txBody>
      </p:sp>
      <p:sp>
        <p:nvSpPr>
          <p:cNvPr id="13" name="TextBox 12"/>
          <p:cNvSpPr txBox="1"/>
          <p:nvPr/>
        </p:nvSpPr>
        <p:spPr>
          <a:xfrm>
            <a:off x="640080" y="3703320"/>
            <a:ext cx="7223760" cy="274320"/>
          </a:xfrm>
          <a:prstGeom prst="rect">
            <a:avLst/>
          </a:prstGeom>
          <a:noFill/>
        </p:spPr>
        <p:txBody>
          <a:bodyPr wrap="square">
            <a:spAutoFit/>
          </a:bodyPr>
          <a:lstStyle/>
          <a:p>
            <a:pPr algn="l">
              <a:defRPr sz="1100" b="0">
                <a:solidFill>
                  <a:srgbClr val="FFFFFF"/>
                </a:solidFill>
                <a:latin typeface="Calibri"/>
              </a:defRPr>
            </a:pPr>
            <a:r>
              <a:t>• AI-generated thought leadership content</a:t>
            </a:r>
          </a:p>
        </p:txBody>
      </p:sp>
      <p:sp>
        <p:nvSpPr>
          <p:cNvPr id="14" name="TextBox 13"/>
          <p:cNvSpPr txBox="1"/>
          <p:nvPr/>
        </p:nvSpPr>
        <p:spPr>
          <a:xfrm>
            <a:off x="640080" y="4023359"/>
            <a:ext cx="7223760" cy="274320"/>
          </a:xfrm>
          <a:prstGeom prst="rect">
            <a:avLst/>
          </a:prstGeom>
          <a:noFill/>
        </p:spPr>
        <p:txBody>
          <a:bodyPr wrap="square">
            <a:spAutoFit/>
          </a:bodyPr>
          <a:lstStyle/>
          <a:p>
            <a:pPr algn="l">
              <a:defRPr sz="1100" b="0">
                <a:solidFill>
                  <a:srgbClr val="FFFFFF"/>
                </a:solidFill>
                <a:latin typeface="Calibri"/>
              </a:defRPr>
            </a:pPr>
            <a:r>
              <a:t>• Testimonial showcase system</a:t>
            </a:r>
          </a:p>
        </p:txBody>
      </p:sp>
      <p:sp>
        <p:nvSpPr>
          <p:cNvPr id="15" name="Rounded Rectangle 14"/>
          <p:cNvSpPr/>
          <p:nvPr/>
        </p:nvSpPr>
        <p:spPr>
          <a:xfrm>
            <a:off x="8229600" y="100584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143000"/>
            <a:ext cx="3291840" cy="228600"/>
          </a:xfrm>
          <a:prstGeom prst="rect">
            <a:avLst/>
          </a:prstGeom>
          <a:noFill/>
        </p:spPr>
        <p:txBody>
          <a:bodyPr wrap="square">
            <a:spAutoFit/>
          </a:bodyPr>
          <a:lstStyle/>
          <a:p>
            <a:pPr algn="ctr">
              <a:defRPr sz="1000" b="0">
                <a:solidFill>
                  <a:srgbClr val="94A3B8"/>
                </a:solidFill>
                <a:latin typeface="Calibri"/>
              </a:defRPr>
            </a:pPr>
            <a:r>
              <a:t>Online Research</a:t>
            </a:r>
          </a:p>
        </p:txBody>
      </p:sp>
      <p:sp>
        <p:nvSpPr>
          <p:cNvPr id="17" name="TextBox 16"/>
          <p:cNvSpPr txBox="1"/>
          <p:nvPr/>
        </p:nvSpPr>
        <p:spPr>
          <a:xfrm>
            <a:off x="8321040" y="1371600"/>
            <a:ext cx="3291840" cy="457200"/>
          </a:xfrm>
          <a:prstGeom prst="rect">
            <a:avLst/>
          </a:prstGeom>
          <a:noFill/>
        </p:spPr>
        <p:txBody>
          <a:bodyPr wrap="square">
            <a:spAutoFit/>
          </a:bodyPr>
          <a:lstStyle/>
          <a:p>
            <a:pPr algn="ctr">
              <a:defRPr sz="2800" b="1">
                <a:solidFill>
                  <a:srgbClr val="22C55E"/>
                </a:solidFill>
                <a:latin typeface="Calibri"/>
              </a:defRPr>
            </a:pPr>
            <a:r>
              <a:t>89%</a:t>
            </a:r>
          </a:p>
        </p:txBody>
      </p:sp>
      <p:sp>
        <p:nvSpPr>
          <p:cNvPr id="18" name="TextBox 17"/>
          <p:cNvSpPr txBox="1"/>
          <p:nvPr/>
        </p:nvSpPr>
        <p:spPr>
          <a:xfrm>
            <a:off x="8321040" y="1828800"/>
            <a:ext cx="3291840" cy="228600"/>
          </a:xfrm>
          <a:prstGeom prst="rect">
            <a:avLst/>
          </a:prstGeom>
          <a:noFill/>
        </p:spPr>
        <p:txBody>
          <a:bodyPr wrap="square">
            <a:spAutoFit/>
          </a:bodyPr>
          <a:lstStyle/>
          <a:p>
            <a:pPr algn="ctr">
              <a:defRPr sz="1000" b="0">
                <a:solidFill>
                  <a:srgbClr val="94A3B8"/>
                </a:solidFill>
                <a:latin typeface="Calibri"/>
              </a:defRPr>
            </a:pPr>
            <a:r>
              <a:t>Before Contact</a:t>
            </a:r>
          </a:p>
        </p:txBody>
      </p:sp>
      <p:sp>
        <p:nvSpPr>
          <p:cNvPr id="19" name="Rounded Rectangle 18"/>
          <p:cNvSpPr/>
          <p:nvPr/>
        </p:nvSpPr>
        <p:spPr>
          <a:xfrm>
            <a:off x="8229600" y="228600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423160"/>
            <a:ext cx="3291840" cy="228600"/>
          </a:xfrm>
          <a:prstGeom prst="rect">
            <a:avLst/>
          </a:prstGeom>
          <a:noFill/>
        </p:spPr>
        <p:txBody>
          <a:bodyPr wrap="square">
            <a:spAutoFit/>
          </a:bodyPr>
          <a:lstStyle/>
          <a:p>
            <a:pPr algn="ctr">
              <a:defRPr sz="1000" b="0">
                <a:solidFill>
                  <a:srgbClr val="94A3B8"/>
                </a:solidFill>
                <a:latin typeface="Calibri"/>
              </a:defRPr>
            </a:pPr>
            <a:r>
              <a:t>SEO Target</a:t>
            </a:r>
          </a:p>
        </p:txBody>
      </p:sp>
      <p:sp>
        <p:nvSpPr>
          <p:cNvPr id="21" name="TextBox 20"/>
          <p:cNvSpPr txBox="1"/>
          <p:nvPr/>
        </p:nvSpPr>
        <p:spPr>
          <a:xfrm>
            <a:off x="8321040" y="2651760"/>
            <a:ext cx="3291840" cy="457200"/>
          </a:xfrm>
          <a:prstGeom prst="rect">
            <a:avLst/>
          </a:prstGeom>
          <a:noFill/>
        </p:spPr>
        <p:txBody>
          <a:bodyPr wrap="square">
            <a:spAutoFit/>
          </a:bodyPr>
          <a:lstStyle/>
          <a:p>
            <a:pPr algn="ctr">
              <a:defRPr sz="2800" b="1">
                <a:solidFill>
                  <a:srgbClr val="22C55E"/>
                </a:solidFill>
                <a:latin typeface="Calibri"/>
              </a:defRPr>
            </a:pPr>
            <a:r>
              <a:t>Top 3</a:t>
            </a:r>
          </a:p>
        </p:txBody>
      </p:sp>
      <p:sp>
        <p:nvSpPr>
          <p:cNvPr id="22" name="TextBox 21"/>
          <p:cNvSpPr txBox="1"/>
          <p:nvPr/>
        </p:nvSpPr>
        <p:spPr>
          <a:xfrm>
            <a:off x="8321040" y="3108960"/>
            <a:ext cx="3291840" cy="228600"/>
          </a:xfrm>
          <a:prstGeom prst="rect">
            <a:avLst/>
          </a:prstGeom>
          <a:noFill/>
        </p:spPr>
        <p:txBody>
          <a:bodyPr wrap="square">
            <a:spAutoFit/>
          </a:bodyPr>
          <a:lstStyle/>
          <a:p>
            <a:pPr algn="ctr">
              <a:defRPr sz="1000" b="0">
                <a:solidFill>
                  <a:srgbClr val="94A3B8"/>
                </a:solidFill>
                <a:latin typeface="Calibri"/>
              </a:defRPr>
            </a:pPr>
            <a:r>
              <a:t>For Key Terms</a:t>
            </a:r>
          </a:p>
        </p:txBody>
      </p:sp>
      <p:sp>
        <p:nvSpPr>
          <p:cNvPr id="23" name="Rounded Rectangle 22"/>
          <p:cNvSpPr/>
          <p:nvPr/>
        </p:nvSpPr>
        <p:spPr>
          <a:xfrm>
            <a:off x="8229600" y="356616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703320"/>
            <a:ext cx="3291840" cy="228600"/>
          </a:xfrm>
          <a:prstGeom prst="rect">
            <a:avLst/>
          </a:prstGeom>
          <a:noFill/>
        </p:spPr>
        <p:txBody>
          <a:bodyPr wrap="square">
            <a:spAutoFit/>
          </a:bodyPr>
          <a:lstStyle/>
          <a:p>
            <a:pPr algn="ctr">
              <a:defRPr sz="1000" b="0">
                <a:solidFill>
                  <a:srgbClr val="94A3B8"/>
                </a:solidFill>
                <a:latin typeface="Calibri"/>
              </a:defRPr>
            </a:pPr>
            <a:r>
              <a:t>Timeline</a:t>
            </a:r>
          </a:p>
        </p:txBody>
      </p:sp>
      <p:sp>
        <p:nvSpPr>
          <p:cNvPr id="25" name="TextBox 24"/>
          <p:cNvSpPr txBox="1"/>
          <p:nvPr/>
        </p:nvSpPr>
        <p:spPr>
          <a:xfrm>
            <a:off x="8321040" y="3931920"/>
            <a:ext cx="3291840" cy="457200"/>
          </a:xfrm>
          <a:prstGeom prst="rect">
            <a:avLst/>
          </a:prstGeom>
          <a:noFill/>
        </p:spPr>
        <p:txBody>
          <a:bodyPr wrap="square">
            <a:spAutoFit/>
          </a:bodyPr>
          <a:lstStyle/>
          <a:p>
            <a:pPr algn="ctr">
              <a:defRPr sz="2800" b="1">
                <a:solidFill>
                  <a:srgbClr val="22C55E"/>
                </a:solidFill>
                <a:latin typeface="Calibri"/>
              </a:defRPr>
            </a:pPr>
            <a:r>
              <a:t>6 mo</a:t>
            </a:r>
          </a:p>
        </p:txBody>
      </p:sp>
      <p:sp>
        <p:nvSpPr>
          <p:cNvPr id="26" name="TextBox 25"/>
          <p:cNvSpPr txBox="1"/>
          <p:nvPr/>
        </p:nvSpPr>
        <p:spPr>
          <a:xfrm>
            <a:off x="8321040" y="4389120"/>
            <a:ext cx="3291840" cy="228600"/>
          </a:xfrm>
          <a:prstGeom prst="rect">
            <a:avLst/>
          </a:prstGeom>
          <a:noFill/>
        </p:spPr>
        <p:txBody>
          <a:bodyPr wrap="square">
            <a:spAutoFit/>
          </a:bodyPr>
          <a:lstStyle/>
          <a:p>
            <a:pPr algn="ctr">
              <a:defRPr sz="1000" b="0">
                <a:solidFill>
                  <a:srgbClr val="94A3B8"/>
                </a:solidFill>
                <a:latin typeface="Calibri"/>
              </a:defRPr>
            </a:pPr>
            <a:r>
              <a:t>To Authority</a:t>
            </a:r>
          </a:p>
        </p:txBody>
      </p:sp>
      <p:sp>
        <p:nvSpPr>
          <p:cNvPr id="27" name="TextBox 26"/>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2800" b="1">
                <a:solidFill>
                  <a:srgbClr val="FFFFFF"/>
                </a:solidFill>
                <a:latin typeface="Calibri"/>
              </a:defRPr>
            </a:pPr>
            <a:r>
              <a:t>Pillar 6: Client Service Automation</a:t>
            </a:r>
          </a:p>
        </p:txBody>
      </p:sp>
      <p:sp>
        <p:nvSpPr>
          <p:cNvPr id="4" name="Rectangle 3"/>
          <p:cNvSpPr/>
          <p:nvPr/>
        </p:nvSpPr>
        <p:spPr>
          <a:xfrm>
            <a:off x="457200" y="777240"/>
            <a:ext cx="73152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7589520" cy="1188720"/>
          </a:xfrm>
          <a:prstGeom prst="roundRect">
            <a:avLst/>
          </a:prstGeom>
          <a:solidFill>
            <a:srgbClr val="0D284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97280"/>
            <a:ext cx="7223760" cy="274320"/>
          </a:xfrm>
          <a:prstGeom prst="rect">
            <a:avLst/>
          </a:prstGeom>
          <a:noFill/>
        </p:spPr>
        <p:txBody>
          <a:bodyPr wrap="square">
            <a:spAutoFit/>
          </a:bodyPr>
          <a:lstStyle/>
          <a:p>
            <a:pPr algn="l">
              <a:defRPr sz="1200" b="1">
                <a:solidFill>
                  <a:srgbClr val="06B6D4"/>
                </a:solidFill>
                <a:latin typeface="Calibri"/>
              </a:defRPr>
            </a:pPr>
            <a:r>
              <a:t>Pain Points Addressed: #1, #3, #14, #6</a:t>
            </a:r>
          </a:p>
        </p:txBody>
      </p:sp>
      <p:sp>
        <p:nvSpPr>
          <p:cNvPr id="7" name="TextBox 6"/>
          <p:cNvSpPr txBox="1"/>
          <p:nvPr/>
        </p:nvSpPr>
        <p:spPr>
          <a:xfrm>
            <a:off x="640080" y="1371600"/>
            <a:ext cx="7223760" cy="731520"/>
          </a:xfrm>
          <a:prstGeom prst="rect">
            <a:avLst/>
          </a:prstGeom>
          <a:noFill/>
        </p:spPr>
        <p:txBody>
          <a:bodyPr wrap="square">
            <a:spAutoFit/>
          </a:bodyPr>
          <a:lstStyle/>
          <a:p>
            <a:pPr algn="l">
              <a:defRPr sz="1200" b="0">
                <a:solidFill>
                  <a:srgbClr val="FFFFFF"/>
                </a:solidFill>
                <a:latin typeface="Calibri"/>
              </a:defRPr>
            </a:pPr>
            <a:r>
              <a:t>AI-powered client service handling routine communications, scheduling, document collection, and follow-ups automatically.</a:t>
            </a:r>
          </a:p>
        </p:txBody>
      </p:sp>
      <p:sp>
        <p:nvSpPr>
          <p:cNvPr id="8" name="Rounded Rectangle 7"/>
          <p:cNvSpPr/>
          <p:nvPr/>
        </p:nvSpPr>
        <p:spPr>
          <a:xfrm>
            <a:off x="457200" y="2286000"/>
            <a:ext cx="7589520" cy="20116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377440"/>
            <a:ext cx="7223760" cy="274320"/>
          </a:xfrm>
          <a:prstGeom prst="rect">
            <a:avLst/>
          </a:prstGeom>
          <a:noFill/>
        </p:spPr>
        <p:txBody>
          <a:bodyPr wrap="square">
            <a:spAutoFit/>
          </a:bodyPr>
          <a:lstStyle/>
          <a:p>
            <a:pPr algn="l">
              <a:defRPr sz="1200" b="1">
                <a:solidFill>
                  <a:srgbClr val="F59E0B"/>
                </a:solidFill>
                <a:latin typeface="Calibri"/>
              </a:defRPr>
            </a:pPr>
            <a:r>
              <a:t>Key Components:</a:t>
            </a:r>
          </a:p>
        </p:txBody>
      </p:sp>
      <p:sp>
        <p:nvSpPr>
          <p:cNvPr id="10" name="TextBox 9"/>
          <p:cNvSpPr txBox="1"/>
          <p:nvPr/>
        </p:nvSpPr>
        <p:spPr>
          <a:xfrm>
            <a:off x="640080" y="2743200"/>
            <a:ext cx="7223760" cy="274320"/>
          </a:xfrm>
          <a:prstGeom prst="rect">
            <a:avLst/>
          </a:prstGeom>
          <a:noFill/>
        </p:spPr>
        <p:txBody>
          <a:bodyPr wrap="square">
            <a:spAutoFit/>
          </a:bodyPr>
          <a:lstStyle/>
          <a:p>
            <a:pPr algn="l">
              <a:defRPr sz="1100" b="0">
                <a:solidFill>
                  <a:srgbClr val="FFFFFF"/>
                </a:solidFill>
                <a:latin typeface="Calibri"/>
              </a:defRPr>
            </a:pPr>
            <a:r>
              <a:t>• AI chatbot for client FAQ and inquiries</a:t>
            </a:r>
          </a:p>
        </p:txBody>
      </p:sp>
      <p:sp>
        <p:nvSpPr>
          <p:cNvPr id="11" name="TextBox 10"/>
          <p:cNvSpPr txBox="1"/>
          <p:nvPr/>
        </p:nvSpPr>
        <p:spPr>
          <a:xfrm>
            <a:off x="640080" y="3063240"/>
            <a:ext cx="7223760" cy="274320"/>
          </a:xfrm>
          <a:prstGeom prst="rect">
            <a:avLst/>
          </a:prstGeom>
          <a:noFill/>
        </p:spPr>
        <p:txBody>
          <a:bodyPr wrap="square">
            <a:spAutoFit/>
          </a:bodyPr>
          <a:lstStyle/>
          <a:p>
            <a:pPr algn="l">
              <a:defRPr sz="1100" b="0">
                <a:solidFill>
                  <a:srgbClr val="FFFFFF"/>
                </a:solidFill>
                <a:latin typeface="Calibri"/>
              </a:defRPr>
            </a:pPr>
            <a:r>
              <a:t>• Automated scheduling and reminders</a:t>
            </a:r>
          </a:p>
        </p:txBody>
      </p:sp>
      <p:sp>
        <p:nvSpPr>
          <p:cNvPr id="12" name="TextBox 11"/>
          <p:cNvSpPr txBox="1"/>
          <p:nvPr/>
        </p:nvSpPr>
        <p:spPr>
          <a:xfrm>
            <a:off x="640080" y="3383280"/>
            <a:ext cx="7223760" cy="274320"/>
          </a:xfrm>
          <a:prstGeom prst="rect">
            <a:avLst/>
          </a:prstGeom>
          <a:noFill/>
        </p:spPr>
        <p:txBody>
          <a:bodyPr wrap="square">
            <a:spAutoFit/>
          </a:bodyPr>
          <a:lstStyle/>
          <a:p>
            <a:pPr algn="l">
              <a:defRPr sz="1100" b="0">
                <a:solidFill>
                  <a:srgbClr val="FFFFFF"/>
                </a:solidFill>
                <a:latin typeface="Calibri"/>
              </a:defRPr>
            </a:pPr>
            <a:r>
              <a:t>• Document request and collection workflows</a:t>
            </a:r>
          </a:p>
        </p:txBody>
      </p:sp>
      <p:sp>
        <p:nvSpPr>
          <p:cNvPr id="13" name="TextBox 12"/>
          <p:cNvSpPr txBox="1"/>
          <p:nvPr/>
        </p:nvSpPr>
        <p:spPr>
          <a:xfrm>
            <a:off x="640080" y="3703320"/>
            <a:ext cx="7223760" cy="274320"/>
          </a:xfrm>
          <a:prstGeom prst="rect">
            <a:avLst/>
          </a:prstGeom>
          <a:noFill/>
        </p:spPr>
        <p:txBody>
          <a:bodyPr wrap="square">
            <a:spAutoFit/>
          </a:bodyPr>
          <a:lstStyle/>
          <a:p>
            <a:pPr algn="l">
              <a:defRPr sz="1100" b="0">
                <a:solidFill>
                  <a:srgbClr val="FFFFFF"/>
                </a:solidFill>
                <a:latin typeface="Calibri"/>
              </a:defRPr>
            </a:pPr>
            <a:r>
              <a:t>• Compliance documentation automation</a:t>
            </a:r>
          </a:p>
        </p:txBody>
      </p:sp>
      <p:sp>
        <p:nvSpPr>
          <p:cNvPr id="14" name="TextBox 13"/>
          <p:cNvSpPr txBox="1"/>
          <p:nvPr/>
        </p:nvSpPr>
        <p:spPr>
          <a:xfrm>
            <a:off x="640080" y="4023359"/>
            <a:ext cx="7223760" cy="274320"/>
          </a:xfrm>
          <a:prstGeom prst="rect">
            <a:avLst/>
          </a:prstGeom>
          <a:noFill/>
        </p:spPr>
        <p:txBody>
          <a:bodyPr wrap="square">
            <a:spAutoFit/>
          </a:bodyPr>
          <a:lstStyle/>
          <a:p>
            <a:pPr algn="l">
              <a:defRPr sz="1100" b="0">
                <a:solidFill>
                  <a:srgbClr val="FFFFFF"/>
                </a:solidFill>
                <a:latin typeface="Calibri"/>
              </a:defRPr>
            </a:pPr>
            <a:r>
              <a:t>• Billing and payment reminders</a:t>
            </a:r>
          </a:p>
        </p:txBody>
      </p:sp>
      <p:sp>
        <p:nvSpPr>
          <p:cNvPr id="15" name="Rounded Rectangle 14"/>
          <p:cNvSpPr/>
          <p:nvPr/>
        </p:nvSpPr>
        <p:spPr>
          <a:xfrm>
            <a:off x="8229600" y="100584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143000"/>
            <a:ext cx="3291840" cy="228600"/>
          </a:xfrm>
          <a:prstGeom prst="rect">
            <a:avLst/>
          </a:prstGeom>
          <a:noFill/>
        </p:spPr>
        <p:txBody>
          <a:bodyPr wrap="square">
            <a:spAutoFit/>
          </a:bodyPr>
          <a:lstStyle/>
          <a:p>
            <a:pPr algn="ctr">
              <a:defRPr sz="1000" b="0">
                <a:solidFill>
                  <a:srgbClr val="94A3B8"/>
                </a:solidFill>
                <a:latin typeface="Calibri"/>
              </a:defRPr>
            </a:pPr>
            <a:r>
              <a:t>Assistant Value</a:t>
            </a:r>
          </a:p>
        </p:txBody>
      </p:sp>
      <p:sp>
        <p:nvSpPr>
          <p:cNvPr id="17" name="TextBox 16"/>
          <p:cNvSpPr txBox="1"/>
          <p:nvPr/>
        </p:nvSpPr>
        <p:spPr>
          <a:xfrm>
            <a:off x="8321040" y="1371600"/>
            <a:ext cx="3291840" cy="457200"/>
          </a:xfrm>
          <a:prstGeom prst="rect">
            <a:avLst/>
          </a:prstGeom>
          <a:noFill/>
        </p:spPr>
        <p:txBody>
          <a:bodyPr wrap="square">
            <a:spAutoFit/>
          </a:bodyPr>
          <a:lstStyle/>
          <a:p>
            <a:pPr algn="ctr">
              <a:defRPr sz="2800" b="1">
                <a:solidFill>
                  <a:srgbClr val="22C55E"/>
                </a:solidFill>
                <a:latin typeface="Calibri"/>
              </a:defRPr>
            </a:pPr>
            <a:r>
              <a:t>$75K</a:t>
            </a:r>
          </a:p>
        </p:txBody>
      </p:sp>
      <p:sp>
        <p:nvSpPr>
          <p:cNvPr id="18" name="TextBox 17"/>
          <p:cNvSpPr txBox="1"/>
          <p:nvPr/>
        </p:nvSpPr>
        <p:spPr>
          <a:xfrm>
            <a:off x="8321040" y="1828800"/>
            <a:ext cx="3291840" cy="228600"/>
          </a:xfrm>
          <a:prstGeom prst="rect">
            <a:avLst/>
          </a:prstGeom>
          <a:noFill/>
        </p:spPr>
        <p:txBody>
          <a:bodyPr wrap="square">
            <a:spAutoFit/>
          </a:bodyPr>
          <a:lstStyle/>
          <a:p>
            <a:pPr algn="ctr">
              <a:defRPr sz="1000" b="0">
                <a:solidFill>
                  <a:srgbClr val="94A3B8"/>
                </a:solidFill>
                <a:latin typeface="Calibri"/>
              </a:defRPr>
            </a:pPr>
            <a:r>
              <a:t>Annual</a:t>
            </a:r>
          </a:p>
        </p:txBody>
      </p:sp>
      <p:sp>
        <p:nvSpPr>
          <p:cNvPr id="19" name="Rounded Rectangle 18"/>
          <p:cNvSpPr/>
          <p:nvPr/>
        </p:nvSpPr>
        <p:spPr>
          <a:xfrm>
            <a:off x="8229600" y="228600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423160"/>
            <a:ext cx="3291840" cy="228600"/>
          </a:xfrm>
          <a:prstGeom prst="rect">
            <a:avLst/>
          </a:prstGeom>
          <a:noFill/>
        </p:spPr>
        <p:txBody>
          <a:bodyPr wrap="square">
            <a:spAutoFit/>
          </a:bodyPr>
          <a:lstStyle/>
          <a:p>
            <a:pPr algn="ctr">
              <a:defRPr sz="1000" b="0">
                <a:solidFill>
                  <a:srgbClr val="94A3B8"/>
                </a:solidFill>
                <a:latin typeface="Calibri"/>
              </a:defRPr>
            </a:pPr>
            <a:r>
              <a:t>Admin Reduced</a:t>
            </a:r>
          </a:p>
        </p:txBody>
      </p:sp>
      <p:sp>
        <p:nvSpPr>
          <p:cNvPr id="21" name="TextBox 20"/>
          <p:cNvSpPr txBox="1"/>
          <p:nvPr/>
        </p:nvSpPr>
        <p:spPr>
          <a:xfrm>
            <a:off x="8321040" y="2651760"/>
            <a:ext cx="3291840" cy="457200"/>
          </a:xfrm>
          <a:prstGeom prst="rect">
            <a:avLst/>
          </a:prstGeom>
          <a:noFill/>
        </p:spPr>
        <p:txBody>
          <a:bodyPr wrap="square">
            <a:spAutoFit/>
          </a:bodyPr>
          <a:lstStyle/>
          <a:p>
            <a:pPr algn="ctr">
              <a:defRPr sz="2800" b="1">
                <a:solidFill>
                  <a:srgbClr val="22C55E"/>
                </a:solidFill>
                <a:latin typeface="Calibri"/>
              </a:defRPr>
            </a:pPr>
            <a:r>
              <a:t>15+</a:t>
            </a:r>
          </a:p>
        </p:txBody>
      </p:sp>
      <p:sp>
        <p:nvSpPr>
          <p:cNvPr id="22" name="TextBox 21"/>
          <p:cNvSpPr txBox="1"/>
          <p:nvPr/>
        </p:nvSpPr>
        <p:spPr>
          <a:xfrm>
            <a:off x="8321040" y="3108960"/>
            <a:ext cx="3291840" cy="228600"/>
          </a:xfrm>
          <a:prstGeom prst="rect">
            <a:avLst/>
          </a:prstGeom>
          <a:noFill/>
        </p:spPr>
        <p:txBody>
          <a:bodyPr wrap="square">
            <a:spAutoFit/>
          </a:bodyPr>
          <a:lstStyle/>
          <a:p>
            <a:pPr algn="ctr">
              <a:defRPr sz="1000" b="0">
                <a:solidFill>
                  <a:srgbClr val="94A3B8"/>
                </a:solidFill>
                <a:latin typeface="Calibri"/>
              </a:defRPr>
            </a:pPr>
            <a:r>
              <a:t>Hrs/Week</a:t>
            </a:r>
          </a:p>
        </p:txBody>
      </p:sp>
      <p:sp>
        <p:nvSpPr>
          <p:cNvPr id="23" name="Rounded Rectangle 22"/>
          <p:cNvSpPr/>
          <p:nvPr/>
        </p:nvSpPr>
        <p:spPr>
          <a:xfrm>
            <a:off x="8229600" y="3566160"/>
            <a:ext cx="347472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703320"/>
            <a:ext cx="3291840" cy="228600"/>
          </a:xfrm>
          <a:prstGeom prst="rect">
            <a:avLst/>
          </a:prstGeom>
          <a:noFill/>
        </p:spPr>
        <p:txBody>
          <a:bodyPr wrap="square">
            <a:spAutoFit/>
          </a:bodyPr>
          <a:lstStyle/>
          <a:p>
            <a:pPr algn="ctr">
              <a:defRPr sz="1000" b="0">
                <a:solidFill>
                  <a:srgbClr val="94A3B8"/>
                </a:solidFill>
                <a:latin typeface="Calibri"/>
              </a:defRPr>
            </a:pPr>
            <a:r>
              <a:t>DSO Improved</a:t>
            </a:r>
          </a:p>
        </p:txBody>
      </p:sp>
      <p:sp>
        <p:nvSpPr>
          <p:cNvPr id="25" name="TextBox 24"/>
          <p:cNvSpPr txBox="1"/>
          <p:nvPr/>
        </p:nvSpPr>
        <p:spPr>
          <a:xfrm>
            <a:off x="8321040" y="3931920"/>
            <a:ext cx="3291840" cy="457200"/>
          </a:xfrm>
          <a:prstGeom prst="rect">
            <a:avLst/>
          </a:prstGeom>
          <a:noFill/>
        </p:spPr>
        <p:txBody>
          <a:bodyPr wrap="square">
            <a:spAutoFit/>
          </a:bodyPr>
          <a:lstStyle/>
          <a:p>
            <a:pPr algn="ctr">
              <a:defRPr sz="2800" b="1">
                <a:solidFill>
                  <a:srgbClr val="22C55E"/>
                </a:solidFill>
                <a:latin typeface="Calibri"/>
              </a:defRPr>
            </a:pPr>
            <a:r>
              <a:t>30-60</a:t>
            </a:r>
          </a:p>
        </p:txBody>
      </p:sp>
      <p:sp>
        <p:nvSpPr>
          <p:cNvPr id="26" name="TextBox 25"/>
          <p:cNvSpPr txBox="1"/>
          <p:nvPr/>
        </p:nvSpPr>
        <p:spPr>
          <a:xfrm>
            <a:off x="8321040" y="4389120"/>
            <a:ext cx="3291840" cy="228600"/>
          </a:xfrm>
          <a:prstGeom prst="rect">
            <a:avLst/>
          </a:prstGeom>
          <a:noFill/>
        </p:spPr>
        <p:txBody>
          <a:bodyPr wrap="square">
            <a:spAutoFit/>
          </a:bodyPr>
          <a:lstStyle/>
          <a:p>
            <a:pPr algn="ctr">
              <a:defRPr sz="1000" b="0">
                <a:solidFill>
                  <a:srgbClr val="94A3B8"/>
                </a:solidFill>
                <a:latin typeface="Calibri"/>
              </a:defRPr>
            </a:pPr>
            <a:r>
              <a:t>Days Faster</a:t>
            </a:r>
          </a:p>
        </p:txBody>
      </p:sp>
      <p:sp>
        <p:nvSpPr>
          <p:cNvPr id="27" name="TextBox 26"/>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Time Recovery Summary</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005840"/>
            <a:ext cx="11247120" cy="411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78992"/>
            <a:ext cx="4572000" cy="274320"/>
          </a:xfrm>
          <a:prstGeom prst="rect">
            <a:avLst/>
          </a:prstGeom>
          <a:noFill/>
        </p:spPr>
        <p:txBody>
          <a:bodyPr wrap="square">
            <a:spAutoFit/>
          </a:bodyPr>
          <a:lstStyle/>
          <a:p>
            <a:pPr algn="l">
              <a:defRPr sz="1200" b="1">
                <a:solidFill>
                  <a:srgbClr val="FFFFFF"/>
                </a:solidFill>
                <a:latin typeface="Calibri"/>
              </a:defRPr>
            </a:pPr>
            <a:r>
              <a:t>Task Category</a:t>
            </a:r>
          </a:p>
        </p:txBody>
      </p:sp>
      <p:sp>
        <p:nvSpPr>
          <p:cNvPr id="7" name="TextBox 6"/>
          <p:cNvSpPr txBox="1"/>
          <p:nvPr/>
        </p:nvSpPr>
        <p:spPr>
          <a:xfrm>
            <a:off x="5303520" y="1078992"/>
            <a:ext cx="2011680" cy="274320"/>
          </a:xfrm>
          <a:prstGeom prst="rect">
            <a:avLst/>
          </a:prstGeom>
          <a:noFill/>
        </p:spPr>
        <p:txBody>
          <a:bodyPr wrap="square">
            <a:spAutoFit/>
          </a:bodyPr>
          <a:lstStyle/>
          <a:p>
            <a:pPr algn="ctr">
              <a:defRPr sz="1200" b="1">
                <a:solidFill>
                  <a:srgbClr val="FFFFFF"/>
                </a:solidFill>
                <a:latin typeface="Calibri"/>
              </a:defRPr>
            </a:pPr>
            <a:r>
              <a:t>Current</a:t>
            </a:r>
          </a:p>
        </p:txBody>
      </p:sp>
      <p:sp>
        <p:nvSpPr>
          <p:cNvPr id="8" name="TextBox 7"/>
          <p:cNvSpPr txBox="1"/>
          <p:nvPr/>
        </p:nvSpPr>
        <p:spPr>
          <a:xfrm>
            <a:off x="7406640" y="1078992"/>
            <a:ext cx="2011680" cy="274320"/>
          </a:xfrm>
          <a:prstGeom prst="rect">
            <a:avLst/>
          </a:prstGeom>
          <a:noFill/>
        </p:spPr>
        <p:txBody>
          <a:bodyPr wrap="square">
            <a:spAutoFit/>
          </a:bodyPr>
          <a:lstStyle/>
          <a:p>
            <a:pPr algn="ctr">
              <a:defRPr sz="1200" b="1">
                <a:solidFill>
                  <a:srgbClr val="FFFFFF"/>
                </a:solidFill>
                <a:latin typeface="Calibri"/>
              </a:defRPr>
            </a:pPr>
            <a:r>
              <a:t>After</a:t>
            </a:r>
          </a:p>
        </p:txBody>
      </p:sp>
      <p:sp>
        <p:nvSpPr>
          <p:cNvPr id="9" name="TextBox 8"/>
          <p:cNvSpPr txBox="1"/>
          <p:nvPr/>
        </p:nvSpPr>
        <p:spPr>
          <a:xfrm>
            <a:off x="9509760" y="1078992"/>
            <a:ext cx="2011680" cy="274320"/>
          </a:xfrm>
          <a:prstGeom prst="rect">
            <a:avLst/>
          </a:prstGeom>
          <a:noFill/>
        </p:spPr>
        <p:txBody>
          <a:bodyPr wrap="square">
            <a:spAutoFit/>
          </a:bodyPr>
          <a:lstStyle/>
          <a:p>
            <a:pPr algn="ctr">
              <a:defRPr sz="1200" b="1">
                <a:solidFill>
                  <a:srgbClr val="FFFFFF"/>
                </a:solidFill>
                <a:latin typeface="Calibri"/>
              </a:defRPr>
            </a:pPr>
            <a:r>
              <a:t>Saved</a:t>
            </a:r>
          </a:p>
        </p:txBody>
      </p:sp>
      <p:sp>
        <p:nvSpPr>
          <p:cNvPr id="10" name="Rectangle 9"/>
          <p:cNvSpPr/>
          <p:nvPr/>
        </p:nvSpPr>
        <p:spPr>
          <a:xfrm>
            <a:off x="457200" y="1463040"/>
            <a:ext cx="6858000" cy="4572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406640" y="1463040"/>
            <a:ext cx="201168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509760" y="1463040"/>
            <a:ext cx="2194560" cy="4572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1572768"/>
            <a:ext cx="4572000" cy="274320"/>
          </a:xfrm>
          <a:prstGeom prst="rect">
            <a:avLst/>
          </a:prstGeom>
          <a:noFill/>
        </p:spPr>
        <p:txBody>
          <a:bodyPr wrap="square">
            <a:spAutoFit/>
          </a:bodyPr>
          <a:lstStyle/>
          <a:p>
            <a:pPr algn="l">
              <a:defRPr sz="1100" b="0">
                <a:solidFill>
                  <a:srgbClr val="FFFFFF"/>
                </a:solidFill>
                <a:latin typeface="Calibri"/>
              </a:defRPr>
            </a:pPr>
            <a:r>
              <a:t>Document/Collateral Creation</a:t>
            </a:r>
          </a:p>
        </p:txBody>
      </p:sp>
      <p:sp>
        <p:nvSpPr>
          <p:cNvPr id="14" name="TextBox 13"/>
          <p:cNvSpPr txBox="1"/>
          <p:nvPr/>
        </p:nvSpPr>
        <p:spPr>
          <a:xfrm>
            <a:off x="5303520" y="1572768"/>
            <a:ext cx="2011680" cy="274320"/>
          </a:xfrm>
          <a:prstGeom prst="rect">
            <a:avLst/>
          </a:prstGeom>
          <a:noFill/>
        </p:spPr>
        <p:txBody>
          <a:bodyPr wrap="square">
            <a:spAutoFit/>
          </a:bodyPr>
          <a:lstStyle/>
          <a:p>
            <a:pPr algn="ctr">
              <a:defRPr sz="1100" b="0">
                <a:solidFill>
                  <a:srgbClr val="EF4444"/>
                </a:solidFill>
                <a:latin typeface="Calibri"/>
              </a:defRPr>
            </a:pPr>
            <a:r>
              <a:t>8+ hrs/wk</a:t>
            </a:r>
          </a:p>
        </p:txBody>
      </p:sp>
      <p:sp>
        <p:nvSpPr>
          <p:cNvPr id="15" name="TextBox 14"/>
          <p:cNvSpPr txBox="1"/>
          <p:nvPr/>
        </p:nvSpPr>
        <p:spPr>
          <a:xfrm>
            <a:off x="7406640" y="1572768"/>
            <a:ext cx="2011680" cy="274320"/>
          </a:xfrm>
          <a:prstGeom prst="rect">
            <a:avLst/>
          </a:prstGeom>
          <a:noFill/>
        </p:spPr>
        <p:txBody>
          <a:bodyPr wrap="square">
            <a:spAutoFit/>
          </a:bodyPr>
          <a:lstStyle/>
          <a:p>
            <a:pPr algn="ctr">
              <a:defRPr sz="1100" b="1">
                <a:solidFill>
                  <a:srgbClr val="FFFFFF"/>
                </a:solidFill>
                <a:latin typeface="Calibri"/>
              </a:defRPr>
            </a:pPr>
            <a:r>
              <a:t>1 hr/wk</a:t>
            </a:r>
          </a:p>
        </p:txBody>
      </p:sp>
      <p:sp>
        <p:nvSpPr>
          <p:cNvPr id="16" name="TextBox 15"/>
          <p:cNvSpPr txBox="1"/>
          <p:nvPr/>
        </p:nvSpPr>
        <p:spPr>
          <a:xfrm>
            <a:off x="9509760" y="1572768"/>
            <a:ext cx="2011680" cy="274320"/>
          </a:xfrm>
          <a:prstGeom prst="rect">
            <a:avLst/>
          </a:prstGeom>
          <a:noFill/>
        </p:spPr>
        <p:txBody>
          <a:bodyPr wrap="square">
            <a:spAutoFit/>
          </a:bodyPr>
          <a:lstStyle/>
          <a:p>
            <a:pPr algn="ctr">
              <a:defRPr sz="1100" b="1">
                <a:solidFill>
                  <a:srgbClr val="22C55E"/>
                </a:solidFill>
                <a:latin typeface="Calibri"/>
              </a:defRPr>
            </a:pPr>
            <a:r>
              <a:t>7 hrs</a:t>
            </a:r>
          </a:p>
        </p:txBody>
      </p:sp>
      <p:sp>
        <p:nvSpPr>
          <p:cNvPr id="17" name="Rectangle 16"/>
          <p:cNvSpPr/>
          <p:nvPr/>
        </p:nvSpPr>
        <p:spPr>
          <a:xfrm>
            <a:off x="457200" y="1965960"/>
            <a:ext cx="6858000" cy="4572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406640" y="1965960"/>
            <a:ext cx="201168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509760" y="1965960"/>
            <a:ext cx="2194560" cy="4572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2075688"/>
            <a:ext cx="4572000" cy="274320"/>
          </a:xfrm>
          <a:prstGeom prst="rect">
            <a:avLst/>
          </a:prstGeom>
          <a:noFill/>
        </p:spPr>
        <p:txBody>
          <a:bodyPr wrap="square">
            <a:spAutoFit/>
          </a:bodyPr>
          <a:lstStyle/>
          <a:p>
            <a:pPr algn="l">
              <a:defRPr sz="1100" b="0">
                <a:solidFill>
                  <a:srgbClr val="FFFFFF"/>
                </a:solidFill>
                <a:latin typeface="Calibri"/>
              </a:defRPr>
            </a:pPr>
            <a:r>
              <a:t>Data Entry &amp; Admin</a:t>
            </a:r>
          </a:p>
        </p:txBody>
      </p:sp>
      <p:sp>
        <p:nvSpPr>
          <p:cNvPr id="21" name="TextBox 20"/>
          <p:cNvSpPr txBox="1"/>
          <p:nvPr/>
        </p:nvSpPr>
        <p:spPr>
          <a:xfrm>
            <a:off x="5303520" y="2075688"/>
            <a:ext cx="2011680" cy="274320"/>
          </a:xfrm>
          <a:prstGeom prst="rect">
            <a:avLst/>
          </a:prstGeom>
          <a:noFill/>
        </p:spPr>
        <p:txBody>
          <a:bodyPr wrap="square">
            <a:spAutoFit/>
          </a:bodyPr>
          <a:lstStyle/>
          <a:p>
            <a:pPr algn="ctr">
              <a:defRPr sz="1100" b="0">
                <a:solidFill>
                  <a:srgbClr val="EF4444"/>
                </a:solidFill>
                <a:latin typeface="Calibri"/>
              </a:defRPr>
            </a:pPr>
            <a:r>
              <a:t>6+ hrs/wk</a:t>
            </a:r>
          </a:p>
        </p:txBody>
      </p:sp>
      <p:sp>
        <p:nvSpPr>
          <p:cNvPr id="22" name="TextBox 21"/>
          <p:cNvSpPr txBox="1"/>
          <p:nvPr/>
        </p:nvSpPr>
        <p:spPr>
          <a:xfrm>
            <a:off x="7406640" y="2075688"/>
            <a:ext cx="2011680" cy="274320"/>
          </a:xfrm>
          <a:prstGeom prst="rect">
            <a:avLst/>
          </a:prstGeom>
          <a:noFill/>
        </p:spPr>
        <p:txBody>
          <a:bodyPr wrap="square">
            <a:spAutoFit/>
          </a:bodyPr>
          <a:lstStyle/>
          <a:p>
            <a:pPr algn="ctr">
              <a:defRPr sz="1100" b="1">
                <a:solidFill>
                  <a:srgbClr val="FFFFFF"/>
                </a:solidFill>
                <a:latin typeface="Calibri"/>
              </a:defRPr>
            </a:pPr>
            <a:r>
              <a:t>1 hr/wk</a:t>
            </a:r>
          </a:p>
        </p:txBody>
      </p:sp>
      <p:sp>
        <p:nvSpPr>
          <p:cNvPr id="23" name="TextBox 22"/>
          <p:cNvSpPr txBox="1"/>
          <p:nvPr/>
        </p:nvSpPr>
        <p:spPr>
          <a:xfrm>
            <a:off x="9509760" y="2075688"/>
            <a:ext cx="2011680" cy="274320"/>
          </a:xfrm>
          <a:prstGeom prst="rect">
            <a:avLst/>
          </a:prstGeom>
          <a:noFill/>
        </p:spPr>
        <p:txBody>
          <a:bodyPr wrap="square">
            <a:spAutoFit/>
          </a:bodyPr>
          <a:lstStyle/>
          <a:p>
            <a:pPr algn="ctr">
              <a:defRPr sz="1100" b="1">
                <a:solidFill>
                  <a:srgbClr val="22C55E"/>
                </a:solidFill>
                <a:latin typeface="Calibri"/>
              </a:defRPr>
            </a:pPr>
            <a:r>
              <a:t>5 hrs</a:t>
            </a:r>
          </a:p>
        </p:txBody>
      </p:sp>
      <p:sp>
        <p:nvSpPr>
          <p:cNvPr id="24" name="Rectangle 23"/>
          <p:cNvSpPr/>
          <p:nvPr/>
        </p:nvSpPr>
        <p:spPr>
          <a:xfrm>
            <a:off x="457200" y="2468880"/>
            <a:ext cx="6858000" cy="4572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06640" y="2468880"/>
            <a:ext cx="201168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509760" y="2468880"/>
            <a:ext cx="2194560" cy="4572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2578608"/>
            <a:ext cx="4572000" cy="274320"/>
          </a:xfrm>
          <a:prstGeom prst="rect">
            <a:avLst/>
          </a:prstGeom>
          <a:noFill/>
        </p:spPr>
        <p:txBody>
          <a:bodyPr wrap="square">
            <a:spAutoFit/>
          </a:bodyPr>
          <a:lstStyle/>
          <a:p>
            <a:pPr algn="l">
              <a:defRPr sz="1100" b="0">
                <a:solidFill>
                  <a:srgbClr val="FFFFFF"/>
                </a:solidFill>
                <a:latin typeface="Calibri"/>
              </a:defRPr>
            </a:pPr>
            <a:r>
              <a:t>Lead Generation &amp; Follow-up</a:t>
            </a:r>
          </a:p>
        </p:txBody>
      </p:sp>
      <p:sp>
        <p:nvSpPr>
          <p:cNvPr id="28" name="TextBox 27"/>
          <p:cNvSpPr txBox="1"/>
          <p:nvPr/>
        </p:nvSpPr>
        <p:spPr>
          <a:xfrm>
            <a:off x="5303520" y="2578608"/>
            <a:ext cx="2011680" cy="274320"/>
          </a:xfrm>
          <a:prstGeom prst="rect">
            <a:avLst/>
          </a:prstGeom>
          <a:noFill/>
        </p:spPr>
        <p:txBody>
          <a:bodyPr wrap="square">
            <a:spAutoFit/>
          </a:bodyPr>
          <a:lstStyle/>
          <a:p>
            <a:pPr algn="ctr">
              <a:defRPr sz="1100" b="0">
                <a:solidFill>
                  <a:srgbClr val="EF4444"/>
                </a:solidFill>
                <a:latin typeface="Calibri"/>
              </a:defRPr>
            </a:pPr>
            <a:r>
              <a:t>5+ hrs/wk</a:t>
            </a:r>
          </a:p>
        </p:txBody>
      </p:sp>
      <p:sp>
        <p:nvSpPr>
          <p:cNvPr id="29" name="TextBox 28"/>
          <p:cNvSpPr txBox="1"/>
          <p:nvPr/>
        </p:nvSpPr>
        <p:spPr>
          <a:xfrm>
            <a:off x="7406640" y="2578608"/>
            <a:ext cx="2011680" cy="274320"/>
          </a:xfrm>
          <a:prstGeom prst="rect">
            <a:avLst/>
          </a:prstGeom>
          <a:noFill/>
        </p:spPr>
        <p:txBody>
          <a:bodyPr wrap="square">
            <a:spAutoFit/>
          </a:bodyPr>
          <a:lstStyle/>
          <a:p>
            <a:pPr algn="ctr">
              <a:defRPr sz="1100" b="1">
                <a:solidFill>
                  <a:srgbClr val="FFFFFF"/>
                </a:solidFill>
                <a:latin typeface="Calibri"/>
              </a:defRPr>
            </a:pPr>
            <a:r>
              <a:t>30 min/wk</a:t>
            </a:r>
          </a:p>
        </p:txBody>
      </p:sp>
      <p:sp>
        <p:nvSpPr>
          <p:cNvPr id="30" name="TextBox 29"/>
          <p:cNvSpPr txBox="1"/>
          <p:nvPr/>
        </p:nvSpPr>
        <p:spPr>
          <a:xfrm>
            <a:off x="9509760" y="2578608"/>
            <a:ext cx="2011680" cy="274320"/>
          </a:xfrm>
          <a:prstGeom prst="rect">
            <a:avLst/>
          </a:prstGeom>
          <a:noFill/>
        </p:spPr>
        <p:txBody>
          <a:bodyPr wrap="square">
            <a:spAutoFit/>
          </a:bodyPr>
          <a:lstStyle/>
          <a:p>
            <a:pPr algn="ctr">
              <a:defRPr sz="1100" b="1">
                <a:solidFill>
                  <a:srgbClr val="22C55E"/>
                </a:solidFill>
                <a:latin typeface="Calibri"/>
              </a:defRPr>
            </a:pPr>
            <a:r>
              <a:t>4.5 hrs</a:t>
            </a:r>
          </a:p>
        </p:txBody>
      </p:sp>
      <p:sp>
        <p:nvSpPr>
          <p:cNvPr id="31" name="Rectangle 30"/>
          <p:cNvSpPr/>
          <p:nvPr/>
        </p:nvSpPr>
        <p:spPr>
          <a:xfrm>
            <a:off x="457200" y="2971800"/>
            <a:ext cx="6858000" cy="4572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406640" y="2971800"/>
            <a:ext cx="201168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509760" y="2971800"/>
            <a:ext cx="2194560" cy="4572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640" y="3081528"/>
            <a:ext cx="4572000" cy="274320"/>
          </a:xfrm>
          <a:prstGeom prst="rect">
            <a:avLst/>
          </a:prstGeom>
          <a:noFill/>
        </p:spPr>
        <p:txBody>
          <a:bodyPr wrap="square">
            <a:spAutoFit/>
          </a:bodyPr>
          <a:lstStyle/>
          <a:p>
            <a:pPr algn="l">
              <a:defRPr sz="1100" b="0">
                <a:solidFill>
                  <a:srgbClr val="FFFFFF"/>
                </a:solidFill>
                <a:latin typeface="Calibri"/>
              </a:defRPr>
            </a:pPr>
            <a:r>
              <a:t>Scheduling &amp; Coordination</a:t>
            </a:r>
          </a:p>
        </p:txBody>
      </p:sp>
      <p:sp>
        <p:nvSpPr>
          <p:cNvPr id="35" name="TextBox 34"/>
          <p:cNvSpPr txBox="1"/>
          <p:nvPr/>
        </p:nvSpPr>
        <p:spPr>
          <a:xfrm>
            <a:off x="5303520" y="3081528"/>
            <a:ext cx="2011680" cy="274320"/>
          </a:xfrm>
          <a:prstGeom prst="rect">
            <a:avLst/>
          </a:prstGeom>
          <a:noFill/>
        </p:spPr>
        <p:txBody>
          <a:bodyPr wrap="square">
            <a:spAutoFit/>
          </a:bodyPr>
          <a:lstStyle/>
          <a:p>
            <a:pPr algn="ctr">
              <a:defRPr sz="1100" b="0">
                <a:solidFill>
                  <a:srgbClr val="EF4444"/>
                </a:solidFill>
                <a:latin typeface="Calibri"/>
              </a:defRPr>
            </a:pPr>
            <a:r>
              <a:t>3+ hrs/wk</a:t>
            </a:r>
          </a:p>
        </p:txBody>
      </p:sp>
      <p:sp>
        <p:nvSpPr>
          <p:cNvPr id="36" name="TextBox 35"/>
          <p:cNvSpPr txBox="1"/>
          <p:nvPr/>
        </p:nvSpPr>
        <p:spPr>
          <a:xfrm>
            <a:off x="7406640" y="3081528"/>
            <a:ext cx="2011680" cy="274320"/>
          </a:xfrm>
          <a:prstGeom prst="rect">
            <a:avLst/>
          </a:prstGeom>
          <a:noFill/>
        </p:spPr>
        <p:txBody>
          <a:bodyPr wrap="square">
            <a:spAutoFit/>
          </a:bodyPr>
          <a:lstStyle/>
          <a:p>
            <a:pPr algn="ctr">
              <a:defRPr sz="1100" b="1">
                <a:solidFill>
                  <a:srgbClr val="FFFFFF"/>
                </a:solidFill>
                <a:latin typeface="Calibri"/>
              </a:defRPr>
            </a:pPr>
            <a:r>
              <a:t>0 hrs</a:t>
            </a:r>
          </a:p>
        </p:txBody>
      </p:sp>
      <p:sp>
        <p:nvSpPr>
          <p:cNvPr id="37" name="TextBox 36"/>
          <p:cNvSpPr txBox="1"/>
          <p:nvPr/>
        </p:nvSpPr>
        <p:spPr>
          <a:xfrm>
            <a:off x="9509760" y="3081528"/>
            <a:ext cx="2011680" cy="274320"/>
          </a:xfrm>
          <a:prstGeom prst="rect">
            <a:avLst/>
          </a:prstGeom>
          <a:noFill/>
        </p:spPr>
        <p:txBody>
          <a:bodyPr wrap="square">
            <a:spAutoFit/>
          </a:bodyPr>
          <a:lstStyle/>
          <a:p>
            <a:pPr algn="ctr">
              <a:defRPr sz="1100" b="1">
                <a:solidFill>
                  <a:srgbClr val="22C55E"/>
                </a:solidFill>
                <a:latin typeface="Calibri"/>
              </a:defRPr>
            </a:pPr>
            <a:r>
              <a:t>3 hrs</a:t>
            </a:r>
          </a:p>
        </p:txBody>
      </p:sp>
      <p:sp>
        <p:nvSpPr>
          <p:cNvPr id="38" name="Rectangle 37"/>
          <p:cNvSpPr/>
          <p:nvPr/>
        </p:nvSpPr>
        <p:spPr>
          <a:xfrm>
            <a:off x="457200" y="3474720"/>
            <a:ext cx="6858000" cy="4572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406640" y="3474720"/>
            <a:ext cx="201168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509760" y="3474720"/>
            <a:ext cx="2194560" cy="4572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3584448"/>
            <a:ext cx="4572000" cy="274320"/>
          </a:xfrm>
          <a:prstGeom prst="rect">
            <a:avLst/>
          </a:prstGeom>
          <a:noFill/>
        </p:spPr>
        <p:txBody>
          <a:bodyPr wrap="square">
            <a:spAutoFit/>
          </a:bodyPr>
          <a:lstStyle/>
          <a:p>
            <a:pPr algn="l">
              <a:defRPr sz="1100" b="0">
                <a:solidFill>
                  <a:srgbClr val="FFFFFF"/>
                </a:solidFill>
                <a:latin typeface="Calibri"/>
              </a:defRPr>
            </a:pPr>
            <a:r>
              <a:t>Compliance/Billing Admin</a:t>
            </a:r>
          </a:p>
        </p:txBody>
      </p:sp>
      <p:sp>
        <p:nvSpPr>
          <p:cNvPr id="42" name="TextBox 41"/>
          <p:cNvSpPr txBox="1"/>
          <p:nvPr/>
        </p:nvSpPr>
        <p:spPr>
          <a:xfrm>
            <a:off x="5303520" y="3584448"/>
            <a:ext cx="2011680" cy="274320"/>
          </a:xfrm>
          <a:prstGeom prst="rect">
            <a:avLst/>
          </a:prstGeom>
          <a:noFill/>
        </p:spPr>
        <p:txBody>
          <a:bodyPr wrap="square">
            <a:spAutoFit/>
          </a:bodyPr>
          <a:lstStyle/>
          <a:p>
            <a:pPr algn="ctr">
              <a:defRPr sz="1100" b="0">
                <a:solidFill>
                  <a:srgbClr val="EF4444"/>
                </a:solidFill>
                <a:latin typeface="Calibri"/>
              </a:defRPr>
            </a:pPr>
            <a:r>
              <a:t>3+ hrs/wk</a:t>
            </a:r>
          </a:p>
        </p:txBody>
      </p:sp>
      <p:sp>
        <p:nvSpPr>
          <p:cNvPr id="43" name="TextBox 42"/>
          <p:cNvSpPr txBox="1"/>
          <p:nvPr/>
        </p:nvSpPr>
        <p:spPr>
          <a:xfrm>
            <a:off x="7406640" y="3584448"/>
            <a:ext cx="2011680" cy="274320"/>
          </a:xfrm>
          <a:prstGeom prst="rect">
            <a:avLst/>
          </a:prstGeom>
          <a:noFill/>
        </p:spPr>
        <p:txBody>
          <a:bodyPr wrap="square">
            <a:spAutoFit/>
          </a:bodyPr>
          <a:lstStyle/>
          <a:p>
            <a:pPr algn="ctr">
              <a:defRPr sz="1100" b="1">
                <a:solidFill>
                  <a:srgbClr val="FFFFFF"/>
                </a:solidFill>
                <a:latin typeface="Calibri"/>
              </a:defRPr>
            </a:pPr>
            <a:r>
              <a:t>30 min/wk</a:t>
            </a:r>
          </a:p>
        </p:txBody>
      </p:sp>
      <p:sp>
        <p:nvSpPr>
          <p:cNvPr id="44" name="TextBox 43"/>
          <p:cNvSpPr txBox="1"/>
          <p:nvPr/>
        </p:nvSpPr>
        <p:spPr>
          <a:xfrm>
            <a:off x="9509760" y="3584448"/>
            <a:ext cx="2011680" cy="274320"/>
          </a:xfrm>
          <a:prstGeom prst="rect">
            <a:avLst/>
          </a:prstGeom>
          <a:noFill/>
        </p:spPr>
        <p:txBody>
          <a:bodyPr wrap="square">
            <a:spAutoFit/>
          </a:bodyPr>
          <a:lstStyle/>
          <a:p>
            <a:pPr algn="ctr">
              <a:defRPr sz="1100" b="1">
                <a:solidFill>
                  <a:srgbClr val="22C55E"/>
                </a:solidFill>
                <a:latin typeface="Calibri"/>
              </a:defRPr>
            </a:pPr>
            <a:r>
              <a:t>2.5 hrs</a:t>
            </a:r>
          </a:p>
        </p:txBody>
      </p:sp>
      <p:sp>
        <p:nvSpPr>
          <p:cNvPr id="45" name="Rectangle 44"/>
          <p:cNvSpPr/>
          <p:nvPr/>
        </p:nvSpPr>
        <p:spPr>
          <a:xfrm>
            <a:off x="457200" y="3977639"/>
            <a:ext cx="475488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4087368"/>
            <a:ext cx="4572000" cy="274320"/>
          </a:xfrm>
          <a:prstGeom prst="rect">
            <a:avLst/>
          </a:prstGeom>
          <a:noFill/>
        </p:spPr>
        <p:txBody>
          <a:bodyPr wrap="square">
            <a:spAutoFit/>
          </a:bodyPr>
          <a:lstStyle/>
          <a:p>
            <a:pPr algn="r">
              <a:defRPr sz="1200" b="1">
                <a:solidFill>
                  <a:srgbClr val="FFFFFF"/>
                </a:solidFill>
                <a:latin typeface="Calibri"/>
              </a:defRPr>
            </a:pPr>
            <a:r>
              <a:t>TOTAL TIME RECOVERED</a:t>
            </a:r>
          </a:p>
        </p:txBody>
      </p:sp>
      <p:sp>
        <p:nvSpPr>
          <p:cNvPr id="47" name="Rectangle 46"/>
          <p:cNvSpPr/>
          <p:nvPr/>
        </p:nvSpPr>
        <p:spPr>
          <a:xfrm>
            <a:off x="5303520" y="3977639"/>
            <a:ext cx="201168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303520" y="4087368"/>
            <a:ext cx="2011680" cy="274320"/>
          </a:xfrm>
          <a:prstGeom prst="rect">
            <a:avLst/>
          </a:prstGeom>
          <a:noFill/>
        </p:spPr>
        <p:txBody>
          <a:bodyPr wrap="square">
            <a:spAutoFit/>
          </a:bodyPr>
          <a:lstStyle/>
          <a:p>
            <a:pPr algn="ctr">
              <a:defRPr sz="1100" b="0">
                <a:solidFill>
                  <a:srgbClr val="EF4444"/>
                </a:solidFill>
                <a:latin typeface="Calibri"/>
              </a:defRPr>
            </a:pPr>
            <a:r>
              <a:t>25+ hrs/wk</a:t>
            </a:r>
          </a:p>
        </p:txBody>
      </p:sp>
      <p:sp>
        <p:nvSpPr>
          <p:cNvPr id="49" name="Rectangle 48"/>
          <p:cNvSpPr/>
          <p:nvPr/>
        </p:nvSpPr>
        <p:spPr>
          <a:xfrm>
            <a:off x="7406640" y="3977639"/>
            <a:ext cx="201168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406640" y="4087368"/>
            <a:ext cx="2011680" cy="274320"/>
          </a:xfrm>
          <a:prstGeom prst="rect">
            <a:avLst/>
          </a:prstGeom>
          <a:noFill/>
        </p:spPr>
        <p:txBody>
          <a:bodyPr wrap="square">
            <a:spAutoFit/>
          </a:bodyPr>
          <a:lstStyle/>
          <a:p>
            <a:pPr algn="ctr">
              <a:defRPr sz="1200" b="1">
                <a:solidFill>
                  <a:srgbClr val="FFFFFF"/>
                </a:solidFill>
                <a:latin typeface="Calibri"/>
              </a:defRPr>
            </a:pPr>
            <a:r>
              <a:t>~3 hrs/wk</a:t>
            </a:r>
          </a:p>
        </p:txBody>
      </p:sp>
      <p:sp>
        <p:nvSpPr>
          <p:cNvPr id="51" name="Rectangle 50"/>
          <p:cNvSpPr/>
          <p:nvPr/>
        </p:nvSpPr>
        <p:spPr>
          <a:xfrm>
            <a:off x="9509760" y="3977639"/>
            <a:ext cx="219456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509760" y="4087368"/>
            <a:ext cx="2011680" cy="274320"/>
          </a:xfrm>
          <a:prstGeom prst="rect">
            <a:avLst/>
          </a:prstGeom>
          <a:noFill/>
        </p:spPr>
        <p:txBody>
          <a:bodyPr wrap="square">
            <a:spAutoFit/>
          </a:bodyPr>
          <a:lstStyle/>
          <a:p>
            <a:pPr algn="ctr">
              <a:defRPr sz="1400" b="1">
                <a:solidFill>
                  <a:srgbClr val="22C55E"/>
                </a:solidFill>
                <a:latin typeface="Calibri"/>
              </a:defRPr>
            </a:pPr>
            <a:r>
              <a:t>22+ hrs</a:t>
            </a:r>
          </a:p>
        </p:txBody>
      </p:sp>
      <p:sp>
        <p:nvSpPr>
          <p:cNvPr id="53" name="Rounded Rectangle 52"/>
          <p:cNvSpPr/>
          <p:nvPr/>
        </p:nvSpPr>
        <p:spPr>
          <a:xfrm>
            <a:off x="457200" y="4617720"/>
            <a:ext cx="11247120" cy="640080"/>
          </a:xfrm>
          <a:prstGeom prst="roundRect">
            <a:avLst/>
          </a:prstGeom>
          <a:solidFill>
            <a:srgbClr val="0D284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 y="4754879"/>
            <a:ext cx="10881360" cy="365760"/>
          </a:xfrm>
          <a:prstGeom prst="rect">
            <a:avLst/>
          </a:prstGeom>
          <a:noFill/>
        </p:spPr>
        <p:txBody>
          <a:bodyPr wrap="square">
            <a:spAutoFit/>
          </a:bodyPr>
          <a:lstStyle/>
          <a:p>
            <a:pPr algn="ctr">
              <a:defRPr sz="1300" b="0">
                <a:solidFill>
                  <a:srgbClr val="FFFFFF"/>
                </a:solidFill>
                <a:latin typeface="Calibri"/>
              </a:defRPr>
            </a:pPr>
            <a:r>
              <a:t>Net Result: 22+ hours per week freed up for portfolio management, client meetings, and business development.</a:t>
            </a:r>
          </a:p>
        </p:txBody>
      </p:sp>
      <p:sp>
        <p:nvSpPr>
          <p:cNvPr id="55" name="TextBox 54"/>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The $1M Math: Revenue Breakdown</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320040"/>
          </a:xfrm>
          <a:prstGeom prst="rect">
            <a:avLst/>
          </a:prstGeom>
          <a:noFill/>
        </p:spPr>
        <p:txBody>
          <a:bodyPr wrap="square">
            <a:spAutoFit/>
          </a:bodyPr>
          <a:lstStyle/>
          <a:p>
            <a:pPr algn="l">
              <a:defRPr sz="1100" b="0">
                <a:solidFill>
                  <a:srgbClr val="94A3B8"/>
                </a:solidFill>
                <a:latin typeface="Calibri"/>
              </a:defRPr>
            </a:pPr>
            <a:r>
              <a:t>$1M in Year 1 requires 35 engagements—approximately 3 per month. With 20 leads/month at 15-20% close rate, this is achievable.</a:t>
            </a:r>
          </a:p>
        </p:txBody>
      </p:sp>
      <p:sp>
        <p:nvSpPr>
          <p:cNvPr id="6" name="Rectangle 5"/>
          <p:cNvSpPr/>
          <p:nvPr/>
        </p:nvSpPr>
        <p:spPr>
          <a:xfrm>
            <a:off x="457200" y="1280160"/>
            <a:ext cx="1124712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25880"/>
            <a:ext cx="4114800" cy="274320"/>
          </a:xfrm>
          <a:prstGeom prst="rect">
            <a:avLst/>
          </a:prstGeom>
          <a:noFill/>
        </p:spPr>
        <p:txBody>
          <a:bodyPr wrap="square">
            <a:spAutoFit/>
          </a:bodyPr>
          <a:lstStyle/>
          <a:p>
            <a:pPr algn="l">
              <a:defRPr sz="1100" b="1">
                <a:solidFill>
                  <a:srgbClr val="FFFFFF"/>
                </a:solidFill>
                <a:latin typeface="Calibri"/>
              </a:defRPr>
            </a:pPr>
            <a:r>
              <a:t>Service</a:t>
            </a:r>
          </a:p>
        </p:txBody>
      </p:sp>
      <p:sp>
        <p:nvSpPr>
          <p:cNvPr id="8" name="TextBox 7"/>
          <p:cNvSpPr txBox="1"/>
          <p:nvPr/>
        </p:nvSpPr>
        <p:spPr>
          <a:xfrm>
            <a:off x="4846320" y="1325880"/>
            <a:ext cx="1828800" cy="274320"/>
          </a:xfrm>
          <a:prstGeom prst="rect">
            <a:avLst/>
          </a:prstGeom>
          <a:noFill/>
        </p:spPr>
        <p:txBody>
          <a:bodyPr wrap="square">
            <a:spAutoFit/>
          </a:bodyPr>
          <a:lstStyle/>
          <a:p>
            <a:pPr algn="ctr">
              <a:defRPr sz="1100" b="1">
                <a:solidFill>
                  <a:srgbClr val="FFFFFF"/>
                </a:solidFill>
                <a:latin typeface="Calibri"/>
              </a:defRPr>
            </a:pPr>
            <a:r>
              <a:t>Avg. Ticket</a:t>
            </a:r>
          </a:p>
        </p:txBody>
      </p:sp>
      <p:sp>
        <p:nvSpPr>
          <p:cNvPr id="9" name="TextBox 8"/>
          <p:cNvSpPr txBox="1"/>
          <p:nvPr/>
        </p:nvSpPr>
        <p:spPr>
          <a:xfrm>
            <a:off x="6858000" y="1325880"/>
            <a:ext cx="1645920" cy="274320"/>
          </a:xfrm>
          <a:prstGeom prst="rect">
            <a:avLst/>
          </a:prstGeom>
          <a:noFill/>
        </p:spPr>
        <p:txBody>
          <a:bodyPr wrap="square">
            <a:spAutoFit/>
          </a:bodyPr>
          <a:lstStyle/>
          <a:p>
            <a:pPr algn="ctr">
              <a:defRPr sz="1100" b="1">
                <a:solidFill>
                  <a:srgbClr val="FFFFFF"/>
                </a:solidFill>
                <a:latin typeface="Calibri"/>
              </a:defRPr>
            </a:pPr>
            <a:r>
              <a:t>Volume</a:t>
            </a:r>
          </a:p>
        </p:txBody>
      </p:sp>
      <p:sp>
        <p:nvSpPr>
          <p:cNvPr id="10" name="TextBox 9"/>
          <p:cNvSpPr txBox="1"/>
          <p:nvPr/>
        </p:nvSpPr>
        <p:spPr>
          <a:xfrm>
            <a:off x="8686800" y="1325880"/>
            <a:ext cx="2743200" cy="274320"/>
          </a:xfrm>
          <a:prstGeom prst="rect">
            <a:avLst/>
          </a:prstGeom>
          <a:noFill/>
        </p:spPr>
        <p:txBody>
          <a:bodyPr wrap="square">
            <a:spAutoFit/>
          </a:bodyPr>
          <a:lstStyle/>
          <a:p>
            <a:pPr algn="ctr">
              <a:defRPr sz="1100" b="1">
                <a:solidFill>
                  <a:srgbClr val="FFFFFF"/>
                </a:solidFill>
                <a:latin typeface="Calibri"/>
              </a:defRPr>
            </a:pPr>
            <a:r>
              <a:t>Revenue</a:t>
            </a:r>
          </a:p>
        </p:txBody>
      </p:sp>
      <p:sp>
        <p:nvSpPr>
          <p:cNvPr id="11" name="Rectangle 10"/>
          <p:cNvSpPr/>
          <p:nvPr/>
        </p:nvSpPr>
        <p:spPr>
          <a:xfrm>
            <a:off x="457200" y="1691639"/>
            <a:ext cx="11247120" cy="41148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64792"/>
            <a:ext cx="4114800" cy="274320"/>
          </a:xfrm>
          <a:prstGeom prst="rect">
            <a:avLst/>
          </a:prstGeom>
          <a:noFill/>
        </p:spPr>
        <p:txBody>
          <a:bodyPr wrap="square">
            <a:spAutoFit/>
          </a:bodyPr>
          <a:lstStyle/>
          <a:p>
            <a:pPr algn="l">
              <a:defRPr sz="1100" b="0">
                <a:solidFill>
                  <a:srgbClr val="FFFFFF"/>
                </a:solidFill>
                <a:latin typeface="Calibri"/>
              </a:defRPr>
            </a:pPr>
            <a:r>
              <a:t>Tax Planning Engagements</a:t>
            </a:r>
          </a:p>
        </p:txBody>
      </p:sp>
      <p:sp>
        <p:nvSpPr>
          <p:cNvPr id="13" name="TextBox 12"/>
          <p:cNvSpPr txBox="1"/>
          <p:nvPr/>
        </p:nvSpPr>
        <p:spPr>
          <a:xfrm>
            <a:off x="4846320" y="1764792"/>
            <a:ext cx="1828800" cy="274320"/>
          </a:xfrm>
          <a:prstGeom prst="rect">
            <a:avLst/>
          </a:prstGeom>
          <a:noFill/>
        </p:spPr>
        <p:txBody>
          <a:bodyPr wrap="square">
            <a:spAutoFit/>
          </a:bodyPr>
          <a:lstStyle/>
          <a:p>
            <a:pPr algn="ctr">
              <a:defRPr sz="1100" b="0">
                <a:solidFill>
                  <a:srgbClr val="FFFFFF"/>
                </a:solidFill>
                <a:latin typeface="Calibri"/>
              </a:defRPr>
            </a:pPr>
            <a:r>
              <a:t>$21,000</a:t>
            </a:r>
          </a:p>
        </p:txBody>
      </p:sp>
      <p:sp>
        <p:nvSpPr>
          <p:cNvPr id="14" name="TextBox 13"/>
          <p:cNvSpPr txBox="1"/>
          <p:nvPr/>
        </p:nvSpPr>
        <p:spPr>
          <a:xfrm>
            <a:off x="6858000" y="1764792"/>
            <a:ext cx="1645920" cy="274320"/>
          </a:xfrm>
          <a:prstGeom prst="rect">
            <a:avLst/>
          </a:prstGeom>
          <a:noFill/>
        </p:spPr>
        <p:txBody>
          <a:bodyPr wrap="square">
            <a:spAutoFit/>
          </a:bodyPr>
          <a:lstStyle/>
          <a:p>
            <a:pPr algn="ctr">
              <a:defRPr sz="1100" b="0">
                <a:solidFill>
                  <a:srgbClr val="FFFFFF"/>
                </a:solidFill>
                <a:latin typeface="Calibri"/>
              </a:defRPr>
            </a:pPr>
            <a:r>
              <a:t>15</a:t>
            </a:r>
          </a:p>
        </p:txBody>
      </p:sp>
      <p:sp>
        <p:nvSpPr>
          <p:cNvPr id="15" name="TextBox 14"/>
          <p:cNvSpPr txBox="1"/>
          <p:nvPr/>
        </p:nvSpPr>
        <p:spPr>
          <a:xfrm>
            <a:off x="8686800" y="1764792"/>
            <a:ext cx="2743200" cy="274320"/>
          </a:xfrm>
          <a:prstGeom prst="rect">
            <a:avLst/>
          </a:prstGeom>
          <a:noFill/>
        </p:spPr>
        <p:txBody>
          <a:bodyPr wrap="square">
            <a:spAutoFit/>
          </a:bodyPr>
          <a:lstStyle/>
          <a:p>
            <a:pPr algn="ctr">
              <a:defRPr sz="1100" b="1">
                <a:solidFill>
                  <a:srgbClr val="22C55E"/>
                </a:solidFill>
                <a:latin typeface="Calibri"/>
              </a:defRPr>
            </a:pPr>
            <a:r>
              <a:t>$315,000</a:t>
            </a:r>
          </a:p>
        </p:txBody>
      </p:sp>
      <p:sp>
        <p:nvSpPr>
          <p:cNvPr id="16" name="Rectangle 15"/>
          <p:cNvSpPr/>
          <p:nvPr/>
        </p:nvSpPr>
        <p:spPr>
          <a:xfrm>
            <a:off x="457200" y="2130552"/>
            <a:ext cx="11247120" cy="41148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2203704"/>
            <a:ext cx="4114800" cy="274320"/>
          </a:xfrm>
          <a:prstGeom prst="rect">
            <a:avLst/>
          </a:prstGeom>
          <a:noFill/>
        </p:spPr>
        <p:txBody>
          <a:bodyPr wrap="square">
            <a:spAutoFit/>
          </a:bodyPr>
          <a:lstStyle/>
          <a:p>
            <a:pPr algn="l">
              <a:defRPr sz="1100" b="0">
                <a:solidFill>
                  <a:srgbClr val="FFFFFF"/>
                </a:solidFill>
                <a:latin typeface="Calibri"/>
              </a:defRPr>
            </a:pPr>
            <a:r>
              <a:t>Tax Advisory Retainers</a:t>
            </a:r>
          </a:p>
        </p:txBody>
      </p:sp>
      <p:sp>
        <p:nvSpPr>
          <p:cNvPr id="18" name="TextBox 17"/>
          <p:cNvSpPr txBox="1"/>
          <p:nvPr/>
        </p:nvSpPr>
        <p:spPr>
          <a:xfrm>
            <a:off x="4846320" y="2203704"/>
            <a:ext cx="1828800" cy="274320"/>
          </a:xfrm>
          <a:prstGeom prst="rect">
            <a:avLst/>
          </a:prstGeom>
          <a:noFill/>
        </p:spPr>
        <p:txBody>
          <a:bodyPr wrap="square">
            <a:spAutoFit/>
          </a:bodyPr>
          <a:lstStyle/>
          <a:p>
            <a:pPr algn="ctr">
              <a:defRPr sz="1100" b="0">
                <a:solidFill>
                  <a:srgbClr val="FFFFFF"/>
                </a:solidFill>
                <a:latin typeface="Calibri"/>
              </a:defRPr>
            </a:pPr>
            <a:r>
              <a:t>$30,000</a:t>
            </a:r>
          </a:p>
        </p:txBody>
      </p:sp>
      <p:sp>
        <p:nvSpPr>
          <p:cNvPr id="19" name="TextBox 18"/>
          <p:cNvSpPr txBox="1"/>
          <p:nvPr/>
        </p:nvSpPr>
        <p:spPr>
          <a:xfrm>
            <a:off x="6858000" y="2203704"/>
            <a:ext cx="1645920" cy="274320"/>
          </a:xfrm>
          <a:prstGeom prst="rect">
            <a:avLst/>
          </a:prstGeom>
          <a:noFill/>
        </p:spPr>
        <p:txBody>
          <a:bodyPr wrap="square">
            <a:spAutoFit/>
          </a:bodyPr>
          <a:lstStyle/>
          <a:p>
            <a:pPr algn="ctr">
              <a:defRPr sz="1100" b="0">
                <a:solidFill>
                  <a:srgbClr val="FFFFFF"/>
                </a:solidFill>
                <a:latin typeface="Calibri"/>
              </a:defRPr>
            </a:pPr>
            <a:r>
              <a:t>10</a:t>
            </a:r>
          </a:p>
        </p:txBody>
      </p:sp>
      <p:sp>
        <p:nvSpPr>
          <p:cNvPr id="20" name="TextBox 19"/>
          <p:cNvSpPr txBox="1"/>
          <p:nvPr/>
        </p:nvSpPr>
        <p:spPr>
          <a:xfrm>
            <a:off x="8686800" y="2203704"/>
            <a:ext cx="2743200" cy="274320"/>
          </a:xfrm>
          <a:prstGeom prst="rect">
            <a:avLst/>
          </a:prstGeom>
          <a:noFill/>
        </p:spPr>
        <p:txBody>
          <a:bodyPr wrap="square">
            <a:spAutoFit/>
          </a:bodyPr>
          <a:lstStyle/>
          <a:p>
            <a:pPr algn="ctr">
              <a:defRPr sz="1100" b="1">
                <a:solidFill>
                  <a:srgbClr val="22C55E"/>
                </a:solidFill>
                <a:latin typeface="Calibri"/>
              </a:defRPr>
            </a:pPr>
            <a:r>
              <a:t>$300,000</a:t>
            </a:r>
          </a:p>
        </p:txBody>
      </p:sp>
      <p:sp>
        <p:nvSpPr>
          <p:cNvPr id="21" name="Rectangle 20"/>
          <p:cNvSpPr/>
          <p:nvPr/>
        </p:nvSpPr>
        <p:spPr>
          <a:xfrm>
            <a:off x="457200" y="2569464"/>
            <a:ext cx="11247120" cy="41148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2642616"/>
            <a:ext cx="4114800" cy="274320"/>
          </a:xfrm>
          <a:prstGeom prst="rect">
            <a:avLst/>
          </a:prstGeom>
          <a:noFill/>
        </p:spPr>
        <p:txBody>
          <a:bodyPr wrap="square">
            <a:spAutoFit/>
          </a:bodyPr>
          <a:lstStyle/>
          <a:p>
            <a:pPr algn="l">
              <a:defRPr sz="1100" b="0">
                <a:solidFill>
                  <a:srgbClr val="FFFFFF"/>
                </a:solidFill>
                <a:latin typeface="Calibri"/>
              </a:defRPr>
            </a:pPr>
            <a:r>
              <a:t>M&amp;A Valuations</a:t>
            </a:r>
          </a:p>
        </p:txBody>
      </p:sp>
      <p:sp>
        <p:nvSpPr>
          <p:cNvPr id="23" name="TextBox 22"/>
          <p:cNvSpPr txBox="1"/>
          <p:nvPr/>
        </p:nvSpPr>
        <p:spPr>
          <a:xfrm>
            <a:off x="4846320" y="2642616"/>
            <a:ext cx="1828800" cy="274320"/>
          </a:xfrm>
          <a:prstGeom prst="rect">
            <a:avLst/>
          </a:prstGeom>
          <a:noFill/>
        </p:spPr>
        <p:txBody>
          <a:bodyPr wrap="square">
            <a:spAutoFit/>
          </a:bodyPr>
          <a:lstStyle/>
          <a:p>
            <a:pPr algn="ctr">
              <a:defRPr sz="1100" b="0">
                <a:solidFill>
                  <a:srgbClr val="FFFFFF"/>
                </a:solidFill>
                <a:latin typeface="Calibri"/>
              </a:defRPr>
            </a:pPr>
            <a:r>
              <a:t>$25,000</a:t>
            </a:r>
          </a:p>
        </p:txBody>
      </p:sp>
      <p:sp>
        <p:nvSpPr>
          <p:cNvPr id="24" name="TextBox 23"/>
          <p:cNvSpPr txBox="1"/>
          <p:nvPr/>
        </p:nvSpPr>
        <p:spPr>
          <a:xfrm>
            <a:off x="6858000" y="2642616"/>
            <a:ext cx="1645920" cy="274320"/>
          </a:xfrm>
          <a:prstGeom prst="rect">
            <a:avLst/>
          </a:prstGeom>
          <a:noFill/>
        </p:spPr>
        <p:txBody>
          <a:bodyPr wrap="square">
            <a:spAutoFit/>
          </a:bodyPr>
          <a:lstStyle/>
          <a:p>
            <a:pPr algn="ctr">
              <a:defRPr sz="1100" b="0">
                <a:solidFill>
                  <a:srgbClr val="FFFFFF"/>
                </a:solidFill>
                <a:latin typeface="Calibri"/>
              </a:defRPr>
            </a:pPr>
            <a:r>
              <a:t>8</a:t>
            </a:r>
          </a:p>
        </p:txBody>
      </p:sp>
      <p:sp>
        <p:nvSpPr>
          <p:cNvPr id="25" name="TextBox 24"/>
          <p:cNvSpPr txBox="1"/>
          <p:nvPr/>
        </p:nvSpPr>
        <p:spPr>
          <a:xfrm>
            <a:off x="8686800" y="2642616"/>
            <a:ext cx="2743200" cy="274320"/>
          </a:xfrm>
          <a:prstGeom prst="rect">
            <a:avLst/>
          </a:prstGeom>
          <a:noFill/>
        </p:spPr>
        <p:txBody>
          <a:bodyPr wrap="square">
            <a:spAutoFit/>
          </a:bodyPr>
          <a:lstStyle/>
          <a:p>
            <a:pPr algn="ctr">
              <a:defRPr sz="1100" b="1">
                <a:solidFill>
                  <a:srgbClr val="22C55E"/>
                </a:solidFill>
                <a:latin typeface="Calibri"/>
              </a:defRPr>
            </a:pPr>
            <a:r>
              <a:t>$200,000</a:t>
            </a:r>
          </a:p>
        </p:txBody>
      </p:sp>
      <p:sp>
        <p:nvSpPr>
          <p:cNvPr id="26" name="Rectangle 25"/>
          <p:cNvSpPr/>
          <p:nvPr/>
        </p:nvSpPr>
        <p:spPr>
          <a:xfrm>
            <a:off x="457200" y="3008376"/>
            <a:ext cx="11247120" cy="41148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3081528"/>
            <a:ext cx="4114800" cy="274320"/>
          </a:xfrm>
          <a:prstGeom prst="rect">
            <a:avLst/>
          </a:prstGeom>
          <a:noFill/>
        </p:spPr>
        <p:txBody>
          <a:bodyPr wrap="square">
            <a:spAutoFit/>
          </a:bodyPr>
          <a:lstStyle/>
          <a:p>
            <a:pPr algn="l">
              <a:defRPr sz="1100" b="0">
                <a:solidFill>
                  <a:srgbClr val="FFFFFF"/>
                </a:solidFill>
                <a:latin typeface="Calibri"/>
              </a:defRPr>
            </a:pPr>
            <a:r>
              <a:t>M&amp;A Full Service Deals</a:t>
            </a:r>
          </a:p>
        </p:txBody>
      </p:sp>
      <p:sp>
        <p:nvSpPr>
          <p:cNvPr id="28" name="TextBox 27"/>
          <p:cNvSpPr txBox="1"/>
          <p:nvPr/>
        </p:nvSpPr>
        <p:spPr>
          <a:xfrm>
            <a:off x="4846320" y="3081528"/>
            <a:ext cx="1828800" cy="274320"/>
          </a:xfrm>
          <a:prstGeom prst="rect">
            <a:avLst/>
          </a:prstGeom>
          <a:noFill/>
        </p:spPr>
        <p:txBody>
          <a:bodyPr wrap="square">
            <a:spAutoFit/>
          </a:bodyPr>
          <a:lstStyle/>
          <a:p>
            <a:pPr algn="ctr">
              <a:defRPr sz="1100" b="0">
                <a:solidFill>
                  <a:srgbClr val="FFFFFF"/>
                </a:solidFill>
                <a:latin typeface="Calibri"/>
              </a:defRPr>
            </a:pPr>
            <a:r>
              <a:t>$75,000</a:t>
            </a:r>
          </a:p>
        </p:txBody>
      </p:sp>
      <p:sp>
        <p:nvSpPr>
          <p:cNvPr id="29" name="TextBox 28"/>
          <p:cNvSpPr txBox="1"/>
          <p:nvPr/>
        </p:nvSpPr>
        <p:spPr>
          <a:xfrm>
            <a:off x="6858000" y="3081528"/>
            <a:ext cx="1645920" cy="274320"/>
          </a:xfrm>
          <a:prstGeom prst="rect">
            <a:avLst/>
          </a:prstGeom>
          <a:noFill/>
        </p:spPr>
        <p:txBody>
          <a:bodyPr wrap="square">
            <a:spAutoFit/>
          </a:bodyPr>
          <a:lstStyle/>
          <a:p>
            <a:pPr algn="ctr">
              <a:defRPr sz="1100" b="0">
                <a:solidFill>
                  <a:srgbClr val="FFFFFF"/>
                </a:solidFill>
                <a:latin typeface="Calibri"/>
              </a:defRPr>
            </a:pPr>
            <a:r>
              <a:t>2</a:t>
            </a:r>
          </a:p>
        </p:txBody>
      </p:sp>
      <p:sp>
        <p:nvSpPr>
          <p:cNvPr id="30" name="TextBox 29"/>
          <p:cNvSpPr txBox="1"/>
          <p:nvPr/>
        </p:nvSpPr>
        <p:spPr>
          <a:xfrm>
            <a:off x="8686800" y="3081528"/>
            <a:ext cx="2743200" cy="274320"/>
          </a:xfrm>
          <a:prstGeom prst="rect">
            <a:avLst/>
          </a:prstGeom>
          <a:noFill/>
        </p:spPr>
        <p:txBody>
          <a:bodyPr wrap="square">
            <a:spAutoFit/>
          </a:bodyPr>
          <a:lstStyle/>
          <a:p>
            <a:pPr algn="ctr">
              <a:defRPr sz="1100" b="1">
                <a:solidFill>
                  <a:srgbClr val="22C55E"/>
                </a:solidFill>
                <a:latin typeface="Calibri"/>
              </a:defRPr>
            </a:pPr>
            <a:r>
              <a:t>$150,000</a:t>
            </a:r>
          </a:p>
        </p:txBody>
      </p:sp>
      <p:sp>
        <p:nvSpPr>
          <p:cNvPr id="31" name="Rectangle 30"/>
          <p:cNvSpPr/>
          <p:nvPr/>
        </p:nvSpPr>
        <p:spPr>
          <a:xfrm>
            <a:off x="457200" y="3447288"/>
            <a:ext cx="11247120" cy="41148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8640" y="3520440"/>
            <a:ext cx="4114800" cy="274320"/>
          </a:xfrm>
          <a:prstGeom prst="rect">
            <a:avLst/>
          </a:prstGeom>
          <a:noFill/>
        </p:spPr>
        <p:txBody>
          <a:bodyPr wrap="square">
            <a:spAutoFit/>
          </a:bodyPr>
          <a:lstStyle/>
          <a:p>
            <a:pPr algn="l">
              <a:defRPr sz="1100" b="0">
                <a:solidFill>
                  <a:srgbClr val="FFFFFF"/>
                </a:solidFill>
                <a:latin typeface="Calibri"/>
              </a:defRPr>
            </a:pPr>
            <a:r>
              <a:t>AUM Fees (Growing Portfolio)</a:t>
            </a:r>
          </a:p>
        </p:txBody>
      </p:sp>
      <p:sp>
        <p:nvSpPr>
          <p:cNvPr id="33" name="TextBox 32"/>
          <p:cNvSpPr txBox="1"/>
          <p:nvPr/>
        </p:nvSpPr>
        <p:spPr>
          <a:xfrm>
            <a:off x="4846320" y="3520440"/>
            <a:ext cx="1828800" cy="274320"/>
          </a:xfrm>
          <a:prstGeom prst="rect">
            <a:avLst/>
          </a:prstGeom>
          <a:noFill/>
        </p:spPr>
        <p:txBody>
          <a:bodyPr wrap="square">
            <a:spAutoFit/>
          </a:bodyPr>
          <a:lstStyle/>
          <a:p>
            <a:pPr algn="ctr">
              <a:defRPr sz="1100" b="0">
                <a:solidFill>
                  <a:srgbClr val="FFFFFF"/>
                </a:solidFill>
                <a:latin typeface="Calibri"/>
              </a:defRPr>
            </a:pPr>
            <a:r>
              <a:t>1%</a:t>
            </a:r>
          </a:p>
        </p:txBody>
      </p:sp>
      <p:sp>
        <p:nvSpPr>
          <p:cNvPr id="34" name="TextBox 33"/>
          <p:cNvSpPr txBox="1"/>
          <p:nvPr/>
        </p:nvSpPr>
        <p:spPr>
          <a:xfrm>
            <a:off x="6858000" y="3520440"/>
            <a:ext cx="1645920" cy="274320"/>
          </a:xfrm>
          <a:prstGeom prst="rect">
            <a:avLst/>
          </a:prstGeom>
          <a:noFill/>
        </p:spPr>
        <p:txBody>
          <a:bodyPr wrap="square">
            <a:spAutoFit/>
          </a:bodyPr>
          <a:lstStyle/>
          <a:p>
            <a:pPr algn="ctr">
              <a:defRPr sz="1100" b="0">
                <a:solidFill>
                  <a:srgbClr val="FFFFFF"/>
                </a:solidFill>
                <a:latin typeface="Calibri"/>
              </a:defRPr>
            </a:pPr>
            <a:r>
              <a:t>$3.5M</a:t>
            </a:r>
          </a:p>
        </p:txBody>
      </p:sp>
      <p:sp>
        <p:nvSpPr>
          <p:cNvPr id="35" name="TextBox 34"/>
          <p:cNvSpPr txBox="1"/>
          <p:nvPr/>
        </p:nvSpPr>
        <p:spPr>
          <a:xfrm>
            <a:off x="8686800" y="3520440"/>
            <a:ext cx="2743200" cy="274320"/>
          </a:xfrm>
          <a:prstGeom prst="rect">
            <a:avLst/>
          </a:prstGeom>
          <a:noFill/>
        </p:spPr>
        <p:txBody>
          <a:bodyPr wrap="square">
            <a:spAutoFit/>
          </a:bodyPr>
          <a:lstStyle/>
          <a:p>
            <a:pPr algn="ctr">
              <a:defRPr sz="1100" b="1">
                <a:solidFill>
                  <a:srgbClr val="22C55E"/>
                </a:solidFill>
                <a:latin typeface="Calibri"/>
              </a:defRPr>
            </a:pPr>
            <a:r>
              <a:t>$35,000+</a:t>
            </a:r>
          </a:p>
        </p:txBody>
      </p:sp>
      <p:sp>
        <p:nvSpPr>
          <p:cNvPr id="36" name="Rectangle 35"/>
          <p:cNvSpPr/>
          <p:nvPr/>
        </p:nvSpPr>
        <p:spPr>
          <a:xfrm>
            <a:off x="457200" y="3886200"/>
            <a:ext cx="822960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8640" y="3977639"/>
            <a:ext cx="6309360" cy="320040"/>
          </a:xfrm>
          <a:prstGeom prst="rect">
            <a:avLst/>
          </a:prstGeom>
          <a:noFill/>
        </p:spPr>
        <p:txBody>
          <a:bodyPr wrap="square">
            <a:spAutoFit/>
          </a:bodyPr>
          <a:lstStyle/>
          <a:p>
            <a:pPr algn="r">
              <a:defRPr sz="1400" b="1">
                <a:solidFill>
                  <a:srgbClr val="FFFFFF"/>
                </a:solidFill>
                <a:latin typeface="Calibri"/>
              </a:defRPr>
            </a:pPr>
            <a:r>
              <a:t>YEAR 1 TOTAL</a:t>
            </a:r>
          </a:p>
        </p:txBody>
      </p:sp>
      <p:sp>
        <p:nvSpPr>
          <p:cNvPr id="38" name="TextBox 37"/>
          <p:cNvSpPr txBox="1"/>
          <p:nvPr/>
        </p:nvSpPr>
        <p:spPr>
          <a:xfrm>
            <a:off x="6858000" y="3977639"/>
            <a:ext cx="1645920" cy="320040"/>
          </a:xfrm>
          <a:prstGeom prst="rect">
            <a:avLst/>
          </a:prstGeom>
          <a:noFill/>
        </p:spPr>
        <p:txBody>
          <a:bodyPr wrap="square">
            <a:spAutoFit/>
          </a:bodyPr>
          <a:lstStyle/>
          <a:p>
            <a:pPr algn="ctr">
              <a:defRPr sz="1100" b="1">
                <a:solidFill>
                  <a:srgbClr val="FFFFFF"/>
                </a:solidFill>
                <a:latin typeface="Calibri"/>
              </a:defRPr>
            </a:pPr>
            <a:r>
              <a:t>35 deals</a:t>
            </a:r>
          </a:p>
        </p:txBody>
      </p:sp>
      <p:sp>
        <p:nvSpPr>
          <p:cNvPr id="39" name="Rectangle 38"/>
          <p:cNvSpPr/>
          <p:nvPr/>
        </p:nvSpPr>
        <p:spPr>
          <a:xfrm>
            <a:off x="8686800" y="3886200"/>
            <a:ext cx="301752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86800" y="3959352"/>
            <a:ext cx="3017520" cy="365760"/>
          </a:xfrm>
          <a:prstGeom prst="rect">
            <a:avLst/>
          </a:prstGeom>
          <a:noFill/>
        </p:spPr>
        <p:txBody>
          <a:bodyPr wrap="square">
            <a:spAutoFit/>
          </a:bodyPr>
          <a:lstStyle/>
          <a:p>
            <a:pPr algn="ctr">
              <a:defRPr sz="1800" b="1">
                <a:solidFill>
                  <a:srgbClr val="FFFFFF"/>
                </a:solidFill>
                <a:latin typeface="Calibri"/>
              </a:defRPr>
            </a:pPr>
            <a:r>
              <a:t>$1,000,000</a:t>
            </a:r>
          </a:p>
        </p:txBody>
      </p:sp>
      <p:sp>
        <p:nvSpPr>
          <p:cNvPr id="41" name="Rounded Rectangle 40"/>
          <p:cNvSpPr/>
          <p:nvPr/>
        </p:nvSpPr>
        <p:spPr>
          <a:xfrm>
            <a:off x="457200" y="4526280"/>
            <a:ext cx="2651760" cy="91440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4663440"/>
            <a:ext cx="2468880" cy="228600"/>
          </a:xfrm>
          <a:prstGeom prst="rect">
            <a:avLst/>
          </a:prstGeom>
          <a:noFill/>
        </p:spPr>
        <p:txBody>
          <a:bodyPr wrap="square">
            <a:spAutoFit/>
          </a:bodyPr>
          <a:lstStyle/>
          <a:p>
            <a:pPr algn="ctr">
              <a:defRPr sz="1000" b="0">
                <a:solidFill>
                  <a:srgbClr val="94A3B8"/>
                </a:solidFill>
                <a:latin typeface="Calibri"/>
              </a:defRPr>
            </a:pPr>
            <a:r>
              <a:t>Deals/Month</a:t>
            </a:r>
          </a:p>
        </p:txBody>
      </p:sp>
      <p:sp>
        <p:nvSpPr>
          <p:cNvPr id="43" name="TextBox 42"/>
          <p:cNvSpPr txBox="1"/>
          <p:nvPr/>
        </p:nvSpPr>
        <p:spPr>
          <a:xfrm>
            <a:off x="548640" y="4892040"/>
            <a:ext cx="2468880" cy="457200"/>
          </a:xfrm>
          <a:prstGeom prst="rect">
            <a:avLst/>
          </a:prstGeom>
          <a:noFill/>
        </p:spPr>
        <p:txBody>
          <a:bodyPr wrap="square">
            <a:spAutoFit/>
          </a:bodyPr>
          <a:lstStyle/>
          <a:p>
            <a:pPr algn="ctr">
              <a:defRPr sz="2200" b="1">
                <a:solidFill>
                  <a:srgbClr val="F59E0B"/>
                </a:solidFill>
                <a:latin typeface="Calibri"/>
              </a:defRPr>
            </a:pPr>
            <a:r>
              <a:t>~3</a:t>
            </a:r>
          </a:p>
        </p:txBody>
      </p:sp>
      <p:sp>
        <p:nvSpPr>
          <p:cNvPr id="44" name="Rounded Rectangle 43"/>
          <p:cNvSpPr/>
          <p:nvPr/>
        </p:nvSpPr>
        <p:spPr>
          <a:xfrm>
            <a:off x="3383280" y="4526280"/>
            <a:ext cx="2651760" cy="91440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74720" y="4663440"/>
            <a:ext cx="2468880" cy="228600"/>
          </a:xfrm>
          <a:prstGeom prst="rect">
            <a:avLst/>
          </a:prstGeom>
          <a:noFill/>
        </p:spPr>
        <p:txBody>
          <a:bodyPr wrap="square">
            <a:spAutoFit/>
          </a:bodyPr>
          <a:lstStyle/>
          <a:p>
            <a:pPr algn="ctr">
              <a:defRPr sz="1000" b="0">
                <a:solidFill>
                  <a:srgbClr val="94A3B8"/>
                </a:solidFill>
                <a:latin typeface="Calibri"/>
              </a:defRPr>
            </a:pPr>
            <a:r>
              <a:t>Leads Required</a:t>
            </a:r>
          </a:p>
        </p:txBody>
      </p:sp>
      <p:sp>
        <p:nvSpPr>
          <p:cNvPr id="46" name="TextBox 45"/>
          <p:cNvSpPr txBox="1"/>
          <p:nvPr/>
        </p:nvSpPr>
        <p:spPr>
          <a:xfrm>
            <a:off x="3474720" y="4892040"/>
            <a:ext cx="2468880" cy="457200"/>
          </a:xfrm>
          <a:prstGeom prst="rect">
            <a:avLst/>
          </a:prstGeom>
          <a:noFill/>
        </p:spPr>
        <p:txBody>
          <a:bodyPr wrap="square">
            <a:spAutoFit/>
          </a:bodyPr>
          <a:lstStyle/>
          <a:p>
            <a:pPr algn="ctr">
              <a:defRPr sz="2200" b="1">
                <a:solidFill>
                  <a:srgbClr val="3B82F6"/>
                </a:solidFill>
                <a:latin typeface="Calibri"/>
              </a:defRPr>
            </a:pPr>
            <a:r>
              <a:t>20/mo</a:t>
            </a:r>
          </a:p>
        </p:txBody>
      </p:sp>
      <p:sp>
        <p:nvSpPr>
          <p:cNvPr id="47" name="Rounded Rectangle 46"/>
          <p:cNvSpPr/>
          <p:nvPr/>
        </p:nvSpPr>
        <p:spPr>
          <a:xfrm>
            <a:off x="6309360" y="4526280"/>
            <a:ext cx="2651760" cy="91440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0800" y="4663440"/>
            <a:ext cx="2468880" cy="228600"/>
          </a:xfrm>
          <a:prstGeom prst="rect">
            <a:avLst/>
          </a:prstGeom>
          <a:noFill/>
        </p:spPr>
        <p:txBody>
          <a:bodyPr wrap="square">
            <a:spAutoFit/>
          </a:bodyPr>
          <a:lstStyle/>
          <a:p>
            <a:pPr algn="ctr">
              <a:defRPr sz="1000" b="0">
                <a:solidFill>
                  <a:srgbClr val="94A3B8"/>
                </a:solidFill>
                <a:latin typeface="Calibri"/>
              </a:defRPr>
            </a:pPr>
            <a:r>
              <a:t>Close Rate</a:t>
            </a:r>
          </a:p>
        </p:txBody>
      </p:sp>
      <p:sp>
        <p:nvSpPr>
          <p:cNvPr id="49" name="TextBox 48"/>
          <p:cNvSpPr txBox="1"/>
          <p:nvPr/>
        </p:nvSpPr>
        <p:spPr>
          <a:xfrm>
            <a:off x="6400800" y="4892040"/>
            <a:ext cx="2468880" cy="457200"/>
          </a:xfrm>
          <a:prstGeom prst="rect">
            <a:avLst/>
          </a:prstGeom>
          <a:noFill/>
        </p:spPr>
        <p:txBody>
          <a:bodyPr wrap="square">
            <a:spAutoFit/>
          </a:bodyPr>
          <a:lstStyle/>
          <a:p>
            <a:pPr algn="ctr">
              <a:defRPr sz="2200" b="1">
                <a:solidFill>
                  <a:srgbClr val="22C55E"/>
                </a:solidFill>
                <a:latin typeface="Calibri"/>
              </a:defRPr>
            </a:pPr>
            <a:r>
              <a:t>15-20%</a:t>
            </a:r>
          </a:p>
        </p:txBody>
      </p:sp>
      <p:sp>
        <p:nvSpPr>
          <p:cNvPr id="50" name="Rounded Rectangle 49"/>
          <p:cNvSpPr/>
          <p:nvPr/>
        </p:nvSpPr>
        <p:spPr>
          <a:xfrm>
            <a:off x="9235440" y="4526280"/>
            <a:ext cx="2651760" cy="91440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326880" y="4663440"/>
            <a:ext cx="2468880" cy="228600"/>
          </a:xfrm>
          <a:prstGeom prst="rect">
            <a:avLst/>
          </a:prstGeom>
          <a:noFill/>
        </p:spPr>
        <p:txBody>
          <a:bodyPr wrap="square">
            <a:spAutoFit/>
          </a:bodyPr>
          <a:lstStyle/>
          <a:p>
            <a:pPr algn="ctr">
              <a:defRPr sz="1000" b="0">
                <a:solidFill>
                  <a:srgbClr val="94A3B8"/>
                </a:solidFill>
                <a:latin typeface="Calibri"/>
              </a:defRPr>
            </a:pPr>
            <a:r>
              <a:t>Avg Ticket</a:t>
            </a:r>
          </a:p>
        </p:txBody>
      </p:sp>
      <p:sp>
        <p:nvSpPr>
          <p:cNvPr id="52" name="TextBox 51"/>
          <p:cNvSpPr txBox="1"/>
          <p:nvPr/>
        </p:nvSpPr>
        <p:spPr>
          <a:xfrm>
            <a:off x="9326880" y="4892040"/>
            <a:ext cx="2468880" cy="457200"/>
          </a:xfrm>
          <a:prstGeom prst="rect">
            <a:avLst/>
          </a:prstGeom>
          <a:noFill/>
        </p:spPr>
        <p:txBody>
          <a:bodyPr wrap="square">
            <a:spAutoFit/>
          </a:bodyPr>
          <a:lstStyle/>
          <a:p>
            <a:pPr algn="ctr">
              <a:defRPr sz="2200" b="1">
                <a:solidFill>
                  <a:srgbClr val="F59E0B"/>
                </a:solidFill>
                <a:latin typeface="Calibri"/>
              </a:defRPr>
            </a:pPr>
            <a:r>
              <a:t>~$28.5K</a:t>
            </a:r>
          </a:p>
        </p:txBody>
      </p:sp>
      <p:sp>
        <p:nvSpPr>
          <p:cNvPr id="53" name="TextBox 52"/>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Performance Trajectory</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5577840" cy="237744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005840"/>
            <a:ext cx="5577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188720"/>
            <a:ext cx="5212080" cy="365760"/>
          </a:xfrm>
          <a:prstGeom prst="rect">
            <a:avLst/>
          </a:prstGeom>
          <a:noFill/>
        </p:spPr>
        <p:txBody>
          <a:bodyPr wrap="square">
            <a:spAutoFit/>
          </a:bodyPr>
          <a:lstStyle/>
          <a:p>
            <a:pPr algn="l">
              <a:defRPr sz="1400" b="1">
                <a:solidFill>
                  <a:srgbClr val="3B82F6"/>
                </a:solidFill>
                <a:latin typeface="Calibri"/>
              </a:defRPr>
            </a:pPr>
            <a:r>
              <a:t>Q1: Months 1-3</a:t>
            </a:r>
          </a:p>
        </p:txBody>
      </p:sp>
      <p:sp>
        <p:nvSpPr>
          <p:cNvPr id="8" name="TextBox 7"/>
          <p:cNvSpPr txBox="1"/>
          <p:nvPr/>
        </p:nvSpPr>
        <p:spPr>
          <a:xfrm>
            <a:off x="640080" y="1600200"/>
            <a:ext cx="5212080" cy="365760"/>
          </a:xfrm>
          <a:prstGeom prst="rect">
            <a:avLst/>
          </a:prstGeom>
          <a:noFill/>
        </p:spPr>
        <p:txBody>
          <a:bodyPr wrap="square">
            <a:spAutoFit/>
          </a:bodyPr>
          <a:lstStyle/>
          <a:p>
            <a:pPr algn="l">
              <a:defRPr sz="1200" b="0">
                <a:solidFill>
                  <a:srgbClr val="FFFFFF"/>
                </a:solidFill>
                <a:latin typeface="Calibri"/>
              </a:defRPr>
            </a:pPr>
            <a:r>
              <a:t>• Revenue: $130K (6 deals)</a:t>
            </a:r>
          </a:p>
        </p:txBody>
      </p:sp>
      <p:sp>
        <p:nvSpPr>
          <p:cNvPr id="9" name="TextBox 8"/>
          <p:cNvSpPr txBox="1"/>
          <p:nvPr/>
        </p:nvSpPr>
        <p:spPr>
          <a:xfrm>
            <a:off x="640080" y="2011680"/>
            <a:ext cx="5212080" cy="365760"/>
          </a:xfrm>
          <a:prstGeom prst="rect">
            <a:avLst/>
          </a:prstGeom>
          <a:noFill/>
        </p:spPr>
        <p:txBody>
          <a:bodyPr wrap="square">
            <a:spAutoFit/>
          </a:bodyPr>
          <a:lstStyle/>
          <a:p>
            <a:pPr algn="l">
              <a:defRPr sz="1200" b="0">
                <a:solidFill>
                  <a:srgbClr val="FFFFFF"/>
                </a:solidFill>
                <a:latin typeface="Calibri"/>
              </a:defRPr>
            </a:pPr>
            <a:r>
              <a:t>• Pace: 2 deals/month</a:t>
            </a:r>
          </a:p>
        </p:txBody>
      </p:sp>
      <p:sp>
        <p:nvSpPr>
          <p:cNvPr id="10" name="TextBox 9"/>
          <p:cNvSpPr txBox="1"/>
          <p:nvPr/>
        </p:nvSpPr>
        <p:spPr>
          <a:xfrm>
            <a:off x="640080" y="2423160"/>
            <a:ext cx="5212080" cy="365760"/>
          </a:xfrm>
          <a:prstGeom prst="rect">
            <a:avLst/>
          </a:prstGeom>
          <a:noFill/>
        </p:spPr>
        <p:txBody>
          <a:bodyPr wrap="square">
            <a:spAutoFit/>
          </a:bodyPr>
          <a:lstStyle/>
          <a:p>
            <a:pPr algn="l">
              <a:defRPr sz="1200" b="0">
                <a:solidFill>
                  <a:srgbClr val="FFFFFF"/>
                </a:solidFill>
                <a:latin typeface="Calibri"/>
              </a:defRPr>
            </a:pPr>
            <a:r>
              <a:t>• Leads: 20+/month automated</a:t>
            </a:r>
          </a:p>
        </p:txBody>
      </p:sp>
      <p:sp>
        <p:nvSpPr>
          <p:cNvPr id="11" name="TextBox 10"/>
          <p:cNvSpPr txBox="1"/>
          <p:nvPr/>
        </p:nvSpPr>
        <p:spPr>
          <a:xfrm>
            <a:off x="640080" y="2834640"/>
            <a:ext cx="5212080" cy="365760"/>
          </a:xfrm>
          <a:prstGeom prst="rect">
            <a:avLst/>
          </a:prstGeom>
          <a:noFill/>
        </p:spPr>
        <p:txBody>
          <a:bodyPr wrap="square">
            <a:spAutoFit/>
          </a:bodyPr>
          <a:lstStyle/>
          <a:p>
            <a:pPr algn="l">
              <a:defRPr sz="1200" b="0">
                <a:solidFill>
                  <a:srgbClr val="FFFFFF"/>
                </a:solidFill>
                <a:latin typeface="Calibri"/>
              </a:defRPr>
            </a:pPr>
            <a:r>
              <a:t>• Time Saved: 20+ hrs/week</a:t>
            </a:r>
          </a:p>
        </p:txBody>
      </p:sp>
      <p:sp>
        <p:nvSpPr>
          <p:cNvPr id="12" name="Rounded Rectangle 11"/>
          <p:cNvSpPr/>
          <p:nvPr/>
        </p:nvSpPr>
        <p:spPr>
          <a:xfrm>
            <a:off x="6309360" y="1005840"/>
            <a:ext cx="5577840" cy="237744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1005840"/>
            <a:ext cx="557784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188720"/>
            <a:ext cx="5212080" cy="365760"/>
          </a:xfrm>
          <a:prstGeom prst="rect">
            <a:avLst/>
          </a:prstGeom>
          <a:noFill/>
        </p:spPr>
        <p:txBody>
          <a:bodyPr wrap="square">
            <a:spAutoFit/>
          </a:bodyPr>
          <a:lstStyle/>
          <a:p>
            <a:pPr algn="l">
              <a:defRPr sz="1400" b="1">
                <a:solidFill>
                  <a:srgbClr val="22C55E"/>
                </a:solidFill>
                <a:latin typeface="Calibri"/>
              </a:defRPr>
            </a:pPr>
            <a:r>
              <a:t>Q2: Months 4-6</a:t>
            </a:r>
          </a:p>
        </p:txBody>
      </p:sp>
      <p:sp>
        <p:nvSpPr>
          <p:cNvPr id="15" name="TextBox 14"/>
          <p:cNvSpPr txBox="1"/>
          <p:nvPr/>
        </p:nvSpPr>
        <p:spPr>
          <a:xfrm>
            <a:off x="6492240" y="1600200"/>
            <a:ext cx="5212080" cy="365760"/>
          </a:xfrm>
          <a:prstGeom prst="rect">
            <a:avLst/>
          </a:prstGeom>
          <a:noFill/>
        </p:spPr>
        <p:txBody>
          <a:bodyPr wrap="square">
            <a:spAutoFit/>
          </a:bodyPr>
          <a:lstStyle/>
          <a:p>
            <a:pPr algn="l">
              <a:defRPr sz="1200" b="0">
                <a:solidFill>
                  <a:srgbClr val="FFFFFF"/>
                </a:solidFill>
                <a:latin typeface="Calibri"/>
              </a:defRPr>
            </a:pPr>
            <a:r>
              <a:t>• Revenue: $200K (9 deals)</a:t>
            </a:r>
          </a:p>
        </p:txBody>
      </p:sp>
      <p:sp>
        <p:nvSpPr>
          <p:cNvPr id="16" name="TextBox 15"/>
          <p:cNvSpPr txBox="1"/>
          <p:nvPr/>
        </p:nvSpPr>
        <p:spPr>
          <a:xfrm>
            <a:off x="6492240" y="2011680"/>
            <a:ext cx="5212080" cy="365760"/>
          </a:xfrm>
          <a:prstGeom prst="rect">
            <a:avLst/>
          </a:prstGeom>
          <a:noFill/>
        </p:spPr>
        <p:txBody>
          <a:bodyPr wrap="square">
            <a:spAutoFit/>
          </a:bodyPr>
          <a:lstStyle/>
          <a:p>
            <a:pPr algn="l">
              <a:defRPr sz="1200" b="0">
                <a:solidFill>
                  <a:srgbClr val="FFFFFF"/>
                </a:solidFill>
                <a:latin typeface="Calibri"/>
              </a:defRPr>
            </a:pPr>
            <a:r>
              <a:t>• Pace: 3 deals/month</a:t>
            </a:r>
          </a:p>
        </p:txBody>
      </p:sp>
      <p:sp>
        <p:nvSpPr>
          <p:cNvPr id="17" name="TextBox 16"/>
          <p:cNvSpPr txBox="1"/>
          <p:nvPr/>
        </p:nvSpPr>
        <p:spPr>
          <a:xfrm>
            <a:off x="6492240" y="2423160"/>
            <a:ext cx="5212080" cy="365760"/>
          </a:xfrm>
          <a:prstGeom prst="rect">
            <a:avLst/>
          </a:prstGeom>
          <a:noFill/>
        </p:spPr>
        <p:txBody>
          <a:bodyPr wrap="square">
            <a:spAutoFit/>
          </a:bodyPr>
          <a:lstStyle/>
          <a:p>
            <a:pPr algn="l">
              <a:defRPr sz="1200" b="0">
                <a:solidFill>
                  <a:srgbClr val="FFFFFF"/>
                </a:solidFill>
                <a:latin typeface="Calibri"/>
              </a:defRPr>
            </a:pPr>
            <a:r>
              <a:t>• Running Total: $330K</a:t>
            </a:r>
          </a:p>
        </p:txBody>
      </p:sp>
      <p:sp>
        <p:nvSpPr>
          <p:cNvPr id="18" name="TextBox 17"/>
          <p:cNvSpPr txBox="1"/>
          <p:nvPr/>
        </p:nvSpPr>
        <p:spPr>
          <a:xfrm>
            <a:off x="6492240" y="2834640"/>
            <a:ext cx="5212080" cy="365760"/>
          </a:xfrm>
          <a:prstGeom prst="rect">
            <a:avLst/>
          </a:prstGeom>
          <a:noFill/>
        </p:spPr>
        <p:txBody>
          <a:bodyPr wrap="square">
            <a:spAutoFit/>
          </a:bodyPr>
          <a:lstStyle/>
          <a:p>
            <a:pPr algn="l">
              <a:defRPr sz="1200" b="0">
                <a:solidFill>
                  <a:srgbClr val="FFFFFF"/>
                </a:solidFill>
                <a:latin typeface="Calibri"/>
              </a:defRPr>
            </a:pPr>
            <a:r>
              <a:t>• Hours: 45-50 hrs/week focused</a:t>
            </a:r>
          </a:p>
        </p:txBody>
      </p:sp>
      <p:sp>
        <p:nvSpPr>
          <p:cNvPr id="19" name="Rounded Rectangle 18"/>
          <p:cNvSpPr/>
          <p:nvPr/>
        </p:nvSpPr>
        <p:spPr>
          <a:xfrm>
            <a:off x="457200" y="3657600"/>
            <a:ext cx="5577840" cy="237744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3657600"/>
            <a:ext cx="55778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840480"/>
            <a:ext cx="5212080" cy="365760"/>
          </a:xfrm>
          <a:prstGeom prst="rect">
            <a:avLst/>
          </a:prstGeom>
          <a:noFill/>
        </p:spPr>
        <p:txBody>
          <a:bodyPr wrap="square">
            <a:spAutoFit/>
          </a:bodyPr>
          <a:lstStyle/>
          <a:p>
            <a:pPr algn="l">
              <a:defRPr sz="1400" b="1">
                <a:solidFill>
                  <a:srgbClr val="F59E0B"/>
                </a:solidFill>
                <a:latin typeface="Calibri"/>
              </a:defRPr>
            </a:pPr>
            <a:r>
              <a:t>Q3: Months 7-9</a:t>
            </a:r>
          </a:p>
        </p:txBody>
      </p:sp>
      <p:sp>
        <p:nvSpPr>
          <p:cNvPr id="22" name="TextBox 21"/>
          <p:cNvSpPr txBox="1"/>
          <p:nvPr/>
        </p:nvSpPr>
        <p:spPr>
          <a:xfrm>
            <a:off x="640080" y="4251960"/>
            <a:ext cx="5212080" cy="365760"/>
          </a:xfrm>
          <a:prstGeom prst="rect">
            <a:avLst/>
          </a:prstGeom>
          <a:noFill/>
        </p:spPr>
        <p:txBody>
          <a:bodyPr wrap="square">
            <a:spAutoFit/>
          </a:bodyPr>
          <a:lstStyle/>
          <a:p>
            <a:pPr algn="l">
              <a:defRPr sz="1200" b="0">
                <a:solidFill>
                  <a:srgbClr val="FFFFFF"/>
                </a:solidFill>
                <a:latin typeface="Calibri"/>
              </a:defRPr>
            </a:pPr>
            <a:r>
              <a:t>• Revenue: $280K (10 deals)</a:t>
            </a:r>
          </a:p>
        </p:txBody>
      </p:sp>
      <p:sp>
        <p:nvSpPr>
          <p:cNvPr id="23" name="TextBox 22"/>
          <p:cNvSpPr txBox="1"/>
          <p:nvPr/>
        </p:nvSpPr>
        <p:spPr>
          <a:xfrm>
            <a:off x="640080" y="4663440"/>
            <a:ext cx="5212080" cy="365760"/>
          </a:xfrm>
          <a:prstGeom prst="rect">
            <a:avLst/>
          </a:prstGeom>
          <a:noFill/>
        </p:spPr>
        <p:txBody>
          <a:bodyPr wrap="square">
            <a:spAutoFit/>
          </a:bodyPr>
          <a:lstStyle/>
          <a:p>
            <a:pPr algn="l">
              <a:defRPr sz="1200" b="0">
                <a:solidFill>
                  <a:srgbClr val="FFFFFF"/>
                </a:solidFill>
                <a:latin typeface="Calibri"/>
              </a:defRPr>
            </a:pPr>
            <a:r>
              <a:t>• Pace: 3-4 deals/month</a:t>
            </a:r>
          </a:p>
        </p:txBody>
      </p:sp>
      <p:sp>
        <p:nvSpPr>
          <p:cNvPr id="24" name="TextBox 23"/>
          <p:cNvSpPr txBox="1"/>
          <p:nvPr/>
        </p:nvSpPr>
        <p:spPr>
          <a:xfrm>
            <a:off x="640080" y="5074920"/>
            <a:ext cx="5212080" cy="365760"/>
          </a:xfrm>
          <a:prstGeom prst="rect">
            <a:avLst/>
          </a:prstGeom>
          <a:noFill/>
        </p:spPr>
        <p:txBody>
          <a:bodyPr wrap="square">
            <a:spAutoFit/>
          </a:bodyPr>
          <a:lstStyle/>
          <a:p>
            <a:pPr algn="l">
              <a:defRPr sz="1200" b="0">
                <a:solidFill>
                  <a:srgbClr val="FFFFFF"/>
                </a:solidFill>
                <a:latin typeface="Calibri"/>
              </a:defRPr>
            </a:pPr>
            <a:r>
              <a:t>• Running Total: $610K</a:t>
            </a:r>
          </a:p>
        </p:txBody>
      </p:sp>
      <p:sp>
        <p:nvSpPr>
          <p:cNvPr id="25" name="TextBox 24"/>
          <p:cNvSpPr txBox="1"/>
          <p:nvPr/>
        </p:nvSpPr>
        <p:spPr>
          <a:xfrm>
            <a:off x="640080" y="5486400"/>
            <a:ext cx="5212080" cy="365760"/>
          </a:xfrm>
          <a:prstGeom prst="rect">
            <a:avLst/>
          </a:prstGeom>
          <a:noFill/>
        </p:spPr>
        <p:txBody>
          <a:bodyPr wrap="square">
            <a:spAutoFit/>
          </a:bodyPr>
          <a:lstStyle/>
          <a:p>
            <a:pPr algn="l">
              <a:defRPr sz="1200" b="0">
                <a:solidFill>
                  <a:srgbClr val="FFFFFF"/>
                </a:solidFill>
                <a:latin typeface="Calibri"/>
              </a:defRPr>
            </a:pPr>
            <a:r>
              <a:t>• Ready: Revenue supports first hire</a:t>
            </a:r>
          </a:p>
        </p:txBody>
      </p:sp>
      <p:sp>
        <p:nvSpPr>
          <p:cNvPr id="26" name="Rounded Rectangle 25"/>
          <p:cNvSpPr/>
          <p:nvPr/>
        </p:nvSpPr>
        <p:spPr>
          <a:xfrm>
            <a:off x="6309360" y="3657600"/>
            <a:ext cx="5577840" cy="237744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09360" y="3657600"/>
            <a:ext cx="5577840" cy="54864"/>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0" y="3840480"/>
            <a:ext cx="5212080" cy="365760"/>
          </a:xfrm>
          <a:prstGeom prst="rect">
            <a:avLst/>
          </a:prstGeom>
          <a:noFill/>
        </p:spPr>
        <p:txBody>
          <a:bodyPr wrap="square">
            <a:spAutoFit/>
          </a:bodyPr>
          <a:lstStyle/>
          <a:p>
            <a:pPr algn="l">
              <a:defRPr sz="1400" b="1">
                <a:solidFill>
                  <a:srgbClr val="EC4899"/>
                </a:solidFill>
                <a:latin typeface="Calibri"/>
              </a:defRPr>
            </a:pPr>
            <a:r>
              <a:t>Q4: Months 10-12</a:t>
            </a:r>
          </a:p>
        </p:txBody>
      </p:sp>
      <p:sp>
        <p:nvSpPr>
          <p:cNvPr id="29" name="TextBox 28"/>
          <p:cNvSpPr txBox="1"/>
          <p:nvPr/>
        </p:nvSpPr>
        <p:spPr>
          <a:xfrm>
            <a:off x="6492240" y="4251960"/>
            <a:ext cx="5212080" cy="365760"/>
          </a:xfrm>
          <a:prstGeom prst="rect">
            <a:avLst/>
          </a:prstGeom>
          <a:noFill/>
        </p:spPr>
        <p:txBody>
          <a:bodyPr wrap="square">
            <a:spAutoFit/>
          </a:bodyPr>
          <a:lstStyle/>
          <a:p>
            <a:pPr algn="l">
              <a:defRPr sz="1200" b="0">
                <a:solidFill>
                  <a:srgbClr val="FFFFFF"/>
                </a:solidFill>
                <a:latin typeface="Calibri"/>
              </a:defRPr>
            </a:pPr>
            <a:r>
              <a:t>• Revenue: $390K (10 deals)</a:t>
            </a:r>
          </a:p>
        </p:txBody>
      </p:sp>
      <p:sp>
        <p:nvSpPr>
          <p:cNvPr id="30" name="TextBox 29"/>
          <p:cNvSpPr txBox="1"/>
          <p:nvPr/>
        </p:nvSpPr>
        <p:spPr>
          <a:xfrm>
            <a:off x="6492240" y="4663440"/>
            <a:ext cx="5212080" cy="365760"/>
          </a:xfrm>
          <a:prstGeom prst="rect">
            <a:avLst/>
          </a:prstGeom>
          <a:noFill/>
        </p:spPr>
        <p:txBody>
          <a:bodyPr wrap="square">
            <a:spAutoFit/>
          </a:bodyPr>
          <a:lstStyle/>
          <a:p>
            <a:pPr algn="l">
              <a:defRPr sz="1200" b="0">
                <a:solidFill>
                  <a:srgbClr val="FFFFFF"/>
                </a:solidFill>
                <a:latin typeface="Calibri"/>
              </a:defRPr>
            </a:pPr>
            <a:r>
              <a:t>• Pace: 4 deals/month</a:t>
            </a:r>
          </a:p>
        </p:txBody>
      </p:sp>
      <p:sp>
        <p:nvSpPr>
          <p:cNvPr id="31" name="TextBox 30"/>
          <p:cNvSpPr txBox="1"/>
          <p:nvPr/>
        </p:nvSpPr>
        <p:spPr>
          <a:xfrm>
            <a:off x="6492240" y="5074920"/>
            <a:ext cx="5212080" cy="365760"/>
          </a:xfrm>
          <a:prstGeom prst="rect">
            <a:avLst/>
          </a:prstGeom>
          <a:noFill/>
        </p:spPr>
        <p:txBody>
          <a:bodyPr wrap="square">
            <a:spAutoFit/>
          </a:bodyPr>
          <a:lstStyle/>
          <a:p>
            <a:pPr algn="l">
              <a:defRPr sz="1200" b="1">
                <a:solidFill>
                  <a:srgbClr val="22C55E"/>
                </a:solidFill>
                <a:latin typeface="Calibri"/>
              </a:defRPr>
            </a:pPr>
            <a:r>
              <a:t>• YEAR 1 TOTAL: $1,000,000</a:t>
            </a:r>
          </a:p>
        </p:txBody>
      </p:sp>
      <p:sp>
        <p:nvSpPr>
          <p:cNvPr id="32" name="TextBox 31"/>
          <p:cNvSpPr txBox="1"/>
          <p:nvPr/>
        </p:nvSpPr>
        <p:spPr>
          <a:xfrm>
            <a:off x="6492240" y="5486400"/>
            <a:ext cx="5212080" cy="365760"/>
          </a:xfrm>
          <a:prstGeom prst="rect">
            <a:avLst/>
          </a:prstGeom>
          <a:noFill/>
        </p:spPr>
        <p:txBody>
          <a:bodyPr wrap="square">
            <a:spAutoFit/>
          </a:bodyPr>
          <a:lstStyle/>
          <a:p>
            <a:pPr algn="l">
              <a:defRPr sz="1200" b="0">
                <a:solidFill>
                  <a:srgbClr val="FFFFFF"/>
                </a:solidFill>
                <a:latin typeface="Calibri"/>
              </a:defRPr>
            </a:pPr>
            <a:r>
              <a:t>• Position: NYC market authority</a:t>
            </a:r>
          </a:p>
        </p:txBody>
      </p:sp>
      <p:sp>
        <p:nvSpPr>
          <p:cNvPr id="33" name="TextBox 32"/>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90-Day Implementation Timeline</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5577840" cy="237744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005840"/>
            <a:ext cx="5577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143000"/>
            <a:ext cx="5212080" cy="320040"/>
          </a:xfrm>
          <a:prstGeom prst="rect">
            <a:avLst/>
          </a:prstGeom>
          <a:noFill/>
        </p:spPr>
        <p:txBody>
          <a:bodyPr wrap="square">
            <a:spAutoFit/>
          </a:bodyPr>
          <a:lstStyle/>
          <a:p>
            <a:pPr algn="l">
              <a:defRPr sz="1300" b="1">
                <a:solidFill>
                  <a:srgbClr val="3B82F6"/>
                </a:solidFill>
                <a:latin typeface="Calibri"/>
              </a:defRPr>
            </a:pPr>
            <a:r>
              <a:t>Week 1-2: Foundation</a:t>
            </a:r>
          </a:p>
        </p:txBody>
      </p:sp>
      <p:sp>
        <p:nvSpPr>
          <p:cNvPr id="8" name="TextBox 7"/>
          <p:cNvSpPr txBox="1"/>
          <p:nvPr/>
        </p:nvSpPr>
        <p:spPr>
          <a:xfrm>
            <a:off x="640080" y="1508760"/>
            <a:ext cx="5212080" cy="320040"/>
          </a:xfrm>
          <a:prstGeom prst="rect">
            <a:avLst/>
          </a:prstGeom>
          <a:noFill/>
        </p:spPr>
        <p:txBody>
          <a:bodyPr wrap="square">
            <a:spAutoFit/>
          </a:bodyPr>
          <a:lstStyle/>
          <a:p>
            <a:pPr algn="l">
              <a:defRPr sz="1000" b="0">
                <a:solidFill>
                  <a:srgbClr val="FFFFFF"/>
                </a:solidFill>
                <a:latin typeface="Calibri"/>
              </a:defRPr>
            </a:pPr>
            <a:r>
              <a:t>• Define unique value proposition for NYC market</a:t>
            </a:r>
          </a:p>
        </p:txBody>
      </p:sp>
      <p:sp>
        <p:nvSpPr>
          <p:cNvPr id="9" name="TextBox 8"/>
          <p:cNvSpPr txBox="1"/>
          <p:nvPr/>
        </p:nvSpPr>
        <p:spPr>
          <a:xfrm>
            <a:off x="640080" y="1856232"/>
            <a:ext cx="5212080" cy="320040"/>
          </a:xfrm>
          <a:prstGeom prst="rect">
            <a:avLst/>
          </a:prstGeom>
          <a:noFill/>
        </p:spPr>
        <p:txBody>
          <a:bodyPr wrap="square">
            <a:spAutoFit/>
          </a:bodyPr>
          <a:lstStyle/>
          <a:p>
            <a:pPr algn="l">
              <a:defRPr sz="1000" b="0">
                <a:solidFill>
                  <a:srgbClr val="FFFFFF"/>
                </a:solidFill>
                <a:latin typeface="Calibri"/>
              </a:defRPr>
            </a:pPr>
            <a:r>
              <a:t>• Build ideal client profile and targeting</a:t>
            </a:r>
          </a:p>
        </p:txBody>
      </p:sp>
      <p:sp>
        <p:nvSpPr>
          <p:cNvPr id="10" name="TextBox 9"/>
          <p:cNvSpPr txBox="1"/>
          <p:nvPr/>
        </p:nvSpPr>
        <p:spPr>
          <a:xfrm>
            <a:off x="640080" y="2203704"/>
            <a:ext cx="5212080" cy="320040"/>
          </a:xfrm>
          <a:prstGeom prst="rect">
            <a:avLst/>
          </a:prstGeom>
          <a:noFill/>
        </p:spPr>
        <p:txBody>
          <a:bodyPr wrap="square">
            <a:spAutoFit/>
          </a:bodyPr>
          <a:lstStyle/>
          <a:p>
            <a:pPr algn="l">
              <a:defRPr sz="1000" b="0">
                <a:solidFill>
                  <a:srgbClr val="FFFFFF"/>
                </a:solidFill>
                <a:latin typeface="Calibri"/>
              </a:defRPr>
            </a:pPr>
            <a:r>
              <a:t>• Set up CRM with lead scoring</a:t>
            </a:r>
          </a:p>
        </p:txBody>
      </p:sp>
      <p:sp>
        <p:nvSpPr>
          <p:cNvPr id="11" name="TextBox 10"/>
          <p:cNvSpPr txBox="1"/>
          <p:nvPr/>
        </p:nvSpPr>
        <p:spPr>
          <a:xfrm>
            <a:off x="640080" y="2551176"/>
            <a:ext cx="5212080" cy="320040"/>
          </a:xfrm>
          <a:prstGeom prst="rect">
            <a:avLst/>
          </a:prstGeom>
          <a:noFill/>
        </p:spPr>
        <p:txBody>
          <a:bodyPr wrap="square">
            <a:spAutoFit/>
          </a:bodyPr>
          <a:lstStyle/>
          <a:p>
            <a:pPr algn="l">
              <a:defRPr sz="1000" b="0">
                <a:solidFill>
                  <a:srgbClr val="FFFFFF"/>
                </a:solidFill>
                <a:latin typeface="Calibri"/>
              </a:defRPr>
            </a:pPr>
            <a:r>
              <a:t>• Create marketing collateral templates</a:t>
            </a:r>
          </a:p>
        </p:txBody>
      </p:sp>
      <p:sp>
        <p:nvSpPr>
          <p:cNvPr id="12" name="TextBox 11"/>
          <p:cNvSpPr txBox="1"/>
          <p:nvPr/>
        </p:nvSpPr>
        <p:spPr>
          <a:xfrm>
            <a:off x="640080" y="2898648"/>
            <a:ext cx="5212080" cy="320040"/>
          </a:xfrm>
          <a:prstGeom prst="rect">
            <a:avLst/>
          </a:prstGeom>
          <a:noFill/>
        </p:spPr>
        <p:txBody>
          <a:bodyPr wrap="square">
            <a:spAutoFit/>
          </a:bodyPr>
          <a:lstStyle/>
          <a:p>
            <a:pPr algn="l">
              <a:defRPr sz="1000" b="0">
                <a:solidFill>
                  <a:srgbClr val="FFFFFF"/>
                </a:solidFill>
                <a:latin typeface="Calibri"/>
              </a:defRPr>
            </a:pPr>
            <a:r>
              <a:t>• Establish baseline metrics and KPIs</a:t>
            </a:r>
          </a:p>
        </p:txBody>
      </p:sp>
      <p:sp>
        <p:nvSpPr>
          <p:cNvPr id="13" name="Rounded Rectangle 12"/>
          <p:cNvSpPr/>
          <p:nvPr/>
        </p:nvSpPr>
        <p:spPr>
          <a:xfrm>
            <a:off x="6309360" y="1005840"/>
            <a:ext cx="5577840" cy="237744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09360" y="1005840"/>
            <a:ext cx="557784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1143000"/>
            <a:ext cx="5212080" cy="320040"/>
          </a:xfrm>
          <a:prstGeom prst="rect">
            <a:avLst/>
          </a:prstGeom>
          <a:noFill/>
        </p:spPr>
        <p:txBody>
          <a:bodyPr wrap="square">
            <a:spAutoFit/>
          </a:bodyPr>
          <a:lstStyle/>
          <a:p>
            <a:pPr algn="l">
              <a:defRPr sz="1300" b="1">
                <a:solidFill>
                  <a:srgbClr val="22C55E"/>
                </a:solidFill>
                <a:latin typeface="Calibri"/>
              </a:defRPr>
            </a:pPr>
            <a:r>
              <a:t>Week 3-4: Lead Gen Activation</a:t>
            </a:r>
          </a:p>
        </p:txBody>
      </p:sp>
      <p:sp>
        <p:nvSpPr>
          <p:cNvPr id="16" name="TextBox 15"/>
          <p:cNvSpPr txBox="1"/>
          <p:nvPr/>
        </p:nvSpPr>
        <p:spPr>
          <a:xfrm>
            <a:off x="6492240" y="1508760"/>
            <a:ext cx="5212080" cy="320040"/>
          </a:xfrm>
          <a:prstGeom prst="rect">
            <a:avLst/>
          </a:prstGeom>
          <a:noFill/>
        </p:spPr>
        <p:txBody>
          <a:bodyPr wrap="square">
            <a:spAutoFit/>
          </a:bodyPr>
          <a:lstStyle/>
          <a:p>
            <a:pPr algn="l">
              <a:defRPr sz="1000" b="0">
                <a:solidFill>
                  <a:srgbClr val="FFFFFF"/>
                </a:solidFill>
                <a:latin typeface="Calibri"/>
              </a:defRPr>
            </a:pPr>
            <a:r>
              <a:t>• Launch LinkedIn automation (NYC, CT, LI)</a:t>
            </a:r>
          </a:p>
        </p:txBody>
      </p:sp>
      <p:sp>
        <p:nvSpPr>
          <p:cNvPr id="17" name="TextBox 16"/>
          <p:cNvSpPr txBox="1"/>
          <p:nvPr/>
        </p:nvSpPr>
        <p:spPr>
          <a:xfrm>
            <a:off x="6492240" y="1856232"/>
            <a:ext cx="5212080" cy="320040"/>
          </a:xfrm>
          <a:prstGeom prst="rect">
            <a:avLst/>
          </a:prstGeom>
          <a:noFill/>
        </p:spPr>
        <p:txBody>
          <a:bodyPr wrap="square">
            <a:spAutoFit/>
          </a:bodyPr>
          <a:lstStyle/>
          <a:p>
            <a:pPr algn="l">
              <a:defRPr sz="1000" b="0">
                <a:solidFill>
                  <a:srgbClr val="FFFFFF"/>
                </a:solidFill>
                <a:latin typeface="Calibri"/>
              </a:defRPr>
            </a:pPr>
            <a:r>
              <a:t>• Deploy AI email nurture sequences</a:t>
            </a:r>
          </a:p>
        </p:txBody>
      </p:sp>
      <p:sp>
        <p:nvSpPr>
          <p:cNvPr id="18" name="TextBox 17"/>
          <p:cNvSpPr txBox="1"/>
          <p:nvPr/>
        </p:nvSpPr>
        <p:spPr>
          <a:xfrm>
            <a:off x="6492240" y="2203704"/>
            <a:ext cx="5212080" cy="320040"/>
          </a:xfrm>
          <a:prstGeom prst="rect">
            <a:avLst/>
          </a:prstGeom>
          <a:noFill/>
        </p:spPr>
        <p:txBody>
          <a:bodyPr wrap="square">
            <a:spAutoFit/>
          </a:bodyPr>
          <a:lstStyle/>
          <a:p>
            <a:pPr algn="l">
              <a:defRPr sz="1000" b="0">
                <a:solidFill>
                  <a:srgbClr val="FFFFFF"/>
                </a:solidFill>
                <a:latin typeface="Calibri"/>
              </a:defRPr>
            </a:pPr>
            <a:r>
              <a:t>• Implement calendar booking automation</a:t>
            </a:r>
          </a:p>
        </p:txBody>
      </p:sp>
      <p:sp>
        <p:nvSpPr>
          <p:cNvPr id="19" name="TextBox 18"/>
          <p:cNvSpPr txBox="1"/>
          <p:nvPr/>
        </p:nvSpPr>
        <p:spPr>
          <a:xfrm>
            <a:off x="6492240" y="2551176"/>
            <a:ext cx="5212080" cy="320040"/>
          </a:xfrm>
          <a:prstGeom prst="rect">
            <a:avLst/>
          </a:prstGeom>
          <a:noFill/>
        </p:spPr>
        <p:txBody>
          <a:bodyPr wrap="square">
            <a:spAutoFit/>
          </a:bodyPr>
          <a:lstStyle/>
          <a:p>
            <a:pPr algn="l">
              <a:defRPr sz="1000" b="0">
                <a:solidFill>
                  <a:srgbClr val="FFFFFF"/>
                </a:solidFill>
                <a:latin typeface="Calibri"/>
              </a:defRPr>
            </a:pPr>
            <a:r>
              <a:t>• First wave of qualified appointments</a:t>
            </a:r>
          </a:p>
        </p:txBody>
      </p:sp>
      <p:sp>
        <p:nvSpPr>
          <p:cNvPr id="20" name="Rounded Rectangle 19"/>
          <p:cNvSpPr/>
          <p:nvPr/>
        </p:nvSpPr>
        <p:spPr>
          <a:xfrm>
            <a:off x="457200" y="3657600"/>
            <a:ext cx="5577840" cy="237744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3657600"/>
            <a:ext cx="55778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794760"/>
            <a:ext cx="5212080" cy="320040"/>
          </a:xfrm>
          <a:prstGeom prst="rect">
            <a:avLst/>
          </a:prstGeom>
          <a:noFill/>
        </p:spPr>
        <p:txBody>
          <a:bodyPr wrap="square">
            <a:spAutoFit/>
          </a:bodyPr>
          <a:lstStyle/>
          <a:p>
            <a:pPr algn="l">
              <a:defRPr sz="1300" b="1">
                <a:solidFill>
                  <a:srgbClr val="F59E0B"/>
                </a:solidFill>
                <a:latin typeface="Calibri"/>
              </a:defRPr>
            </a:pPr>
            <a:r>
              <a:t>Week 5-8: Operations Automation</a:t>
            </a:r>
          </a:p>
        </p:txBody>
      </p:sp>
      <p:sp>
        <p:nvSpPr>
          <p:cNvPr id="23" name="TextBox 22"/>
          <p:cNvSpPr txBox="1"/>
          <p:nvPr/>
        </p:nvSpPr>
        <p:spPr>
          <a:xfrm>
            <a:off x="640080" y="4160520"/>
            <a:ext cx="5212080" cy="320040"/>
          </a:xfrm>
          <a:prstGeom prst="rect">
            <a:avLst/>
          </a:prstGeom>
          <a:noFill/>
        </p:spPr>
        <p:txBody>
          <a:bodyPr wrap="square">
            <a:spAutoFit/>
          </a:bodyPr>
          <a:lstStyle/>
          <a:p>
            <a:pPr algn="l">
              <a:defRPr sz="1000" b="0">
                <a:solidFill>
                  <a:srgbClr val="FFFFFF"/>
                </a:solidFill>
                <a:latin typeface="Calibri"/>
              </a:defRPr>
            </a:pPr>
            <a:r>
              <a:t>• Deploy financial planning automation</a:t>
            </a:r>
          </a:p>
        </p:txBody>
      </p:sp>
      <p:sp>
        <p:nvSpPr>
          <p:cNvPr id="24" name="TextBox 23"/>
          <p:cNvSpPr txBox="1"/>
          <p:nvPr/>
        </p:nvSpPr>
        <p:spPr>
          <a:xfrm>
            <a:off x="640080" y="4507992"/>
            <a:ext cx="5212080" cy="320040"/>
          </a:xfrm>
          <a:prstGeom prst="rect">
            <a:avLst/>
          </a:prstGeom>
          <a:noFill/>
        </p:spPr>
        <p:txBody>
          <a:bodyPr wrap="square">
            <a:spAutoFit/>
          </a:bodyPr>
          <a:lstStyle/>
          <a:p>
            <a:pPr algn="l">
              <a:defRPr sz="1000" b="0">
                <a:solidFill>
                  <a:srgbClr val="FFFFFF"/>
                </a:solidFill>
                <a:latin typeface="Calibri"/>
              </a:defRPr>
            </a:pPr>
            <a:r>
              <a:t>• Implement client service automation</a:t>
            </a:r>
          </a:p>
        </p:txBody>
      </p:sp>
      <p:sp>
        <p:nvSpPr>
          <p:cNvPr id="25" name="TextBox 24"/>
          <p:cNvSpPr txBox="1"/>
          <p:nvPr/>
        </p:nvSpPr>
        <p:spPr>
          <a:xfrm>
            <a:off x="640080" y="4855464"/>
            <a:ext cx="5212080" cy="320040"/>
          </a:xfrm>
          <a:prstGeom prst="rect">
            <a:avLst/>
          </a:prstGeom>
          <a:noFill/>
        </p:spPr>
        <p:txBody>
          <a:bodyPr wrap="square">
            <a:spAutoFit/>
          </a:bodyPr>
          <a:lstStyle/>
          <a:p>
            <a:pPr algn="l">
              <a:defRPr sz="1000" b="0">
                <a:solidFill>
                  <a:srgbClr val="FFFFFF"/>
                </a:solidFill>
                <a:latin typeface="Calibri"/>
              </a:defRPr>
            </a:pPr>
            <a:r>
              <a:t>• Set up document collection workflows</a:t>
            </a:r>
          </a:p>
        </p:txBody>
      </p:sp>
      <p:sp>
        <p:nvSpPr>
          <p:cNvPr id="26" name="TextBox 25"/>
          <p:cNvSpPr txBox="1"/>
          <p:nvPr/>
        </p:nvSpPr>
        <p:spPr>
          <a:xfrm>
            <a:off x="640080" y="5202936"/>
            <a:ext cx="5212080" cy="320040"/>
          </a:xfrm>
          <a:prstGeom prst="rect">
            <a:avLst/>
          </a:prstGeom>
          <a:noFill/>
        </p:spPr>
        <p:txBody>
          <a:bodyPr wrap="square">
            <a:spAutoFit/>
          </a:bodyPr>
          <a:lstStyle/>
          <a:p>
            <a:pPr algn="l">
              <a:defRPr sz="1000" b="0">
                <a:solidFill>
                  <a:srgbClr val="FFFFFF"/>
                </a:solidFill>
                <a:latin typeface="Calibri"/>
              </a:defRPr>
            </a:pPr>
            <a:r>
              <a:t>• Create M&amp;A valuation templates</a:t>
            </a:r>
          </a:p>
        </p:txBody>
      </p:sp>
      <p:sp>
        <p:nvSpPr>
          <p:cNvPr id="27" name="TextBox 26"/>
          <p:cNvSpPr txBox="1"/>
          <p:nvPr/>
        </p:nvSpPr>
        <p:spPr>
          <a:xfrm>
            <a:off x="640080" y="5550408"/>
            <a:ext cx="5212080" cy="320040"/>
          </a:xfrm>
          <a:prstGeom prst="rect">
            <a:avLst/>
          </a:prstGeom>
          <a:noFill/>
        </p:spPr>
        <p:txBody>
          <a:bodyPr wrap="square">
            <a:spAutoFit/>
          </a:bodyPr>
          <a:lstStyle/>
          <a:p>
            <a:pPr algn="l">
              <a:defRPr sz="1000" b="0">
                <a:solidFill>
                  <a:srgbClr val="FFFFFF"/>
                </a:solidFill>
                <a:latin typeface="Calibri"/>
              </a:defRPr>
            </a:pPr>
            <a:r>
              <a:t>• First client wins from pipeline</a:t>
            </a:r>
          </a:p>
        </p:txBody>
      </p:sp>
      <p:sp>
        <p:nvSpPr>
          <p:cNvPr id="28" name="Rounded Rectangle 27"/>
          <p:cNvSpPr/>
          <p:nvPr/>
        </p:nvSpPr>
        <p:spPr>
          <a:xfrm>
            <a:off x="6309360" y="3657600"/>
            <a:ext cx="5577840" cy="237744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309360" y="3657600"/>
            <a:ext cx="5577840" cy="54864"/>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92240" y="3794760"/>
            <a:ext cx="5212080" cy="320040"/>
          </a:xfrm>
          <a:prstGeom prst="rect">
            <a:avLst/>
          </a:prstGeom>
          <a:noFill/>
        </p:spPr>
        <p:txBody>
          <a:bodyPr wrap="square">
            <a:spAutoFit/>
          </a:bodyPr>
          <a:lstStyle/>
          <a:p>
            <a:pPr algn="l">
              <a:defRPr sz="1300" b="1">
                <a:solidFill>
                  <a:srgbClr val="EC4899"/>
                </a:solidFill>
                <a:latin typeface="Calibri"/>
              </a:defRPr>
            </a:pPr>
            <a:r>
              <a:t>Week 9-12: Scale &amp; Optimize</a:t>
            </a:r>
          </a:p>
        </p:txBody>
      </p:sp>
      <p:sp>
        <p:nvSpPr>
          <p:cNvPr id="31" name="TextBox 30"/>
          <p:cNvSpPr txBox="1"/>
          <p:nvPr/>
        </p:nvSpPr>
        <p:spPr>
          <a:xfrm>
            <a:off x="6492240" y="4160520"/>
            <a:ext cx="5212080" cy="320040"/>
          </a:xfrm>
          <a:prstGeom prst="rect">
            <a:avLst/>
          </a:prstGeom>
          <a:noFill/>
        </p:spPr>
        <p:txBody>
          <a:bodyPr wrap="square">
            <a:spAutoFit/>
          </a:bodyPr>
          <a:lstStyle/>
          <a:p>
            <a:pPr algn="l">
              <a:defRPr sz="1000" b="0">
                <a:solidFill>
                  <a:srgbClr val="FFFFFF"/>
                </a:solidFill>
                <a:latin typeface="Calibri"/>
              </a:defRPr>
            </a:pPr>
            <a:r>
              <a:t>• Analyze and optimize campaigns</a:t>
            </a:r>
          </a:p>
        </p:txBody>
      </p:sp>
      <p:sp>
        <p:nvSpPr>
          <p:cNvPr id="32" name="TextBox 31"/>
          <p:cNvSpPr txBox="1"/>
          <p:nvPr/>
        </p:nvSpPr>
        <p:spPr>
          <a:xfrm>
            <a:off x="6492240" y="4507992"/>
            <a:ext cx="5212080" cy="320040"/>
          </a:xfrm>
          <a:prstGeom prst="rect">
            <a:avLst/>
          </a:prstGeom>
          <a:noFill/>
        </p:spPr>
        <p:txBody>
          <a:bodyPr wrap="square">
            <a:spAutoFit/>
          </a:bodyPr>
          <a:lstStyle/>
          <a:p>
            <a:pPr algn="l">
              <a:defRPr sz="1000" b="0">
                <a:solidFill>
                  <a:srgbClr val="FFFFFF"/>
                </a:solidFill>
                <a:latin typeface="Calibri"/>
              </a:defRPr>
            </a:pPr>
            <a:r>
              <a:t>• Launch digital authority content</a:t>
            </a:r>
          </a:p>
        </p:txBody>
      </p:sp>
      <p:sp>
        <p:nvSpPr>
          <p:cNvPr id="33" name="TextBox 32"/>
          <p:cNvSpPr txBox="1"/>
          <p:nvPr/>
        </p:nvSpPr>
        <p:spPr>
          <a:xfrm>
            <a:off x="6492240" y="4855464"/>
            <a:ext cx="5212080" cy="320040"/>
          </a:xfrm>
          <a:prstGeom prst="rect">
            <a:avLst/>
          </a:prstGeom>
          <a:noFill/>
        </p:spPr>
        <p:txBody>
          <a:bodyPr wrap="square">
            <a:spAutoFit/>
          </a:bodyPr>
          <a:lstStyle/>
          <a:p>
            <a:pPr algn="l">
              <a:defRPr sz="1000" b="0">
                <a:solidFill>
                  <a:srgbClr val="FFFFFF"/>
                </a:solidFill>
                <a:latin typeface="Calibri"/>
              </a:defRPr>
            </a:pPr>
            <a:r>
              <a:t>• Scale successful channels</a:t>
            </a:r>
          </a:p>
        </p:txBody>
      </p:sp>
      <p:sp>
        <p:nvSpPr>
          <p:cNvPr id="34" name="TextBox 33"/>
          <p:cNvSpPr txBox="1"/>
          <p:nvPr/>
        </p:nvSpPr>
        <p:spPr>
          <a:xfrm>
            <a:off x="6492240" y="5202936"/>
            <a:ext cx="5212080" cy="320040"/>
          </a:xfrm>
          <a:prstGeom prst="rect">
            <a:avLst/>
          </a:prstGeom>
          <a:noFill/>
        </p:spPr>
        <p:txBody>
          <a:bodyPr wrap="square">
            <a:spAutoFit/>
          </a:bodyPr>
          <a:lstStyle/>
          <a:p>
            <a:pPr algn="l">
              <a:defRPr sz="1000" b="0">
                <a:solidFill>
                  <a:srgbClr val="FFFFFF"/>
                </a:solidFill>
                <a:latin typeface="Calibri"/>
              </a:defRPr>
            </a:pPr>
            <a:r>
              <a:t>• Full system integration</a:t>
            </a:r>
          </a:p>
        </p:txBody>
      </p:sp>
      <p:sp>
        <p:nvSpPr>
          <p:cNvPr id="35" name="TextBox 34"/>
          <p:cNvSpPr txBox="1"/>
          <p:nvPr/>
        </p:nvSpPr>
        <p:spPr>
          <a:xfrm>
            <a:off x="6492240" y="5550408"/>
            <a:ext cx="5212080" cy="320040"/>
          </a:xfrm>
          <a:prstGeom prst="rect">
            <a:avLst/>
          </a:prstGeom>
          <a:noFill/>
        </p:spPr>
        <p:txBody>
          <a:bodyPr wrap="square">
            <a:spAutoFit/>
          </a:bodyPr>
          <a:lstStyle/>
          <a:p>
            <a:pPr algn="l">
              <a:defRPr sz="1000" b="0">
                <a:solidFill>
                  <a:srgbClr val="FFFFFF"/>
                </a:solidFill>
                <a:latin typeface="Calibri"/>
              </a:defRPr>
            </a:pPr>
            <a:r>
              <a:t>• Foundation set for $1M trajectory</a:t>
            </a:r>
          </a:p>
        </p:txBody>
      </p:sp>
      <p:sp>
        <p:nvSpPr>
          <p:cNvPr id="36" name="TextBox 35"/>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Investment: Pure Performance Model</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005840"/>
            <a:ext cx="5303520" cy="3474720"/>
          </a:xfrm>
          <a:prstGeom prst="roundRect">
            <a:avLst/>
          </a:prstGeom>
          <a:solidFill>
            <a:srgbClr val="0D2847"/>
          </a:solidFill>
          <a:ln w="381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188720"/>
            <a:ext cx="4937760" cy="365760"/>
          </a:xfrm>
          <a:prstGeom prst="rect">
            <a:avLst/>
          </a:prstGeom>
          <a:noFill/>
        </p:spPr>
        <p:txBody>
          <a:bodyPr wrap="square">
            <a:spAutoFit/>
          </a:bodyPr>
          <a:lstStyle/>
          <a:p>
            <a:pPr algn="ctr">
              <a:defRPr sz="1800" b="1">
                <a:solidFill>
                  <a:srgbClr val="22C55E"/>
                </a:solidFill>
                <a:latin typeface="Calibri"/>
              </a:defRPr>
            </a:pPr>
            <a:r>
              <a:t>Pure Performance Model</a:t>
            </a:r>
          </a:p>
        </p:txBody>
      </p:sp>
      <p:sp>
        <p:nvSpPr>
          <p:cNvPr id="7" name="TextBox 6"/>
          <p:cNvSpPr txBox="1"/>
          <p:nvPr/>
        </p:nvSpPr>
        <p:spPr>
          <a:xfrm>
            <a:off x="640080" y="1645920"/>
            <a:ext cx="4937760" cy="228600"/>
          </a:xfrm>
          <a:prstGeom prst="rect">
            <a:avLst/>
          </a:prstGeom>
          <a:noFill/>
        </p:spPr>
        <p:txBody>
          <a:bodyPr wrap="square">
            <a:spAutoFit/>
          </a:bodyPr>
          <a:lstStyle/>
          <a:p>
            <a:pPr algn="ctr">
              <a:defRPr sz="1200" b="0">
                <a:solidFill>
                  <a:srgbClr val="94A3B8"/>
                </a:solidFill>
                <a:latin typeface="Calibri"/>
              </a:defRPr>
            </a:pPr>
            <a:r>
              <a:t>Initial Setup</a:t>
            </a:r>
          </a:p>
        </p:txBody>
      </p:sp>
      <p:sp>
        <p:nvSpPr>
          <p:cNvPr id="8" name="TextBox 7"/>
          <p:cNvSpPr txBox="1"/>
          <p:nvPr/>
        </p:nvSpPr>
        <p:spPr>
          <a:xfrm>
            <a:off x="640080" y="1874519"/>
            <a:ext cx="4937760" cy="548640"/>
          </a:xfrm>
          <a:prstGeom prst="rect">
            <a:avLst/>
          </a:prstGeom>
          <a:noFill/>
        </p:spPr>
        <p:txBody>
          <a:bodyPr wrap="square">
            <a:spAutoFit/>
          </a:bodyPr>
          <a:lstStyle/>
          <a:p>
            <a:pPr algn="ctr">
              <a:defRPr sz="3600" b="1">
                <a:solidFill>
                  <a:srgbClr val="FFFFFF"/>
                </a:solidFill>
                <a:latin typeface="Calibri"/>
              </a:defRPr>
            </a:pPr>
            <a:r>
              <a:t>$5,000</a:t>
            </a:r>
          </a:p>
        </p:txBody>
      </p:sp>
      <p:sp>
        <p:nvSpPr>
          <p:cNvPr id="9" name="TextBox 8"/>
          <p:cNvSpPr txBox="1"/>
          <p:nvPr/>
        </p:nvSpPr>
        <p:spPr>
          <a:xfrm>
            <a:off x="640080" y="2468880"/>
            <a:ext cx="4937760" cy="228600"/>
          </a:xfrm>
          <a:prstGeom prst="rect">
            <a:avLst/>
          </a:prstGeom>
          <a:noFill/>
        </p:spPr>
        <p:txBody>
          <a:bodyPr wrap="square">
            <a:spAutoFit/>
          </a:bodyPr>
          <a:lstStyle/>
          <a:p>
            <a:pPr algn="ctr">
              <a:defRPr sz="1200" b="0">
                <a:solidFill>
                  <a:srgbClr val="94A3B8"/>
                </a:solidFill>
                <a:latin typeface="Calibri"/>
              </a:defRPr>
            </a:pPr>
            <a:r>
              <a:t>Performance Phase</a:t>
            </a:r>
          </a:p>
        </p:txBody>
      </p:sp>
      <p:sp>
        <p:nvSpPr>
          <p:cNvPr id="10" name="TextBox 9"/>
          <p:cNvSpPr txBox="1"/>
          <p:nvPr/>
        </p:nvSpPr>
        <p:spPr>
          <a:xfrm>
            <a:off x="640080" y="2697480"/>
            <a:ext cx="4937760" cy="457200"/>
          </a:xfrm>
          <a:prstGeom prst="rect">
            <a:avLst/>
          </a:prstGeom>
          <a:noFill/>
        </p:spPr>
        <p:txBody>
          <a:bodyPr wrap="square">
            <a:spAutoFit/>
          </a:bodyPr>
          <a:lstStyle/>
          <a:p>
            <a:pPr algn="ctr">
              <a:defRPr sz="2600" b="1">
                <a:solidFill>
                  <a:srgbClr val="F59E0B"/>
                </a:solidFill>
                <a:latin typeface="Calibri"/>
              </a:defRPr>
            </a:pPr>
            <a:r>
              <a:t>15% of New Revenue</a:t>
            </a:r>
          </a:p>
        </p:txBody>
      </p:sp>
      <p:sp>
        <p:nvSpPr>
          <p:cNvPr id="11" name="Rounded Rectangle 10"/>
          <p:cNvSpPr/>
          <p:nvPr/>
        </p:nvSpPr>
        <p:spPr>
          <a:xfrm>
            <a:off x="914400" y="3291840"/>
            <a:ext cx="4389120" cy="45720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383280"/>
            <a:ext cx="4389120" cy="320040"/>
          </a:xfrm>
          <a:prstGeom prst="rect">
            <a:avLst/>
          </a:prstGeom>
          <a:noFill/>
        </p:spPr>
        <p:txBody>
          <a:bodyPr wrap="square">
            <a:spAutoFit/>
          </a:bodyPr>
          <a:lstStyle/>
          <a:p>
            <a:pPr algn="ctr">
              <a:defRPr sz="1400" b="1">
                <a:solidFill>
                  <a:srgbClr val="FFFFFF"/>
                </a:solidFill>
                <a:latin typeface="Calibri"/>
              </a:defRPr>
            </a:pPr>
            <a:r>
              <a:t>Monthly Fees: NONE</a:t>
            </a:r>
          </a:p>
        </p:txBody>
      </p:sp>
      <p:sp>
        <p:nvSpPr>
          <p:cNvPr id="13" name="Rounded Rectangle 12"/>
          <p:cNvSpPr/>
          <p:nvPr/>
        </p:nvSpPr>
        <p:spPr>
          <a:xfrm>
            <a:off x="457200" y="3840480"/>
            <a:ext cx="5303520" cy="640080"/>
          </a:xfrm>
          <a:prstGeom prst="roundRect">
            <a:avLst/>
          </a:prstGeom>
          <a:solidFill>
            <a:srgbClr val="0D284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977639"/>
            <a:ext cx="4937760" cy="411480"/>
          </a:xfrm>
          <a:prstGeom prst="rect">
            <a:avLst/>
          </a:prstGeom>
          <a:noFill/>
        </p:spPr>
        <p:txBody>
          <a:bodyPr wrap="square">
            <a:spAutoFit/>
          </a:bodyPr>
          <a:lstStyle/>
          <a:p>
            <a:pPr algn="ctr">
              <a:defRPr sz="1100" b="0">
                <a:solidFill>
                  <a:srgbClr val="FFFFFF"/>
                </a:solidFill>
                <a:latin typeface="Calibri"/>
              </a:defRPr>
            </a:pPr>
            <a:r>
              <a:t>We only succeed when you succeed.</a:t>
            </a:r>
            <a:br/>
            <a:r>
              <a:t>No monthly retainers—we earn based on results.</a:t>
            </a:r>
          </a:p>
        </p:txBody>
      </p:sp>
      <p:sp>
        <p:nvSpPr>
          <p:cNvPr id="15" name="TextBox 14"/>
          <p:cNvSpPr txBox="1"/>
          <p:nvPr/>
        </p:nvSpPr>
        <p:spPr>
          <a:xfrm>
            <a:off x="6035040" y="1005840"/>
            <a:ext cx="5577840" cy="365760"/>
          </a:xfrm>
          <a:prstGeom prst="rect">
            <a:avLst/>
          </a:prstGeom>
          <a:noFill/>
        </p:spPr>
        <p:txBody>
          <a:bodyPr wrap="square">
            <a:spAutoFit/>
          </a:bodyPr>
          <a:lstStyle/>
          <a:p>
            <a:pPr algn="l">
              <a:defRPr sz="1300" b="1">
                <a:solidFill>
                  <a:srgbClr val="3B82F6"/>
                </a:solidFill>
                <a:latin typeface="Calibri"/>
              </a:defRPr>
            </a:pPr>
            <a:r>
              <a:t>What's Included:</a:t>
            </a:r>
          </a:p>
        </p:txBody>
      </p:sp>
      <p:sp>
        <p:nvSpPr>
          <p:cNvPr id="16" name="Rounded Rectangle 15"/>
          <p:cNvSpPr/>
          <p:nvPr/>
        </p:nvSpPr>
        <p:spPr>
          <a:xfrm>
            <a:off x="6035040" y="1371600"/>
            <a:ext cx="5577840" cy="256032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508760"/>
            <a:ext cx="5212080" cy="320040"/>
          </a:xfrm>
          <a:prstGeom prst="rect">
            <a:avLst/>
          </a:prstGeom>
          <a:noFill/>
        </p:spPr>
        <p:txBody>
          <a:bodyPr wrap="square">
            <a:spAutoFit/>
          </a:bodyPr>
          <a:lstStyle/>
          <a:p>
            <a:pPr algn="l">
              <a:defRPr sz="1100" b="0">
                <a:solidFill>
                  <a:srgbClr val="FFFFFF"/>
                </a:solidFill>
                <a:latin typeface="Calibri"/>
              </a:defRPr>
            </a:pPr>
            <a:r>
              <a:t>✓ Full implementation of all six pillars</a:t>
            </a:r>
          </a:p>
        </p:txBody>
      </p:sp>
      <p:sp>
        <p:nvSpPr>
          <p:cNvPr id="18" name="TextBox 17"/>
          <p:cNvSpPr txBox="1"/>
          <p:nvPr/>
        </p:nvSpPr>
        <p:spPr>
          <a:xfrm>
            <a:off x="6217920" y="1874519"/>
            <a:ext cx="5212080" cy="320040"/>
          </a:xfrm>
          <a:prstGeom prst="rect">
            <a:avLst/>
          </a:prstGeom>
          <a:noFill/>
        </p:spPr>
        <p:txBody>
          <a:bodyPr wrap="square">
            <a:spAutoFit/>
          </a:bodyPr>
          <a:lstStyle/>
          <a:p>
            <a:pPr algn="l">
              <a:defRPr sz="1100" b="0">
                <a:solidFill>
                  <a:srgbClr val="22C55E"/>
                </a:solidFill>
                <a:latin typeface="Calibri"/>
              </a:defRPr>
            </a:pPr>
            <a:r>
              <a:t>✓ 90-Day Guarantee: Revenue or we work free</a:t>
            </a:r>
          </a:p>
        </p:txBody>
      </p:sp>
      <p:sp>
        <p:nvSpPr>
          <p:cNvPr id="19" name="TextBox 18"/>
          <p:cNvSpPr txBox="1"/>
          <p:nvPr/>
        </p:nvSpPr>
        <p:spPr>
          <a:xfrm>
            <a:off x="6217920" y="2240280"/>
            <a:ext cx="5212080" cy="320040"/>
          </a:xfrm>
          <a:prstGeom prst="rect">
            <a:avLst/>
          </a:prstGeom>
          <a:noFill/>
        </p:spPr>
        <p:txBody>
          <a:bodyPr wrap="square">
            <a:spAutoFit/>
          </a:bodyPr>
          <a:lstStyle/>
          <a:p>
            <a:pPr algn="l">
              <a:defRPr sz="1100" b="0">
                <a:solidFill>
                  <a:srgbClr val="FFFFFF"/>
                </a:solidFill>
                <a:latin typeface="Calibri"/>
              </a:defRPr>
            </a:pPr>
            <a:r>
              <a:t>✓ All technology, tools, automation included</a:t>
            </a:r>
          </a:p>
        </p:txBody>
      </p:sp>
      <p:sp>
        <p:nvSpPr>
          <p:cNvPr id="20" name="TextBox 19"/>
          <p:cNvSpPr txBox="1"/>
          <p:nvPr/>
        </p:nvSpPr>
        <p:spPr>
          <a:xfrm>
            <a:off x="6217920" y="2606040"/>
            <a:ext cx="5212080" cy="320040"/>
          </a:xfrm>
          <a:prstGeom prst="rect">
            <a:avLst/>
          </a:prstGeom>
          <a:noFill/>
        </p:spPr>
        <p:txBody>
          <a:bodyPr wrap="square">
            <a:spAutoFit/>
          </a:bodyPr>
          <a:lstStyle/>
          <a:p>
            <a:pPr algn="l">
              <a:defRPr sz="1100" b="0">
                <a:solidFill>
                  <a:srgbClr val="FFFFFF"/>
                </a:solidFill>
                <a:latin typeface="Calibri"/>
              </a:defRPr>
            </a:pPr>
            <a:r>
              <a:t>✓ Monthly performance reviews</a:t>
            </a:r>
          </a:p>
        </p:txBody>
      </p:sp>
      <p:sp>
        <p:nvSpPr>
          <p:cNvPr id="21" name="TextBox 20"/>
          <p:cNvSpPr txBox="1"/>
          <p:nvPr/>
        </p:nvSpPr>
        <p:spPr>
          <a:xfrm>
            <a:off x="6217920" y="2971800"/>
            <a:ext cx="5212080" cy="320040"/>
          </a:xfrm>
          <a:prstGeom prst="rect">
            <a:avLst/>
          </a:prstGeom>
          <a:noFill/>
        </p:spPr>
        <p:txBody>
          <a:bodyPr wrap="square">
            <a:spAutoFit/>
          </a:bodyPr>
          <a:lstStyle/>
          <a:p>
            <a:pPr algn="l">
              <a:defRPr sz="1100" b="0">
                <a:solidFill>
                  <a:srgbClr val="FFFFFF"/>
                </a:solidFill>
                <a:latin typeface="Calibri"/>
              </a:defRPr>
            </a:pPr>
            <a:r>
              <a:t>✓ 6-month performance evaluation window</a:t>
            </a:r>
          </a:p>
        </p:txBody>
      </p:sp>
      <p:sp>
        <p:nvSpPr>
          <p:cNvPr id="22" name="TextBox 21"/>
          <p:cNvSpPr txBox="1"/>
          <p:nvPr/>
        </p:nvSpPr>
        <p:spPr>
          <a:xfrm>
            <a:off x="6217920" y="3337560"/>
            <a:ext cx="5212080" cy="320040"/>
          </a:xfrm>
          <a:prstGeom prst="rect">
            <a:avLst/>
          </a:prstGeom>
          <a:noFill/>
        </p:spPr>
        <p:txBody>
          <a:bodyPr wrap="square">
            <a:spAutoFit/>
          </a:bodyPr>
          <a:lstStyle/>
          <a:p>
            <a:pPr algn="l">
              <a:defRPr sz="1100" b="0">
                <a:solidFill>
                  <a:srgbClr val="FFFFFF"/>
                </a:solidFill>
                <a:latin typeface="Calibri"/>
              </a:defRPr>
            </a:pPr>
            <a:r>
              <a:t>✓ Direct support channel with A1 team</a:t>
            </a:r>
          </a:p>
        </p:txBody>
      </p:sp>
      <p:sp>
        <p:nvSpPr>
          <p:cNvPr id="23" name="Rounded Rectangle 22"/>
          <p:cNvSpPr/>
          <p:nvPr/>
        </p:nvSpPr>
        <p:spPr>
          <a:xfrm>
            <a:off x="6035040" y="4114800"/>
            <a:ext cx="5577840" cy="91440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4206240"/>
            <a:ext cx="5212080" cy="228600"/>
          </a:xfrm>
          <a:prstGeom prst="rect">
            <a:avLst/>
          </a:prstGeom>
          <a:noFill/>
        </p:spPr>
        <p:txBody>
          <a:bodyPr wrap="square">
            <a:spAutoFit/>
          </a:bodyPr>
          <a:lstStyle/>
          <a:p>
            <a:pPr algn="ctr">
              <a:defRPr sz="1000" b="0">
                <a:solidFill>
                  <a:srgbClr val="94A3B8"/>
                </a:solidFill>
                <a:latin typeface="Calibri"/>
              </a:defRPr>
            </a:pPr>
            <a:r>
              <a:t>Break-Even</a:t>
            </a:r>
          </a:p>
        </p:txBody>
      </p:sp>
      <p:sp>
        <p:nvSpPr>
          <p:cNvPr id="25" name="TextBox 24"/>
          <p:cNvSpPr txBox="1"/>
          <p:nvPr/>
        </p:nvSpPr>
        <p:spPr>
          <a:xfrm>
            <a:off x="6217920" y="4434840"/>
            <a:ext cx="5212080" cy="320040"/>
          </a:xfrm>
          <a:prstGeom prst="rect">
            <a:avLst/>
          </a:prstGeom>
          <a:noFill/>
        </p:spPr>
        <p:txBody>
          <a:bodyPr wrap="square">
            <a:spAutoFit/>
          </a:bodyPr>
          <a:lstStyle/>
          <a:p>
            <a:pPr algn="ctr">
              <a:defRPr sz="2200" b="1">
                <a:solidFill>
                  <a:srgbClr val="22C55E"/>
                </a:solidFill>
                <a:latin typeface="Calibri"/>
              </a:defRPr>
            </a:pPr>
            <a:r>
              <a:t>1 Client</a:t>
            </a:r>
          </a:p>
        </p:txBody>
      </p:sp>
      <p:sp>
        <p:nvSpPr>
          <p:cNvPr id="26" name="TextBox 25"/>
          <p:cNvSpPr txBox="1"/>
          <p:nvPr/>
        </p:nvSpPr>
        <p:spPr>
          <a:xfrm>
            <a:off x="6217920" y="4754880"/>
            <a:ext cx="5212080" cy="228600"/>
          </a:xfrm>
          <a:prstGeom prst="rect">
            <a:avLst/>
          </a:prstGeom>
          <a:noFill/>
        </p:spPr>
        <p:txBody>
          <a:bodyPr wrap="square">
            <a:spAutoFit/>
          </a:bodyPr>
          <a:lstStyle/>
          <a:p>
            <a:pPr algn="ctr">
              <a:defRPr sz="1000" b="0">
                <a:solidFill>
                  <a:srgbClr val="94A3B8"/>
                </a:solidFill>
                <a:latin typeface="Calibri"/>
              </a:defRPr>
            </a:pPr>
            <a:r>
              <a:t>$21K covers setup + buffer</a:t>
            </a:r>
          </a:p>
        </p:txBody>
      </p:sp>
      <p:sp>
        <p:nvSpPr>
          <p:cNvPr id="27" name="TextBox 26"/>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Return on Investment Analysis</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005840"/>
            <a:ext cx="11247120" cy="411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78992"/>
            <a:ext cx="4114800" cy="274320"/>
          </a:xfrm>
          <a:prstGeom prst="rect">
            <a:avLst/>
          </a:prstGeom>
          <a:noFill/>
        </p:spPr>
        <p:txBody>
          <a:bodyPr wrap="square">
            <a:spAutoFit/>
          </a:bodyPr>
          <a:lstStyle/>
          <a:p>
            <a:pPr algn="l">
              <a:defRPr sz="1200" b="1">
                <a:solidFill>
                  <a:srgbClr val="FFFFFF"/>
                </a:solidFill>
                <a:latin typeface="Calibri"/>
              </a:defRPr>
            </a:pPr>
            <a:r>
              <a:t>New Revenue</a:t>
            </a:r>
          </a:p>
        </p:txBody>
      </p:sp>
      <p:sp>
        <p:nvSpPr>
          <p:cNvPr id="7" name="TextBox 6"/>
          <p:cNvSpPr txBox="1"/>
          <p:nvPr/>
        </p:nvSpPr>
        <p:spPr>
          <a:xfrm>
            <a:off x="4846320" y="1078992"/>
            <a:ext cx="3200400" cy="274320"/>
          </a:xfrm>
          <a:prstGeom prst="rect">
            <a:avLst/>
          </a:prstGeom>
          <a:noFill/>
        </p:spPr>
        <p:txBody>
          <a:bodyPr wrap="square">
            <a:spAutoFit/>
          </a:bodyPr>
          <a:lstStyle/>
          <a:p>
            <a:pPr algn="ctr">
              <a:defRPr sz="1200" b="1">
                <a:solidFill>
                  <a:srgbClr val="FFFFFF"/>
                </a:solidFill>
                <a:latin typeface="Calibri"/>
              </a:defRPr>
            </a:pPr>
            <a:r>
              <a:t>Your 15% Investment</a:t>
            </a:r>
          </a:p>
        </p:txBody>
      </p:sp>
      <p:sp>
        <p:nvSpPr>
          <p:cNvPr id="8" name="TextBox 7"/>
          <p:cNvSpPr txBox="1"/>
          <p:nvPr/>
        </p:nvSpPr>
        <p:spPr>
          <a:xfrm>
            <a:off x="8229600" y="1078992"/>
            <a:ext cx="3200400" cy="274320"/>
          </a:xfrm>
          <a:prstGeom prst="rect">
            <a:avLst/>
          </a:prstGeom>
          <a:noFill/>
        </p:spPr>
        <p:txBody>
          <a:bodyPr wrap="square">
            <a:spAutoFit/>
          </a:bodyPr>
          <a:lstStyle/>
          <a:p>
            <a:pPr algn="ctr">
              <a:defRPr sz="1200" b="1">
                <a:solidFill>
                  <a:srgbClr val="FFFFFF"/>
                </a:solidFill>
                <a:latin typeface="Calibri"/>
              </a:defRPr>
            </a:pPr>
            <a:r>
              <a:t>You Keep</a:t>
            </a:r>
          </a:p>
        </p:txBody>
      </p:sp>
      <p:sp>
        <p:nvSpPr>
          <p:cNvPr id="9" name="Rectangle 8"/>
          <p:cNvSpPr/>
          <p:nvPr/>
        </p:nvSpPr>
        <p:spPr>
          <a:xfrm>
            <a:off x="457200" y="1463040"/>
            <a:ext cx="7680960" cy="457200"/>
          </a:xfrm>
          <a:prstGeom prst="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0" y="1463040"/>
            <a:ext cx="347472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554480"/>
            <a:ext cx="4114800" cy="274320"/>
          </a:xfrm>
          <a:prstGeom prst="rect">
            <a:avLst/>
          </a:prstGeom>
          <a:noFill/>
        </p:spPr>
        <p:txBody>
          <a:bodyPr wrap="square">
            <a:spAutoFit/>
          </a:bodyPr>
          <a:lstStyle/>
          <a:p>
            <a:pPr algn="l">
              <a:defRPr sz="1200" b="0">
                <a:solidFill>
                  <a:srgbClr val="FFFFFF"/>
                </a:solidFill>
                <a:latin typeface="Calibri"/>
              </a:defRPr>
            </a:pPr>
            <a:r>
              <a:t>$50,000/month</a:t>
            </a:r>
          </a:p>
        </p:txBody>
      </p:sp>
      <p:sp>
        <p:nvSpPr>
          <p:cNvPr id="12" name="TextBox 11"/>
          <p:cNvSpPr txBox="1"/>
          <p:nvPr/>
        </p:nvSpPr>
        <p:spPr>
          <a:xfrm>
            <a:off x="4846320" y="1554480"/>
            <a:ext cx="3200400" cy="274320"/>
          </a:xfrm>
          <a:prstGeom prst="rect">
            <a:avLst/>
          </a:prstGeom>
          <a:noFill/>
        </p:spPr>
        <p:txBody>
          <a:bodyPr wrap="square">
            <a:spAutoFit/>
          </a:bodyPr>
          <a:lstStyle/>
          <a:p>
            <a:pPr algn="ctr">
              <a:defRPr sz="1200" b="0">
                <a:solidFill>
                  <a:srgbClr val="FFFFFF"/>
                </a:solidFill>
                <a:latin typeface="Calibri"/>
              </a:defRPr>
            </a:pPr>
            <a:r>
              <a:t>$7,500</a:t>
            </a:r>
          </a:p>
        </p:txBody>
      </p:sp>
      <p:sp>
        <p:nvSpPr>
          <p:cNvPr id="13" name="TextBox 12"/>
          <p:cNvSpPr txBox="1"/>
          <p:nvPr/>
        </p:nvSpPr>
        <p:spPr>
          <a:xfrm>
            <a:off x="8229600" y="1554480"/>
            <a:ext cx="3200400" cy="274320"/>
          </a:xfrm>
          <a:prstGeom prst="rect">
            <a:avLst/>
          </a:prstGeom>
          <a:noFill/>
        </p:spPr>
        <p:txBody>
          <a:bodyPr wrap="square">
            <a:spAutoFit/>
          </a:bodyPr>
          <a:lstStyle/>
          <a:p>
            <a:pPr algn="ctr">
              <a:defRPr sz="1400" b="1">
                <a:solidFill>
                  <a:srgbClr val="FFFFFF"/>
                </a:solidFill>
                <a:latin typeface="Calibri"/>
              </a:defRPr>
            </a:pPr>
            <a:r>
              <a:t>$42,500</a:t>
            </a:r>
          </a:p>
        </p:txBody>
      </p:sp>
      <p:sp>
        <p:nvSpPr>
          <p:cNvPr id="14" name="Rectangle 13"/>
          <p:cNvSpPr/>
          <p:nvPr/>
        </p:nvSpPr>
        <p:spPr>
          <a:xfrm>
            <a:off x="457200" y="1965960"/>
            <a:ext cx="7680960" cy="457200"/>
          </a:xfrm>
          <a:prstGeom prst="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0" y="1965960"/>
            <a:ext cx="3474720" cy="457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057400"/>
            <a:ext cx="4114800" cy="274320"/>
          </a:xfrm>
          <a:prstGeom prst="rect">
            <a:avLst/>
          </a:prstGeom>
          <a:noFill/>
        </p:spPr>
        <p:txBody>
          <a:bodyPr wrap="square">
            <a:spAutoFit/>
          </a:bodyPr>
          <a:lstStyle/>
          <a:p>
            <a:pPr algn="l">
              <a:defRPr sz="1200" b="0">
                <a:solidFill>
                  <a:srgbClr val="FFFFFF"/>
                </a:solidFill>
                <a:latin typeface="Calibri"/>
              </a:defRPr>
            </a:pPr>
            <a:r>
              <a:t>$83,000/month ($1M/yr)</a:t>
            </a:r>
          </a:p>
        </p:txBody>
      </p:sp>
      <p:sp>
        <p:nvSpPr>
          <p:cNvPr id="17" name="TextBox 16"/>
          <p:cNvSpPr txBox="1"/>
          <p:nvPr/>
        </p:nvSpPr>
        <p:spPr>
          <a:xfrm>
            <a:off x="4846320" y="2057400"/>
            <a:ext cx="3200400" cy="274320"/>
          </a:xfrm>
          <a:prstGeom prst="rect">
            <a:avLst/>
          </a:prstGeom>
          <a:noFill/>
        </p:spPr>
        <p:txBody>
          <a:bodyPr wrap="square">
            <a:spAutoFit/>
          </a:bodyPr>
          <a:lstStyle/>
          <a:p>
            <a:pPr algn="ctr">
              <a:defRPr sz="1200" b="0">
                <a:solidFill>
                  <a:srgbClr val="FFFFFF"/>
                </a:solidFill>
                <a:latin typeface="Calibri"/>
              </a:defRPr>
            </a:pPr>
            <a:r>
              <a:t>$12,450</a:t>
            </a:r>
          </a:p>
        </p:txBody>
      </p:sp>
      <p:sp>
        <p:nvSpPr>
          <p:cNvPr id="18" name="TextBox 17"/>
          <p:cNvSpPr txBox="1"/>
          <p:nvPr/>
        </p:nvSpPr>
        <p:spPr>
          <a:xfrm>
            <a:off x="8229600" y="2057400"/>
            <a:ext cx="3200400" cy="274320"/>
          </a:xfrm>
          <a:prstGeom prst="rect">
            <a:avLst/>
          </a:prstGeom>
          <a:noFill/>
        </p:spPr>
        <p:txBody>
          <a:bodyPr wrap="square">
            <a:spAutoFit/>
          </a:bodyPr>
          <a:lstStyle/>
          <a:p>
            <a:pPr algn="ctr">
              <a:defRPr sz="1400" b="1">
                <a:solidFill>
                  <a:srgbClr val="FFFFFF"/>
                </a:solidFill>
                <a:latin typeface="Calibri"/>
              </a:defRPr>
            </a:pPr>
            <a:r>
              <a:t>$70,550</a:t>
            </a:r>
          </a:p>
        </p:txBody>
      </p:sp>
      <p:sp>
        <p:nvSpPr>
          <p:cNvPr id="19" name="Rectangle 18"/>
          <p:cNvSpPr/>
          <p:nvPr/>
        </p:nvSpPr>
        <p:spPr>
          <a:xfrm>
            <a:off x="457200" y="2468880"/>
            <a:ext cx="7680960"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2560320"/>
            <a:ext cx="4114800" cy="320040"/>
          </a:xfrm>
          <a:prstGeom prst="rect">
            <a:avLst/>
          </a:prstGeom>
          <a:noFill/>
        </p:spPr>
        <p:txBody>
          <a:bodyPr wrap="square">
            <a:spAutoFit/>
          </a:bodyPr>
          <a:lstStyle/>
          <a:p>
            <a:pPr algn="l">
              <a:defRPr sz="1200" b="1">
                <a:solidFill>
                  <a:srgbClr val="FFFFFF"/>
                </a:solidFill>
                <a:latin typeface="Calibri"/>
              </a:defRPr>
            </a:pPr>
            <a:r>
              <a:t>Year 1: $800K new revenue</a:t>
            </a:r>
          </a:p>
        </p:txBody>
      </p:sp>
      <p:sp>
        <p:nvSpPr>
          <p:cNvPr id="21" name="TextBox 20"/>
          <p:cNvSpPr txBox="1"/>
          <p:nvPr/>
        </p:nvSpPr>
        <p:spPr>
          <a:xfrm>
            <a:off x="4846320" y="2560320"/>
            <a:ext cx="3200400" cy="320040"/>
          </a:xfrm>
          <a:prstGeom prst="rect">
            <a:avLst/>
          </a:prstGeom>
          <a:noFill/>
        </p:spPr>
        <p:txBody>
          <a:bodyPr wrap="square">
            <a:spAutoFit/>
          </a:bodyPr>
          <a:lstStyle/>
          <a:p>
            <a:pPr algn="ctr">
              <a:defRPr sz="1200" b="0">
                <a:solidFill>
                  <a:srgbClr val="FFFFFF"/>
                </a:solidFill>
                <a:latin typeface="Calibri"/>
              </a:defRPr>
            </a:pPr>
            <a:r>
              <a:t>$120K + $5K setup</a:t>
            </a:r>
          </a:p>
        </p:txBody>
      </p:sp>
      <p:sp>
        <p:nvSpPr>
          <p:cNvPr id="22" name="Rectangle 21"/>
          <p:cNvSpPr/>
          <p:nvPr/>
        </p:nvSpPr>
        <p:spPr>
          <a:xfrm>
            <a:off x="8229600" y="2468880"/>
            <a:ext cx="3474720" cy="5029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0" y="2542032"/>
            <a:ext cx="3474720" cy="411480"/>
          </a:xfrm>
          <a:prstGeom prst="rect">
            <a:avLst/>
          </a:prstGeom>
          <a:noFill/>
        </p:spPr>
        <p:txBody>
          <a:bodyPr wrap="square">
            <a:spAutoFit/>
          </a:bodyPr>
          <a:lstStyle/>
          <a:p>
            <a:pPr algn="ctr">
              <a:defRPr sz="2000" b="1">
                <a:solidFill>
                  <a:srgbClr val="FFFFFF"/>
                </a:solidFill>
                <a:latin typeface="Calibri"/>
              </a:defRPr>
            </a:pPr>
            <a:r>
              <a:t>$675,000</a:t>
            </a:r>
          </a:p>
        </p:txBody>
      </p:sp>
      <p:sp>
        <p:nvSpPr>
          <p:cNvPr id="24" name="Rounded Rectangle 23"/>
          <p:cNvSpPr/>
          <p:nvPr/>
        </p:nvSpPr>
        <p:spPr>
          <a:xfrm>
            <a:off x="457200" y="3200400"/>
            <a:ext cx="265176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3337560"/>
            <a:ext cx="2468880" cy="228600"/>
          </a:xfrm>
          <a:prstGeom prst="rect">
            <a:avLst/>
          </a:prstGeom>
          <a:noFill/>
        </p:spPr>
        <p:txBody>
          <a:bodyPr wrap="square">
            <a:spAutoFit/>
          </a:bodyPr>
          <a:lstStyle/>
          <a:p>
            <a:pPr algn="ctr">
              <a:defRPr sz="1000" b="0">
                <a:solidFill>
                  <a:srgbClr val="94A3B8"/>
                </a:solidFill>
                <a:latin typeface="Calibri"/>
              </a:defRPr>
            </a:pPr>
            <a:r>
              <a:t>Total Investment</a:t>
            </a:r>
          </a:p>
        </p:txBody>
      </p:sp>
      <p:sp>
        <p:nvSpPr>
          <p:cNvPr id="26" name="TextBox 25"/>
          <p:cNvSpPr txBox="1"/>
          <p:nvPr/>
        </p:nvSpPr>
        <p:spPr>
          <a:xfrm>
            <a:off x="548640" y="3566160"/>
            <a:ext cx="2468880" cy="457200"/>
          </a:xfrm>
          <a:prstGeom prst="rect">
            <a:avLst/>
          </a:prstGeom>
          <a:noFill/>
        </p:spPr>
        <p:txBody>
          <a:bodyPr wrap="square">
            <a:spAutoFit/>
          </a:bodyPr>
          <a:lstStyle/>
          <a:p>
            <a:pPr algn="ctr">
              <a:defRPr sz="2400" b="1">
                <a:solidFill>
                  <a:srgbClr val="F59E0B"/>
                </a:solidFill>
                <a:latin typeface="Calibri"/>
              </a:defRPr>
            </a:pPr>
            <a:r>
              <a:t>$125K</a:t>
            </a:r>
          </a:p>
        </p:txBody>
      </p:sp>
      <p:sp>
        <p:nvSpPr>
          <p:cNvPr id="27" name="TextBox 26"/>
          <p:cNvSpPr txBox="1"/>
          <p:nvPr/>
        </p:nvSpPr>
        <p:spPr>
          <a:xfrm>
            <a:off x="548640" y="4023360"/>
            <a:ext cx="2468880" cy="228600"/>
          </a:xfrm>
          <a:prstGeom prst="rect">
            <a:avLst/>
          </a:prstGeom>
          <a:noFill/>
        </p:spPr>
        <p:txBody>
          <a:bodyPr wrap="square">
            <a:spAutoFit/>
          </a:bodyPr>
          <a:lstStyle/>
          <a:p>
            <a:pPr algn="ctr">
              <a:defRPr sz="900" b="0">
                <a:solidFill>
                  <a:srgbClr val="94A3B8"/>
                </a:solidFill>
                <a:latin typeface="Calibri"/>
              </a:defRPr>
            </a:pPr>
            <a:r>
              <a:t>$5K + $120K</a:t>
            </a:r>
          </a:p>
        </p:txBody>
      </p:sp>
      <p:sp>
        <p:nvSpPr>
          <p:cNvPr id="28" name="Rounded Rectangle 27"/>
          <p:cNvSpPr/>
          <p:nvPr/>
        </p:nvSpPr>
        <p:spPr>
          <a:xfrm>
            <a:off x="3383280" y="3200400"/>
            <a:ext cx="265176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74720" y="3337560"/>
            <a:ext cx="2468880" cy="228600"/>
          </a:xfrm>
          <a:prstGeom prst="rect">
            <a:avLst/>
          </a:prstGeom>
          <a:noFill/>
        </p:spPr>
        <p:txBody>
          <a:bodyPr wrap="square">
            <a:spAutoFit/>
          </a:bodyPr>
          <a:lstStyle/>
          <a:p>
            <a:pPr algn="ctr">
              <a:defRPr sz="1000" b="0">
                <a:solidFill>
                  <a:srgbClr val="94A3B8"/>
                </a:solidFill>
                <a:latin typeface="Calibri"/>
              </a:defRPr>
            </a:pPr>
            <a:r>
              <a:t>New Revenue</a:t>
            </a:r>
          </a:p>
        </p:txBody>
      </p:sp>
      <p:sp>
        <p:nvSpPr>
          <p:cNvPr id="30" name="TextBox 29"/>
          <p:cNvSpPr txBox="1"/>
          <p:nvPr/>
        </p:nvSpPr>
        <p:spPr>
          <a:xfrm>
            <a:off x="3474720" y="3566160"/>
            <a:ext cx="2468880" cy="457200"/>
          </a:xfrm>
          <a:prstGeom prst="rect">
            <a:avLst/>
          </a:prstGeom>
          <a:noFill/>
        </p:spPr>
        <p:txBody>
          <a:bodyPr wrap="square">
            <a:spAutoFit/>
          </a:bodyPr>
          <a:lstStyle/>
          <a:p>
            <a:pPr algn="ctr">
              <a:defRPr sz="2400" b="1">
                <a:solidFill>
                  <a:srgbClr val="22C55E"/>
                </a:solidFill>
                <a:latin typeface="Calibri"/>
              </a:defRPr>
            </a:pPr>
            <a:r>
              <a:t>$800K</a:t>
            </a:r>
          </a:p>
        </p:txBody>
      </p:sp>
      <p:sp>
        <p:nvSpPr>
          <p:cNvPr id="31" name="TextBox 30"/>
          <p:cNvSpPr txBox="1"/>
          <p:nvPr/>
        </p:nvSpPr>
        <p:spPr>
          <a:xfrm>
            <a:off x="3474720" y="4023360"/>
            <a:ext cx="2468880" cy="228600"/>
          </a:xfrm>
          <a:prstGeom prst="rect">
            <a:avLst/>
          </a:prstGeom>
          <a:noFill/>
        </p:spPr>
        <p:txBody>
          <a:bodyPr wrap="square">
            <a:spAutoFit/>
          </a:bodyPr>
          <a:lstStyle/>
          <a:p>
            <a:pPr algn="ctr">
              <a:defRPr sz="900" b="0">
                <a:solidFill>
                  <a:srgbClr val="94A3B8"/>
                </a:solidFill>
                <a:latin typeface="Calibri"/>
              </a:defRPr>
            </a:pPr>
            <a:r>
              <a:t>Year 1</a:t>
            </a:r>
          </a:p>
        </p:txBody>
      </p:sp>
      <p:sp>
        <p:nvSpPr>
          <p:cNvPr id="32" name="Rounded Rectangle 31"/>
          <p:cNvSpPr/>
          <p:nvPr/>
        </p:nvSpPr>
        <p:spPr>
          <a:xfrm>
            <a:off x="6309360" y="3200400"/>
            <a:ext cx="265176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0" y="3337560"/>
            <a:ext cx="2468880" cy="228600"/>
          </a:xfrm>
          <a:prstGeom prst="rect">
            <a:avLst/>
          </a:prstGeom>
          <a:noFill/>
        </p:spPr>
        <p:txBody>
          <a:bodyPr wrap="square">
            <a:spAutoFit/>
          </a:bodyPr>
          <a:lstStyle/>
          <a:p>
            <a:pPr algn="ctr">
              <a:defRPr sz="1000" b="0">
                <a:solidFill>
                  <a:srgbClr val="94A3B8"/>
                </a:solidFill>
                <a:latin typeface="Calibri"/>
              </a:defRPr>
            </a:pPr>
            <a:r>
              <a:t>You Keep</a:t>
            </a:r>
          </a:p>
        </p:txBody>
      </p:sp>
      <p:sp>
        <p:nvSpPr>
          <p:cNvPr id="34" name="TextBox 33"/>
          <p:cNvSpPr txBox="1"/>
          <p:nvPr/>
        </p:nvSpPr>
        <p:spPr>
          <a:xfrm>
            <a:off x="6400800" y="3566160"/>
            <a:ext cx="2468880" cy="457200"/>
          </a:xfrm>
          <a:prstGeom prst="rect">
            <a:avLst/>
          </a:prstGeom>
          <a:noFill/>
        </p:spPr>
        <p:txBody>
          <a:bodyPr wrap="square">
            <a:spAutoFit/>
          </a:bodyPr>
          <a:lstStyle/>
          <a:p>
            <a:pPr algn="ctr">
              <a:defRPr sz="2400" b="1">
                <a:solidFill>
                  <a:srgbClr val="22C55E"/>
                </a:solidFill>
                <a:latin typeface="Calibri"/>
              </a:defRPr>
            </a:pPr>
            <a:r>
              <a:t>85%</a:t>
            </a:r>
          </a:p>
        </p:txBody>
      </p:sp>
      <p:sp>
        <p:nvSpPr>
          <p:cNvPr id="35" name="TextBox 34"/>
          <p:cNvSpPr txBox="1"/>
          <p:nvPr/>
        </p:nvSpPr>
        <p:spPr>
          <a:xfrm>
            <a:off x="6400800" y="4023360"/>
            <a:ext cx="2468880" cy="228600"/>
          </a:xfrm>
          <a:prstGeom prst="rect">
            <a:avLst/>
          </a:prstGeom>
          <a:noFill/>
        </p:spPr>
        <p:txBody>
          <a:bodyPr wrap="square">
            <a:spAutoFit/>
          </a:bodyPr>
          <a:lstStyle/>
          <a:p>
            <a:pPr algn="ctr">
              <a:defRPr sz="900" b="0">
                <a:solidFill>
                  <a:srgbClr val="94A3B8"/>
                </a:solidFill>
                <a:latin typeface="Calibri"/>
              </a:defRPr>
            </a:pPr>
            <a:r>
              <a:t>Of every dollar</a:t>
            </a:r>
          </a:p>
        </p:txBody>
      </p:sp>
      <p:sp>
        <p:nvSpPr>
          <p:cNvPr id="36" name="Rounded Rectangle 35"/>
          <p:cNvSpPr/>
          <p:nvPr/>
        </p:nvSpPr>
        <p:spPr>
          <a:xfrm>
            <a:off x="9235440" y="3200400"/>
            <a:ext cx="2651760" cy="1097280"/>
          </a:xfrm>
          <a:prstGeom prst="roundRect">
            <a:avLst/>
          </a:prstGeom>
          <a:solidFill>
            <a:srgbClr val="12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326880" y="3337560"/>
            <a:ext cx="2468880" cy="228600"/>
          </a:xfrm>
          <a:prstGeom prst="rect">
            <a:avLst/>
          </a:prstGeom>
          <a:noFill/>
        </p:spPr>
        <p:txBody>
          <a:bodyPr wrap="square">
            <a:spAutoFit/>
          </a:bodyPr>
          <a:lstStyle/>
          <a:p>
            <a:pPr algn="ctr">
              <a:defRPr sz="1000" b="0">
                <a:solidFill>
                  <a:srgbClr val="94A3B8"/>
                </a:solidFill>
                <a:latin typeface="Calibri"/>
              </a:defRPr>
            </a:pPr>
            <a:r>
              <a:t>ROI</a:t>
            </a:r>
          </a:p>
        </p:txBody>
      </p:sp>
      <p:sp>
        <p:nvSpPr>
          <p:cNvPr id="38" name="TextBox 37"/>
          <p:cNvSpPr txBox="1"/>
          <p:nvPr/>
        </p:nvSpPr>
        <p:spPr>
          <a:xfrm>
            <a:off x="9326880" y="3566160"/>
            <a:ext cx="2468880" cy="457200"/>
          </a:xfrm>
          <a:prstGeom prst="rect">
            <a:avLst/>
          </a:prstGeom>
          <a:noFill/>
        </p:spPr>
        <p:txBody>
          <a:bodyPr wrap="square">
            <a:spAutoFit/>
          </a:bodyPr>
          <a:lstStyle/>
          <a:p>
            <a:pPr algn="ctr">
              <a:defRPr sz="2400" b="1">
                <a:solidFill>
                  <a:srgbClr val="F59E0B"/>
                </a:solidFill>
                <a:latin typeface="Calibri"/>
              </a:defRPr>
            </a:pPr>
            <a:r>
              <a:t>6.4x</a:t>
            </a:r>
          </a:p>
        </p:txBody>
      </p:sp>
      <p:sp>
        <p:nvSpPr>
          <p:cNvPr id="39" name="TextBox 38"/>
          <p:cNvSpPr txBox="1"/>
          <p:nvPr/>
        </p:nvSpPr>
        <p:spPr>
          <a:xfrm>
            <a:off x="9326880" y="4023360"/>
            <a:ext cx="2468880" cy="228600"/>
          </a:xfrm>
          <a:prstGeom prst="rect">
            <a:avLst/>
          </a:prstGeom>
          <a:noFill/>
        </p:spPr>
        <p:txBody>
          <a:bodyPr wrap="square">
            <a:spAutoFit/>
          </a:bodyPr>
          <a:lstStyle/>
          <a:p>
            <a:pPr algn="ctr">
              <a:defRPr sz="900" b="0">
                <a:solidFill>
                  <a:srgbClr val="94A3B8"/>
                </a:solidFill>
                <a:latin typeface="Calibri"/>
              </a:defRPr>
            </a:pPr>
            <a:r>
              <a:t>Return</a:t>
            </a:r>
          </a:p>
        </p:txBody>
      </p:sp>
      <p:sp>
        <p:nvSpPr>
          <p:cNvPr id="40" name="Rounded Rectangle 39"/>
          <p:cNvSpPr/>
          <p:nvPr/>
        </p:nvSpPr>
        <p:spPr>
          <a:xfrm>
            <a:off x="457200" y="4480560"/>
            <a:ext cx="11247120" cy="594360"/>
          </a:xfrm>
          <a:prstGeom prst="roundRect">
            <a:avLst/>
          </a:prstGeom>
          <a:solidFill>
            <a:srgbClr val="0D284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 y="4617720"/>
            <a:ext cx="10881360" cy="365760"/>
          </a:xfrm>
          <a:prstGeom prst="rect">
            <a:avLst/>
          </a:prstGeom>
          <a:noFill/>
        </p:spPr>
        <p:txBody>
          <a:bodyPr wrap="square">
            <a:spAutoFit/>
          </a:bodyPr>
          <a:lstStyle/>
          <a:p>
            <a:pPr algn="ctr">
              <a:defRPr sz="1300" b="0">
                <a:solidFill>
                  <a:srgbClr val="FFFFFF"/>
                </a:solidFill>
                <a:latin typeface="Calibri"/>
              </a:defRPr>
            </a:pPr>
            <a:r>
              <a:t>Break-even: Setup is recovered with your first new client. Every dollar after that, you keep 85%.</a:t>
            </a:r>
          </a:p>
        </p:txBody>
      </p:sp>
      <p:sp>
        <p:nvSpPr>
          <p:cNvPr id="42" name="TextBox 41"/>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548640"/>
          </a:xfrm>
          <a:prstGeom prst="rect">
            <a:avLst/>
          </a:prstGeom>
          <a:noFill/>
        </p:spPr>
        <p:txBody>
          <a:bodyPr wrap="square">
            <a:spAutoFit/>
          </a:bodyPr>
          <a:lstStyle/>
          <a:p>
            <a:pPr algn="l">
              <a:defRPr sz="3200" b="1">
                <a:solidFill>
                  <a:srgbClr val="FFFFFF"/>
                </a:solidFill>
                <a:latin typeface="Calibri"/>
              </a:defRPr>
            </a:pPr>
            <a:r>
              <a:t>Next Steps</a:t>
            </a:r>
          </a:p>
        </p:txBody>
      </p:sp>
      <p:sp>
        <p:nvSpPr>
          <p:cNvPr id="4" name="Rectangle 3"/>
          <p:cNvSpPr/>
          <p:nvPr/>
        </p:nvSpPr>
        <p:spPr>
          <a:xfrm>
            <a:off x="457200" y="777240"/>
            <a:ext cx="731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320040"/>
          </a:xfrm>
          <a:prstGeom prst="rect">
            <a:avLst/>
          </a:prstGeom>
          <a:noFill/>
        </p:spPr>
        <p:txBody>
          <a:bodyPr wrap="square">
            <a:spAutoFit/>
          </a:bodyPr>
          <a:lstStyle/>
          <a:p>
            <a:pPr algn="l">
              <a:defRPr sz="1200" b="0">
                <a:solidFill>
                  <a:srgbClr val="94A3B8"/>
                </a:solidFill>
                <a:latin typeface="Calibri"/>
              </a:defRPr>
            </a:pPr>
            <a:r>
              <a:t>This plan is designed for immediate implementation. Every month of delay represents ~$50,000+ in unrealized revenue.</a:t>
            </a:r>
          </a:p>
        </p:txBody>
      </p:sp>
      <p:sp>
        <p:nvSpPr>
          <p:cNvPr id="6" name="Oval 5"/>
          <p:cNvSpPr/>
          <p:nvPr/>
        </p:nvSpPr>
        <p:spPr>
          <a:xfrm>
            <a:off x="457200" y="146304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36192"/>
            <a:ext cx="457200" cy="320040"/>
          </a:xfrm>
          <a:prstGeom prst="rect">
            <a:avLst/>
          </a:prstGeom>
          <a:noFill/>
        </p:spPr>
        <p:txBody>
          <a:bodyPr wrap="square">
            <a:spAutoFit/>
          </a:bodyPr>
          <a:lstStyle/>
          <a:p>
            <a:pPr algn="ctr">
              <a:defRPr sz="1800" b="1">
                <a:solidFill>
                  <a:srgbClr val="FFFFFF"/>
                </a:solidFill>
                <a:latin typeface="Calibri"/>
              </a:defRPr>
            </a:pPr>
            <a:r>
              <a:t>1</a:t>
            </a:r>
          </a:p>
        </p:txBody>
      </p:sp>
      <p:sp>
        <p:nvSpPr>
          <p:cNvPr id="8" name="Rounded Rectangle 7"/>
          <p:cNvSpPr/>
          <p:nvPr/>
        </p:nvSpPr>
        <p:spPr>
          <a:xfrm>
            <a:off x="1097280" y="1463040"/>
            <a:ext cx="10515600" cy="4572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554480"/>
            <a:ext cx="10149840" cy="320040"/>
          </a:xfrm>
          <a:prstGeom prst="rect">
            <a:avLst/>
          </a:prstGeom>
          <a:noFill/>
        </p:spPr>
        <p:txBody>
          <a:bodyPr wrap="square">
            <a:spAutoFit/>
          </a:bodyPr>
          <a:lstStyle/>
          <a:p>
            <a:pPr algn="l">
              <a:defRPr sz="1400" b="0">
                <a:solidFill>
                  <a:srgbClr val="FFFFFF"/>
                </a:solidFill>
                <a:latin typeface="Calibri"/>
              </a:defRPr>
            </a:pPr>
            <a:r>
              <a:t>Schedule kickoff call to confirm start date</a:t>
            </a:r>
          </a:p>
        </p:txBody>
      </p:sp>
      <p:sp>
        <p:nvSpPr>
          <p:cNvPr id="10" name="Oval 9"/>
          <p:cNvSpPr/>
          <p:nvPr/>
        </p:nvSpPr>
        <p:spPr>
          <a:xfrm>
            <a:off x="457200" y="2103120"/>
            <a:ext cx="457200" cy="45720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176272"/>
            <a:ext cx="457200" cy="320040"/>
          </a:xfrm>
          <a:prstGeom prst="rect">
            <a:avLst/>
          </a:prstGeom>
          <a:noFill/>
        </p:spPr>
        <p:txBody>
          <a:bodyPr wrap="square">
            <a:spAutoFit/>
          </a:bodyPr>
          <a:lstStyle/>
          <a:p>
            <a:pPr algn="ctr">
              <a:defRPr sz="1800" b="1">
                <a:solidFill>
                  <a:srgbClr val="FFFFFF"/>
                </a:solidFill>
                <a:latin typeface="Calibri"/>
              </a:defRPr>
            </a:pPr>
            <a:r>
              <a:t>2</a:t>
            </a:r>
          </a:p>
        </p:txBody>
      </p:sp>
      <p:sp>
        <p:nvSpPr>
          <p:cNvPr id="12" name="Rounded Rectangle 11"/>
          <p:cNvSpPr/>
          <p:nvPr/>
        </p:nvSpPr>
        <p:spPr>
          <a:xfrm>
            <a:off x="1097280" y="2103120"/>
            <a:ext cx="10515600" cy="4572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2194560"/>
            <a:ext cx="10149840" cy="320040"/>
          </a:xfrm>
          <a:prstGeom prst="rect">
            <a:avLst/>
          </a:prstGeom>
          <a:noFill/>
        </p:spPr>
        <p:txBody>
          <a:bodyPr wrap="square">
            <a:spAutoFit/>
          </a:bodyPr>
          <a:lstStyle/>
          <a:p>
            <a:pPr algn="l">
              <a:defRPr sz="1400" b="0">
                <a:solidFill>
                  <a:srgbClr val="FFFFFF"/>
                </a:solidFill>
                <a:latin typeface="Calibri"/>
              </a:defRPr>
            </a:pPr>
            <a:r>
              <a:t>Complete setup payment ($5,000) to reserve slot</a:t>
            </a:r>
          </a:p>
        </p:txBody>
      </p:sp>
      <p:sp>
        <p:nvSpPr>
          <p:cNvPr id="14" name="Oval 13"/>
          <p:cNvSpPr/>
          <p:nvPr/>
        </p:nvSpPr>
        <p:spPr>
          <a:xfrm>
            <a:off x="457200" y="274320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816352"/>
            <a:ext cx="457200" cy="320040"/>
          </a:xfrm>
          <a:prstGeom prst="rect">
            <a:avLst/>
          </a:prstGeom>
          <a:noFill/>
        </p:spPr>
        <p:txBody>
          <a:bodyPr wrap="square">
            <a:spAutoFit/>
          </a:bodyPr>
          <a:lstStyle/>
          <a:p>
            <a:pPr algn="ctr">
              <a:defRPr sz="1800" b="1">
                <a:solidFill>
                  <a:srgbClr val="FFFFFF"/>
                </a:solidFill>
                <a:latin typeface="Calibri"/>
              </a:defRPr>
            </a:pPr>
            <a:r>
              <a:t>3</a:t>
            </a:r>
          </a:p>
        </p:txBody>
      </p:sp>
      <p:sp>
        <p:nvSpPr>
          <p:cNvPr id="16" name="Rounded Rectangle 15"/>
          <p:cNvSpPr/>
          <p:nvPr/>
        </p:nvSpPr>
        <p:spPr>
          <a:xfrm>
            <a:off x="1097280" y="2743200"/>
            <a:ext cx="10515600" cy="4572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80160" y="2834640"/>
            <a:ext cx="10149840" cy="320040"/>
          </a:xfrm>
          <a:prstGeom prst="rect">
            <a:avLst/>
          </a:prstGeom>
          <a:noFill/>
        </p:spPr>
        <p:txBody>
          <a:bodyPr wrap="square">
            <a:spAutoFit/>
          </a:bodyPr>
          <a:lstStyle/>
          <a:p>
            <a:pPr algn="l">
              <a:defRPr sz="1400" b="0">
                <a:solidFill>
                  <a:srgbClr val="FFFFFF"/>
                </a:solidFill>
                <a:latin typeface="Calibri"/>
              </a:defRPr>
            </a:pPr>
            <a:r>
              <a:t>Provide access credentials for CRM, calendar, LinkedIn</a:t>
            </a:r>
          </a:p>
        </p:txBody>
      </p:sp>
      <p:sp>
        <p:nvSpPr>
          <p:cNvPr id="18" name="Oval 17"/>
          <p:cNvSpPr/>
          <p:nvPr/>
        </p:nvSpPr>
        <p:spPr>
          <a:xfrm>
            <a:off x="457200" y="3383280"/>
            <a:ext cx="457200" cy="45720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456432"/>
            <a:ext cx="457200" cy="320040"/>
          </a:xfrm>
          <a:prstGeom prst="rect">
            <a:avLst/>
          </a:prstGeom>
          <a:noFill/>
        </p:spPr>
        <p:txBody>
          <a:bodyPr wrap="square">
            <a:spAutoFit/>
          </a:bodyPr>
          <a:lstStyle/>
          <a:p>
            <a:pPr algn="ctr">
              <a:defRPr sz="1800" b="1">
                <a:solidFill>
                  <a:srgbClr val="FFFFFF"/>
                </a:solidFill>
                <a:latin typeface="Calibri"/>
              </a:defRPr>
            </a:pPr>
            <a:r>
              <a:t>4</a:t>
            </a:r>
          </a:p>
        </p:txBody>
      </p:sp>
      <p:sp>
        <p:nvSpPr>
          <p:cNvPr id="20" name="Rounded Rectangle 19"/>
          <p:cNvSpPr/>
          <p:nvPr/>
        </p:nvSpPr>
        <p:spPr>
          <a:xfrm>
            <a:off x="1097280" y="3383280"/>
            <a:ext cx="10515600" cy="457200"/>
          </a:xfrm>
          <a:prstGeom prst="roundRect">
            <a:avLst/>
          </a:prstGeom>
          <a:solidFill>
            <a:srgbClr val="0D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3474720"/>
            <a:ext cx="10149840" cy="320040"/>
          </a:xfrm>
          <a:prstGeom prst="rect">
            <a:avLst/>
          </a:prstGeom>
          <a:noFill/>
        </p:spPr>
        <p:txBody>
          <a:bodyPr wrap="square">
            <a:spAutoFit/>
          </a:bodyPr>
          <a:lstStyle/>
          <a:p>
            <a:pPr algn="l">
              <a:defRPr sz="1400" b="0">
                <a:solidFill>
                  <a:srgbClr val="FFFFFF"/>
                </a:solidFill>
                <a:latin typeface="Calibri"/>
              </a:defRPr>
            </a:pPr>
            <a:r>
              <a:t>Pre-onboarding begins immediately — campaigns ready in 2 weeks</a:t>
            </a:r>
          </a:p>
        </p:txBody>
      </p:sp>
      <p:sp>
        <p:nvSpPr>
          <p:cNvPr id="22" name="TextBox 21"/>
          <p:cNvSpPr txBox="1"/>
          <p:nvPr/>
        </p:nvSpPr>
        <p:spPr>
          <a:xfrm>
            <a:off x="457200" y="4297680"/>
            <a:ext cx="11247120" cy="457200"/>
          </a:xfrm>
          <a:prstGeom prst="rect">
            <a:avLst/>
          </a:prstGeom>
          <a:noFill/>
        </p:spPr>
        <p:txBody>
          <a:bodyPr wrap="square">
            <a:spAutoFit/>
          </a:bodyPr>
          <a:lstStyle/>
          <a:p>
            <a:pPr algn="ctr">
              <a:defRPr sz="2000" b="1">
                <a:solidFill>
                  <a:srgbClr val="F59E0B"/>
                </a:solidFill>
                <a:latin typeface="Calibri"/>
              </a:defRPr>
            </a:pPr>
            <a:r>
              <a:t>Let's connect this week to activate the growth plan.</a:t>
            </a:r>
          </a:p>
        </p:txBody>
      </p:sp>
      <p:sp>
        <p:nvSpPr>
          <p:cNvPr id="23" name="TextBox 22"/>
          <p:cNvSpPr txBox="1"/>
          <p:nvPr/>
        </p:nvSpPr>
        <p:spPr>
          <a:xfrm>
            <a:off x="457200" y="4846320"/>
            <a:ext cx="11247120" cy="320040"/>
          </a:xfrm>
          <a:prstGeom prst="rect">
            <a:avLst/>
          </a:prstGeom>
          <a:noFill/>
        </p:spPr>
        <p:txBody>
          <a:bodyPr wrap="square">
            <a:spAutoFit/>
          </a:bodyPr>
          <a:lstStyle/>
          <a:p>
            <a:pPr algn="ctr">
              <a:defRPr sz="1400" b="1">
                <a:solidFill>
                  <a:srgbClr val="FFFFFF"/>
                </a:solidFill>
                <a:latin typeface="Calibri"/>
              </a:defRPr>
            </a:pPr>
            <a:r>
              <a:t>Gary Wayne | Founder &amp; CEO, A1 Solutions International</a:t>
            </a:r>
          </a:p>
        </p:txBody>
      </p:sp>
      <p:sp>
        <p:nvSpPr>
          <p:cNvPr id="24" name="TextBox 23"/>
          <p:cNvSpPr txBox="1"/>
          <p:nvPr/>
        </p:nvSpPr>
        <p:spPr>
          <a:xfrm>
            <a:off x="457200" y="5212080"/>
            <a:ext cx="11247120" cy="274320"/>
          </a:xfrm>
          <a:prstGeom prst="rect">
            <a:avLst/>
          </a:prstGeom>
          <a:noFill/>
        </p:spPr>
        <p:txBody>
          <a:bodyPr wrap="square">
            <a:spAutoFit/>
          </a:bodyPr>
          <a:lstStyle/>
          <a:p>
            <a:pPr algn="ctr">
              <a:defRPr sz="1200" b="0">
                <a:solidFill>
                  <a:srgbClr val="3B82F6"/>
                </a:solidFill>
                <a:latin typeface="Calibri"/>
              </a:defRPr>
            </a:pPr>
            <a:r>
              <a:t>gary@a1solutionsinternational.com</a:t>
            </a:r>
          </a:p>
        </p:txBody>
      </p:sp>
      <p:sp>
        <p:nvSpPr>
          <p:cNvPr id="25" name="TextBox 24"/>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A1 Solutions International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2420</Words>
  <Application>Microsoft Office PowerPoint</Application>
  <PresentationFormat>Widescreen</PresentationFormat>
  <Paragraphs>482</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Gary Wayne</dc:creator>
  <cp:keywords/>
  <dc:description>generated using python-pptx</dc:description>
  <cp:lastModifiedBy>Gary Wayne</cp:lastModifiedBy>
  <cp:revision>1</cp:revision>
  <dcterms:created xsi:type="dcterms:W3CDTF">2013-01-27T09:14:16Z</dcterms:created>
  <dcterms:modified xsi:type="dcterms:W3CDTF">2025-12-17T07:41:44Z</dcterms:modified>
  <cp:category/>
</cp:coreProperties>
</file>